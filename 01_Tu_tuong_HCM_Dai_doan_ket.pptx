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8" r:id="rId15"/>
    <p:sldId id="269" r:id="rId16"/>
    <p:sldId id="270" r:id="rId17"/>
  </p:sldIdLst>
  <p:sldSz cx="12192000" cy="6858000"/>
  <p:notesSz cx="6858000" cy="9144000"/>
  <p:embeddedFontLst>
    <p:embeddedFont>
      <p:font typeface="Be Vietnam Pro" panose="020B0604020202020204" charset="0"/>
      <p:regular r:id="rId19"/>
      <p:bold r:id="rId20"/>
      <p:italic r:id="rId21"/>
      <p:boldItalic r:id="rId22"/>
    </p:embeddedFont>
    <p:embeddedFont>
      <p:font typeface="Be Vietnam Pro SemiBold" panose="020B0604020202020204" charset="0"/>
      <p:bold r:id="rId23"/>
    </p:embeddedFont>
    <p:embeddedFont>
      <p:font typeface="Phudu ExtraBold" panose="020B0604020202020204" charset="0"/>
      <p:bold r:id="rId24"/>
    </p:embeddedFont>
    <p:embeddedFont>
      <p:font typeface="Segoe UI" panose="020B0502040204020203" pitchFamily="34" charset="0"/>
      <p:regular r:id="rId25"/>
      <p:bold r:id="rId26"/>
      <p:italic r:id="rId27"/>
      <p:boldItalic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55" autoAdjust="0"/>
    <p:restoredTop sz="94660"/>
  </p:normalViewPr>
  <p:slideViewPr>
    <p:cSldViewPr snapToGrid="0" snapToObjects="1">
      <p:cViewPr>
        <p:scale>
          <a:sx n="100" d="100"/>
          <a:sy n="100" d="100"/>
        </p:scale>
        <p:origin x="63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553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Mở màn ấn tượng, nêu đề tài và câu hỏi xuyên suốt.</a:t>
            </a:r>
          </a:p>
          <a:p>
            <a:endParaRPr/>
          </a:p>
          <a:p>
            <a:r>
              <a:t>LỜI NÓI (gợi ý — nói tự nhiên, không đọc slide):</a:t>
            </a:r>
          </a:p>
          <a:p>
            <a:r>
              <a:t>Chào thầy/cô và cả lớp. Nhóm mình trình bày Tư tưởng Hồ Chí Minh về đại đoàn kết toàn dân tộc — Phần I, Chương 5 của giáo trình. Nhưng hôm nay nhóm không kể lại chương học. Nhóm muốn cùng cả lớp trả lời một câu hỏi tưởng đơn giản: khi nói “đoàn kết”, có phải là tất cả mọi người phải giống nhau?</a:t>
            </a:r>
          </a:p>
          <a:p>
            <a:endParaRPr/>
          </a:p>
          <a:p>
            <a:r>
              <a:t>CHUYỂN TIẾP: Trước khi nhóm nói gì, mời cả lớp trả lời trước — bằng bàn tay.</a:t>
            </a:r>
          </a:p>
          <a:p>
            <a:endParaRPr/>
          </a:p>
          <a:p>
            <a:r>
              <a:t>LOẠI NỘI DUNG: Mở đầu (không có nội dung lý luận).</a:t>
            </a:r>
          </a:p>
          <a:p>
            <a:r>
              <a:t>NGUỒN: Ảnh chân dung: xem bảng ảnh trong 04_sources.md.</a:t>
            </a:r>
          </a:p>
          <a:p>
            <a:r>
              <a:t>ĐỘ TIN CẬY: —</a:t>
            </a:r>
          </a:p>
          <a:p>
            <a:r>
              <a:t>THỜI GIAN: 0:30</a:t>
            </a:r>
          </a:p>
          <a:p>
            <a:r>
              <a:t>NGƯỜI TRÌNH BÀY (gợi ý): Thành viên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Khảo sát nhanh 100% lớp, tạo tò mò; không công bố đáp án.</a:t>
            </a:r>
          </a:p>
          <a:p>
            <a:endParaRPr/>
          </a:p>
          <a:p>
            <a:r>
              <a:t>LỜI NÓI (gợi ý — nói tự nhiên, không đọc slide):</a:t>
            </a:r>
          </a:p>
          <a:p>
            <a:r>
              <a:t>Đoàn kết là gì? Bốn đáp án trên màn hình. Mọi người giơ 1, 2, 3 hoặc 4 ngón tay — tương ứng A, B, C, D. Ba, hai, một — giơ tay! (Nhìn quanh lớp và đọc to kết quả THỰC TẾ — ví dụ: “Khá nhiều bạn chọn B…” — nói đúng những gì thấy, không bình luận đáp án nào đúng/sai.) Nhóm chưa nói đáp án nào đúng. Cuối bài, cả lớp sẽ quay lại câu hỏi này — mọi người nhớ mình đã giơ mấy ngón nhé.</a:t>
            </a:r>
          </a:p>
          <a:p>
            <a:endParaRPr/>
          </a:p>
          <a:p>
            <a:r>
              <a:t>CHUYỂN TIẾP: Để trả lời, mình cần nhìn lại những gì đã học — nhưng theo một cách khác.</a:t>
            </a:r>
          </a:p>
          <a:p>
            <a:endParaRPr/>
          </a:p>
          <a:p>
            <a:r>
              <a:t>LOẠI NỘI DUNG: TƯƠNG TÁC (khảo sát nhanh). Không phải nội dung lý luận.</a:t>
            </a:r>
          </a:p>
          <a:p>
            <a:r>
              <a:t>NGUỒN: —</a:t>
            </a:r>
          </a:p>
          <a:p>
            <a:r>
              <a:t>ĐỘ TIN CẬY: —</a:t>
            </a:r>
          </a:p>
          <a:p>
            <a:r>
              <a:t>THỜI GIAN: 0:45</a:t>
            </a:r>
          </a:p>
          <a:p>
            <a:r>
              <a:t>NGƯỜI TRÌNH BÀY (gợi ý): Thành viên 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Gợi lại khung lý luận Chương 5 (mục II của bài giảng) trong khoảng 35 giây, không giảng lại.</a:t>
            </a:r>
          </a:p>
          <a:p>
            <a:endParaRPr/>
          </a:p>
          <a:p>
            <a:r>
              <a:t>LỜI NÓI (gợi ý — nói tự nhiên, không đọc slide):</a:t>
            </a:r>
          </a:p>
          <a:p>
            <a:r>
              <a:t>Bốn mảnh ghép này cả lớp đã học trong bài giảng: Vai trò; đại đoàn kết là đoàn kết toàn dân — dân là chủ thể, nền tảng là liên minh công – nông – trí; ba điều kiện để thực hiện đại đoàn kết; và hình thức tổ chức là Mặt trận dân tộc thống nhất với bốn nguyên tắc hoạt động. Nhóm sẽ không đọc lại chương, mà dùng chính bốn mảnh ghép này để trả lời câu hỏi ở giữa: đoàn kết có phải là giống nhau?</a:t>
            </a:r>
          </a:p>
          <a:p>
            <a:endParaRPr/>
          </a:p>
          <a:p>
            <a:r>
              <a:t>CHUYỂN TIẾP: Bắt đầu từ mảnh đầu tiên: vì sao đại đoàn kết lại quan trọng đến vậy?</a:t>
            </a:r>
          </a:p>
          <a:p>
            <a:endParaRPr/>
          </a:p>
          <a:p>
            <a:r>
              <a:t>LOẠI NỘI DUNG: LÝ LUẬN CỐT LÕI (khung chương).</a:t>
            </a:r>
          </a:p>
          <a:p>
            <a:r>
              <a:t>NGUỒN: Khung theo bài giảng Chương 5 của lớp (TS. Hà Triệu Huy, ĐH KHXH&amp;NV – ĐHQG TP.HCM), mục II: 1. Vai trò; 2. Nội dung (a. ĐĐKDT là đại đoàn kết toàn dân; b. Điều kiện); 3. Hình thức tổ chức (a. Mặt trận dân tộc thống nhất; b. Nguyên tắc hoạt động). Một số trường theo khung giáo trình 2021 chia 5 mục (thêm “Phương thức”) và xếp “lợi ích chung” vào điều kiện (đề cương VNUF, HUIT; bài giảng ĐH Thương mại) — T-03, T-04, T-10. Exact textbook page not independently verified.</a:t>
            </a:r>
          </a:p>
          <a:p>
            <a:r>
              <a:t>ĐỘ TIN CẬY: HIGH (khớp bài giảng của lớp). Khác biệt giữa các trường về cách chia mục: xem ma trận T-03, T-10.</a:t>
            </a:r>
          </a:p>
          <a:p>
            <a:r>
              <a:t>THỜI GIAN: 0:35</a:t>
            </a:r>
          </a:p>
          <a:p>
            <a:r>
              <a:t>NGƯỜI TRÌNH BÀY (gợi ý): Thành viên 1</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Khẳng định vai trò chiến lược — đại đoàn kết không phải giải pháp tình thế.</a:t>
            </a:r>
          </a:p>
          <a:p>
            <a:endParaRPr/>
          </a:p>
          <a:p>
            <a:r>
              <a:t>LỜI NÓI (gợi ý — nói tự nhiên, không đọc slide):</a:t>
            </a:r>
          </a:p>
          <a:p>
            <a:r>
              <a:t>Có người nghĩ đoàn kết chỉ là khẩu hiệu lúc khó khăn. Tư tưởng Hồ Chí Minh khẳng định ngược lại: đại đoàn kết toàn dân tộc là vấn đề có ý nghĩa chiến lược, quyết định thành công của cách mạng, và là mục tiêu, nhiệm vụ hàng đầu của Đảng, của dân tộc. Chính Người nói năm 1955: “Đoàn kết của ta không những rộng rãi mà còn đoàn kết lâu dài. Đoàn kết là một chính sách dân tộc, không phải là một thủ đoạn chính trị.” Tức là: không phải “cần thì đoàn kết, xong thì thôi”. Và đoàn kết không chỉ là phương tiện: năm 1951 Người tuyên bố “Mục đích của Đảng Lao động Việt Nam có thể gồm trong 8 chữ là: ĐOÀN KẾT TOÀN DÂN, PHỤNG SỰ TỔ QUỐC” — đoàn kết vừa là phương tiện, vừa là mục tiêu.</a:t>
            </a:r>
          </a:p>
          <a:p>
            <a:endParaRPr/>
          </a:p>
          <a:p>
            <a:r>
              <a:t>CHUYỂN TIẾP: Nhưng “đại” đoàn kết — là đoàn kết với những ai?</a:t>
            </a:r>
          </a:p>
          <a:p>
            <a:endParaRPr/>
          </a:p>
          <a:p>
            <a:r>
              <a:t>LOẠI NỘI DUNG: LÝ LUẬN CỐT LÕI.</a:t>
            </a:r>
          </a:p>
          <a:p>
            <a:r>
              <a:t>NGUỒN: Tiêu đề mục: bài giảng của lớp, mục II.1 (a, b); đề cương HUIT/VNUF/TMU/PTTC1; đối chiếu Báo Đại biểu Nhân dân 2023, Tạp chí Lý luận chính trị 7-2021, Tạp chí TCNN&amp;LĐ 2024 (T-05, T-06); Tạp chí Cộng sản 2017 diễn đạt theo khung cũ. Trích dẫn: HCM, nói tại Hội nghị đại biểu Mặt trận Liên - Việt toàn quốc 10-1-1955, Toàn tập t.9 tr.244 (Q-02); “8 chữ”: Lời kết thúc buổi ra mắt Đảng Lao động Việt Nam 3-3-1951, t.7 tr.49 (Q-16). Ảnh: xem 04_sources.md.</a:t>
            </a:r>
          </a:p>
          <a:p>
            <a:r>
              <a:t>ĐỘ TIN CẬY: HIGH.</a:t>
            </a:r>
          </a:p>
          <a:p>
            <a:r>
              <a:t>THỜI GIAN: 0:55</a:t>
            </a:r>
          </a:p>
          <a:p>
            <a:r>
              <a:t>NGƯỜI TRÌNH BÀY (gợi ý): Thành viên 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Đại đoàn kết là đoàn kết toàn dân: dân là chủ thể, nền tảng công – nông – trí; cảm nhận sự đa dạng bằng hình ảnh.</a:t>
            </a:r>
          </a:p>
          <a:p>
            <a:endParaRPr/>
          </a:p>
          <a:p>
            <a:r>
              <a:t>LỜI NÓI (gợi ý — nói tự nhiên, không đọc slide):</a:t>
            </a:r>
          </a:p>
          <a:p>
            <a:r>
              <a:t>Nhìn chữ “ĐẠI” này — nó được ghép từ rất nhiều gương mặt khác nhau. Ai nằm trong chữ “đại”? (Bấm) Toàn dân. Chủ thể của khối đại đoàn kết là toàn thể nhân dân — mọi người Việt Nam yêu nước, không phân biệt dân tộc, tôn giáo, đảng phái, giai cấp, tầng lớp, già trẻ, gái trai, giàu nghèo. Nền tảng là công nhân, nông dân và trí thức. Năm 1955, Hồ Chí Minh nói đại đa số nhân dân — “công nhân, nông dân và các tầng lớp nhân dân lao động khác” — là “nền gốc của đại đoàn kết”, “cũng như cái nền của nhà, gốc của cây”; năm 1956 Người nói thêm: “công, nông, trí, cần phải đoàn kết chặt chẽ thành một khối”. Bài giảng nói rõ “dân” là mọi con dân Việt Nam — chỉ trừ bọn bán nước hại dân, đi ngược lại lợi ích dân tộc — và xây dựng khối đại đoàn kết đòi hỏi giải quyết mối quan hệ giữa dân tộc và giai cấp. (Bấm) Lời kêu gọi toàn quốc kháng chiến nói rất rõ: không chia tôn giáo, đảng phái, dân tộc — hễ là người Việt Nam thì phải đứng lên để cứu Tổ quốc, tức là cùng một mục đích. (Ảnh bên dưới: ngày 2/9/1945, khối Trường Thần học Công giáo cũng có mặt trong đoàn mít tinh mừng độc lập.)</a:t>
            </a:r>
          </a:p>
          <a:p>
            <a:endParaRPr/>
          </a:p>
          <a:p>
            <a:r>
              <a:t>CHUYỂN TIẾP: Mọi người khác nhau như vậy… vậy đoàn kết có nghĩa là phải trở nên giống nhau không?</a:t>
            </a:r>
          </a:p>
          <a:p>
            <a:endParaRPr/>
          </a:p>
          <a:p>
            <a:r>
              <a:t>LOẠI NỘI DUNG: LÝ LUẬN CỐT LÕI.</a:t>
            </a:r>
          </a:p>
          <a:p>
            <a:r>
              <a:t>NGUỒN: Chủ thể/Nền tảng: bài giảng của lớp, mục II.2.a (khái niệm “dân” là cách diễn đạt của bài giảng, không phải nguyên văn HCM) và II.3.b nguyên tắc 1; bài giảng TMU (T2), Tạp chí Lý luận chính trị 7-2021, Đại biểu Nhân dân 2023 (T1) — T-07, T-08. “Liên minh công – nông – trí” là cách diễn đạt của giáo trình/Đảng, không phải nguyên văn HCM. Trích dẫn: Lời kêu gọi toàn quốc kháng chiến, ký ngày 19-12-1946 (theo chú thích của Toàn tập, phát đi ngày 20-12-1946), Toàn tập t.4 tr.534 (Q-06); “nền gốc”: t.9 tr.244 (Q-04); “công, nông, trí”: t.10 tr.376. Quan hệ dân tộc – giai cấp: bài giảng của lớp.</a:t>
            </a:r>
          </a:p>
          <a:p>
            <a:r>
              <a:t>ĐỘ TIN CẬY: HIGH.</a:t>
            </a:r>
          </a:p>
          <a:p>
            <a:r>
              <a:t>THỜI GIAN: 0:55</a:t>
            </a:r>
          </a:p>
          <a:p>
            <a:r>
              <a:t>NGƯỜI TRÌNH BÀY (gợi ý): Thành viên 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Slide chữ ký: phát biểu luận đề của nhóm và đặt câu hỏi then chốt.</a:t>
            </a:r>
          </a:p>
          <a:p>
            <a:endParaRPr/>
          </a:p>
          <a:p>
            <a:r>
              <a:t>LỜI NÓI (gợi ý — nói tự nhiên, không đọc slide):</a:t>
            </a:r>
          </a:p>
          <a:p>
            <a:r>
              <a:t>Đây là cách nhóm đọc vấn đề: ĐOÀN KẾT không phải là ĐỒNG NHẤT. Bên trái: mọi người giống hệt nhau. Bên phải: khác nhau về hình dạng, màu sắc — nhưng cùng hướng về một điểm. Xin nói rõ: câu “đoàn kết khác đồng nhất” là DIỄN GIẢI CỦA NHÓM, không phải câu trích từ giáo trình. Nhưng nó có cơ sở: cuối năm 1954, nói với cán bộ, công nhân hai nhà máy ở Hà Nội — người lao động trí óc và lao động chân tay, cán bộ kỹ thuật và công nhân, nam có, nữ có — Hồ Chí Minh nói: “Tuy khác nhau nhưng cùng chung một mục đích.” Khác nhau không có nghĩa là khác về tất cả: chính Người yêu cầu “đoàn kết thực sự nghĩa là mục đích phải nhất trí và lập trường cũng phải nhất trí” (1958). Vậy câu hỏi là: nếu con người vốn khác nhau, điều gì khiến họ vẫn đứng cùng nhau?</a:t>
            </a:r>
          </a:p>
          <a:p>
            <a:endParaRPr/>
          </a:p>
          <a:p>
            <a:r>
              <a:t>CHUYỂN TIẾP: Bài giảng trả lời câu hỏi đó bằng các điều kiện và nguyên tắc — nhóm thử gói chúng vào một hình ảnh.</a:t>
            </a:r>
          </a:p>
          <a:p>
            <a:endParaRPr/>
          </a:p>
          <a:p>
            <a:r>
              <a:t>LOẠI NỘI DUNG: DIỄN GIẢI CỦA NHÓM (tiêu đề, hình minh họa) + LÝ LUẬN CỐT LÕI (trích dẫn đã kiểm chứng ở dòng dưới cùng).</a:t>
            </a:r>
          </a:p>
          <a:p>
            <a:r>
              <a:t>NGUỒN: B-01 trong ma trận. Trích dẫn: HCM, Nói chuyện với cán bộ, công nhân Nhà máy điện Yên Phụ và Nhà máy đèn Bờ Hồ (Báo Nhân dân số 298, 24-12-1954), Toàn tập t.9 tr.203 (Q-09) — bối cảnh là một nơi làm việc, dùng như minh họa. Giới hạn: Q-08 (t.11 tr.362).</a:t>
            </a:r>
          </a:p>
          <a:p>
            <a:r>
              <a:t>ĐỘ TIN CẬY: Diễn giải: không áp dụng. Trích dẫn: nguyên văn đã đọc trực tiếp trong Toàn tập (MEDIUM chỉ vì chưa có nguồn thứ hai).</a:t>
            </a:r>
          </a:p>
          <a:p>
            <a:r>
              <a:t>THỜI GIAN: 0:40</a:t>
            </a:r>
          </a:p>
          <a:p>
            <a:r>
              <a:t>NGƯỜI TRÌNH BÀY (gợi ý): Thành viên 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Hệ thống hóa 3 điều kiện và các nguyên tắc của Mặt trận (theo bài giảng của lớp) thành mô hình “bàn tay” dễ nhớ.</a:t>
            </a:r>
          </a:p>
          <a:p>
            <a:endParaRPr/>
          </a:p>
          <a:p>
            <a:r>
              <a:t>LỜI NÓI (gợi ý — nói tự nhiên, không đọc slide):</a:t>
            </a:r>
          </a:p>
          <a:p>
            <a:r>
              <a:t>Trong thư năm 1946, Hồ Chí Minh ví những con người khác nhau như các ngón tay vắn dài: “Năm ngón tay cũng có ngón vắn ngón dài. Nhưng vắn dài đều họp nhau lại nơi bàn tay.” Nhóm mượn hình ảnh đó để sắp xếp những gì bài giảng nêu. Ba ngón giữa là ba điều kiện thực hiện đại đoàn kết: kế thừa truyền thống yêu nước – nhân nghĩa – đoàn kết; có lòng khoan dung, độ lượng với con người — ngay sau câu “năm ngón tay”, Bác viết “Vậy nên ta phải khoan hồng đại độ”; và có niềm tin vào nhân dân. Ngón cái là hình thức tổ chức — Mặt trận dân tộc thống nhất — với nguyên tắc thứ nhất: xây dựng trên khối liên minh công – nông – trí, dưới sự lãnh đạo của Đảng. Ngón út là nguyên tắc thứ ba: hiệp thương dân chủ — mọi vấn đề được bàn bạc công khai để đi đến nhất trí, không áp đặt. Lòng bàn tay là nguyên tắc thứ hai: bảo đảm lợi ích tối cao của dân tộc và quyền lợi cơ bản của các tầng lớp nhân dân — vì khối đoàn kết chỉ bền khi thống nhất được mục tiêu và lợi ích. Nguyên tắc thứ tư — đoàn kết chặt chẽ, lâu dài, thật sự, chân thành, thân ái — nhóm sẽ gặp lại ở phần kết. Khác nhau, nhưng gộp lại thành sức mạnh chung. Đây là cách nhóm sắp xếp, không phải “công thức” của bài giảng.</a:t>
            </a:r>
          </a:p>
          <a:p>
            <a:endParaRPr/>
          </a:p>
          <a:p>
            <a:r>
              <a:t>CHUYỂN TIẾP: Lý thuyết là vậy. Còn trong lớp mình thì sao? Thử ngay một tình huống.</a:t>
            </a:r>
          </a:p>
          <a:p>
            <a:endParaRPr/>
          </a:p>
          <a:p>
            <a:r>
              <a:t>LOẠI NỘI DUNG: LÝ LUẬN CỐT LÕI (các thành phần) + DIỄN GIẢI CỦA NHÓM (cách sắp thành “bàn tay”).</a:t>
            </a:r>
          </a:p>
          <a:p>
            <a:r>
              <a:t>NGUỒN: Bài giảng của lớp, mục II.2.b (3 điều kiện) và II.3.b (4 nguyên tắc hoạt động của Mặt trận) — T-09, T-10, T-12; truyền thống/khoan dung/niềm tin còn có nguồn T1 (Tạp chí Cộng sản 2017, LLCT 2021). Trích dẫn: Thư gửi đồng bào Nam Bộ, Báo Cứu quốc 1-6-1946, Toàn tập t.4 tr.280 (Q-07). Bài giảng ghi “ngón ngắn… đều thuộc về một bàn tay”; nhóm dùng nguyên văn Toàn tập “ngón vắn… họp nhau lại nơi bàn tay”.</a:t>
            </a:r>
          </a:p>
          <a:p>
            <a:r>
              <a:t>ĐỘ TIN CẬY: HIGH (khớp bài giảng của lớp). Trích dẫn: HIGH. Nếu bị hỏi vì sao có tài liệu ghi 4 điều kiện: bài giảng ĐH Thương mại (theo khung giáo trình 2021) xếp “lấy lợi ích chung làm điểm quy tụ” vào điều kiện; bài giảng của lớp xếp ý này vào nguyên tắc 2 của Mặt trận — nội dung tương đương, chỉ khác cách chia.</a:t>
            </a:r>
          </a:p>
          <a:p>
            <a:r>
              <a:t>THỜI GIAN: 1:00</a:t>
            </a:r>
          </a:p>
          <a:p>
            <a:r>
              <a:t>NGƯỜI TRÌNH BÀY (gợi ý): Thành viên 3</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Mô phỏng tương tác: 4 phương án đều có lý → tìm mục tiêu ở tầm cao hơn.</a:t>
            </a:r>
          </a:p>
          <a:p>
            <a:endParaRPr/>
          </a:p>
          <a:p>
            <a:r>
              <a:t>LỜI NÓI (gợi ý — nói tự nhiên, không đọc slide):</a:t>
            </a:r>
          </a:p>
          <a:p>
            <a:r>
              <a:t>Giả sử lớp mình có 20 triệu đồng quỹ, chỉ đủ cho MỘT dự án cộng đồng. Bốn nhóm đề xuất: trẻ em, môi trường, người cao tuổi, học liệu — nhóm nào cũng có lý. 30 giây: mỗi dãy bàn chọn một nhóm và nói một lý do. (Mời 2–3 bạn nói.) Câu hỏi: đoàn kết có phải là chọn một nhóm thắng? (Bấm) Một gợi ý của nhóm: tìm mục tiêu ở tầm cao hơn — ví dụ “Góc đọc xanh liên thế hệ”: ông bà đọc sách cùng các em, kệ sách tái chế, bồn cây do lớp trồng, học liệu được chia sẻ. Đó là tinh thần thống nhất mục tiêu và lợi ích — giải quyết hài hòa lợi ích chung và lợi ích riêng — và bàn bạc công khai để đi đến nhất trí, như nguyên tắc hiệp thương dân chủ. Khi bàn về cách lãnh đạo trong Sửa đổi lối làm việc, Hồ Chí Minh viết: đem các ý kiến khác nhau “so đi sánh lại” cho đến khi có ý kiến mà mọi người, hoặc số đông, tán thành. Không phải lúc nào cũng gộp được — khi cần, vẫn biểu quyết theo đa số, đó là cách ra quyết định hợp lệ. Nhưng nên bắt đầu bằng câu hỏi: mục tiêu chung của chúng ta là gì? Tại Ngày hội Đại đoàn kết 2025, Tổng Bí thư cũng nói: hãy biến cuộc họp thành diễn đàn tìm giải pháp, “là nơi tìm ra mẫu số chung”.</a:t>
            </a:r>
          </a:p>
          <a:p>
            <a:endParaRPr/>
          </a:p>
          <a:p>
            <a:r>
              <a:t>CHUYỂN TIẾP: Lớp học còn dễ. Nếu phóng to lên cả quốc gia thì sao?</a:t>
            </a:r>
          </a:p>
          <a:p>
            <a:endParaRPr/>
          </a:p>
          <a:p>
            <a:r>
              <a:t>LOẠI NỘI DUNG: VẬN DỤNG ĐƯƠNG ĐẠI (mô phỏng của nhóm) + DIỄN GIẢI CỦA NHÓM (phương án “Góc đọc xanh”).</a:t>
            </a:r>
          </a:p>
          <a:p>
            <a:r>
              <a:t>NGUỒN: Liên hệ: bài giảng của lớp, mục II.3.b (nguyên tắc 2, 3) — T-10, T-12; Sửa đổi lối làm việc (10-1947, mục “Cách lãnh đạo”), Toàn tập t.5 tr.336 (Q-12). Phát biểu của Tổng Bí thư Tô Lâm 14/11/2025 (C-10), mattran.org.vn. Ảnh: xem 04_sources.md.</a:t>
            </a:r>
          </a:p>
          <a:p>
            <a:r>
              <a:t>ĐỘ TIN CẬY: Mô phỏng và phương án “Góc đọc xanh”: gợi ý của nhóm. Liên hệ lý luận: HIGH (khớp bài giảng của lớp; cách áp vào tình huống là của nhóm). Nguyên văn trích dẫn: HIGH (đối chiếu trực tiếp Toàn tập t.5, tr.336); dùng làm cơ sở cho “hiệp thương dân chủ”: MEDIUM (văn bản nói về cách lãnh đạo).</a:t>
            </a:r>
          </a:p>
          <a:p>
            <a:r>
              <a:t>THỜI GIAN: 1:05</a:t>
            </a:r>
          </a:p>
          <a:p>
            <a:r>
              <a:t>NGƯỜI TRÌNH BÀY (gợi ý): Thành viên 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Phóng to quy mô: khác biệt phức tạp hơn → cần điểm quy tụ cao hơn và hình thức tổ chức; dẫn chứng đương đại chính thống.</a:t>
            </a:r>
          </a:p>
          <a:p>
            <a:endParaRPr/>
          </a:p>
          <a:p>
            <a:r>
              <a:t>LỜI NÓI (gợi ý — nói tự nhiên, không đọc slide):</a:t>
            </a:r>
          </a:p>
          <a:p>
            <a:r>
              <a:t>Ở lớp học, khác biệt là sở thích. Ở trường: ngành học, quê quán. Ở cộng đồng: thế hệ, nghề nghiệp, tín ngưỡng. Ở quốc gia: dân tộc, tôn giáo, giai tầng, lợi ích. Quy mô càng lớn, khác biệt càng phức tạp — nên càng cần một điểm quy tụ ở tầm cao hơn và một hình thức tổ chức đủ rộng, đó là Mặt trận dân tộc thống nhất dưới sự lãnh đạo của Đảng. (Nếu thiếu giờ: chỉ nêu 1 con số.) Vài minh họa từ thực tiễn gần đây: phong trào thi đua “Cả nước chung tay xóa nhà tạm, nhà dột nát trong năm 2025” đã xây mới, sửa chữa 334.234 căn nhà, trị giá gần 24.762 tỷ đồng — Báo cáo chính trị Đại hội XIV ghi: đến tháng 9-2025, hoàn thành xóa nhà tạm, nhà dột nát trên phạm vi cả nước; sau bão Yagi năm 2024, riêng Ban Vận động Cứu trợ Trung ương đã tiếp nhận hơn 2.200 tỷ đồng. Và tháng 1/2026, Đại hội XIV của Đảng đề ra việc xây dựng và triển khai Chiến lược đại đoàn kết toàn dân tộc đến năm 2035, tầm nhìn 2045 — Nghị quyết Đại hội XIV khẳng định: sự lãnh đạo của Đảng, sức mạnh to lớn của Nhân dân và khối đại đoàn kết toàn dân tộc là nhân tố hàng đầu quyết định mọi thắng lợi của cách mạng Việt Nam. Và điểm chung ở tầm quốc gia đã được Nghị quyết 23-NQ/TW năm 2003 nói rõ: lấy mục tiêu giữ vững độc lập, thống nhất của Tổ quốc, vì dân giàu, nước mạnh, xã hội công bằng, dân chủ, văn minh làm điểm tương đồng, xóa bỏ mặc cảm, định kiến về quá khứ, thành phần, giai cấp.</a:t>
            </a:r>
          </a:p>
          <a:p>
            <a:endParaRPr/>
          </a:p>
          <a:p>
            <a:r>
              <a:t>CHUYỂN TIẾP: Nhưng hôm nay, khác biệt lớn nhất có khi không nằm ở vùng miền — mà nằm ngay trong chiếc điện thoại.</a:t>
            </a:r>
          </a:p>
          <a:p>
            <a:endParaRPr/>
          </a:p>
          <a:p>
            <a:r>
              <a:t>LOẠI NỘI DUNG: DIỄN GIẢI CỦA NHÓM (phân tích quy mô) + VẬN DỤNG ĐƯƠNG ĐẠI (số liệu).</a:t>
            </a:r>
          </a:p>
          <a:p>
            <a:r>
              <a:t>NGUỒN: B-03; T-11; NQ 23-NQ/TW (C-01). Số liệu: Nguồn: mattran.org.vn (29/11/2024; 31/12/2025) · Báo cáo chính trị ĐH XIV, NQ 23-NQ/TW — tulieuvankien.dangcongsan.vn</a:t>
            </a:r>
          </a:p>
          <a:p>
            <a:r>
              <a:t>ĐỘ TIN CẬY: Phân tích: không áp dụng. Số liệu: HIGH (T1); NQ 23-NQ/TW: HIGH (T1, đọc toàn văn).</a:t>
            </a:r>
          </a:p>
          <a:p>
            <a:r>
              <a:t>THỜI GIAN: 0:45</a:t>
            </a:r>
          </a:p>
          <a:p>
            <a:r>
              <a:t>NGƯỜI TRÌNH BÀY (gợi ý): Thành viên 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Thí nghiệm tư duy về môi trường thông tin; 3 thói quen nhỏ gắn với các điều kiện và nguyên tắc xây dựng khối đại đoàn kết (khoan dung; hiệp thương dân chủ; thống nhất mục tiêu và lợi ích).</a:t>
            </a:r>
          </a:p>
          <a:p>
            <a:endParaRPr/>
          </a:p>
          <a:p>
            <a:r>
              <a:t>LỜI NÓI (gợi ý — nói tự nhiên, không đọc slide):</a:t>
            </a:r>
          </a:p>
          <a:p>
            <a:r>
              <a:t>Đây là một thí nghiệm tư duy, không phải kết luận khoa học: nếu mỗi người tiếp nhận một luồng thông tin khác nhau, việc nhận ra điểm chung có khó hơn không? Số liệu chính thức: khoảng 110 triệu tài khoản người Việt trên mạng xã hội trong nước, khoảng 203 triệu trên mạng xã hội nước ngoài — đây là số tài khoản; một người có thể có nhiều tài khoản, nên không phải số người dùng. Tại Ngày hội Đại đoàn kết toàn dân tộc 2025, Tổng Bí thư nhắc: trên không gian mạng, hãy là người truyền tin có trách nhiệm, không gieo mầm chia rẽ, mà lan tỏa hiểu biết, tinh thần cầu thị, tranh luận có văn hóa. Con số tài khoản chỉ cho thấy quy mô, không chứng minh hiện tượng “mỗi người một feed”. Nhóm không khẳng định thuật toán gây chia rẽ. Nhóm chỉ đề xuất ba thói quen nhỏ: lắng nghe trước khi phản hồi — tinh thần khoan dung; tranh luận có văn hóa — để tìm điểm chung chứ không để “thắng”, đúng tinh thần hiệp thương dân chủ, bàn bạc để đi đến nhất trí (tranh luận khác với né tránh: Bác dạy “vừa đoàn kết, vừa đấu tranh… trên lập trường thân ái”); và nhắc lại mục tiêu chung. (Cách liên hệ thói quen với lý luận là diễn giải của nhóm.)</a:t>
            </a:r>
          </a:p>
          <a:p>
            <a:endParaRPr/>
          </a:p>
          <a:p>
            <a:r>
              <a:t>CHUYỂN TIẾP: Nói thì dễ. Thử xem chính mình xử lý khác biệt thế nào — ngay bây giờ.</a:t>
            </a:r>
          </a:p>
          <a:p>
            <a:endParaRPr/>
          </a:p>
          <a:p>
            <a:r>
              <a:t>LOẠI NỘI DUNG: VẬN DỤNG ĐƯƠNG ĐẠI (thí nghiệm tư duy) + DIỄN GIẢI CỦA NHÓM (liên hệ thói quen ↔ luận điểm) — không phải nội dung giáo trình.</a:t>
            </a:r>
          </a:p>
          <a:p>
            <a:r>
              <a:t>NGUỒN: Số liệu: Cục PTTH&amp;TTĐT (Bộ TT&amp;TT, nay đã hợp nhất vào Bộ KH&amp;CN), báo cáo tại hội nghị 28/11/2024; TTXVN đưa tin, đăng trên mst.gov.vn ngày 29/12/2024. Phát biểu của Tổng Bí thư Tô Lâm 14/11/2025, mattran.org.vn. Liên hệ: T-09, T-10, T-12.</a:t>
            </a:r>
          </a:p>
          <a:p>
            <a:r>
              <a:t>ĐỘ TIN CẬY: Thí nghiệm tư duy và liên hệ: diễn giải của nhóm. Số liệu: MEDIUM (T1; là số tài khoản, không phải số người dùng). Trích phát biểu Tổng Bí thư: HIGH (đối chiếu nguyên văn trên mattran.org.vn).</a:t>
            </a:r>
          </a:p>
          <a:p>
            <a:r>
              <a:t>THỜI GIAN: 0:40</a:t>
            </a:r>
          </a:p>
          <a:p>
            <a:r>
              <a:t>NGƯỜI TRÌNH BÀY (gợi ý): Thành viên 4</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Hoạt động tương tác chính (mục tiêu 100% lớp tham gia).</a:t>
            </a:r>
          </a:p>
          <a:p>
            <a:endParaRPr/>
          </a:p>
          <a:p>
            <a:r>
              <a:t>LỜI NÓI (gợi ý — nói tự nhiên, không đọc slide):</a:t>
            </a:r>
          </a:p>
          <a:p>
            <a:r>
              <a:t>Unity Lab — mini-game 3 tình huống: bài thuyết trình nhóm, một người từng làm hỏng việc, và một group chat đang nóng lên. Không có đúng/sai tuyệt đối — mỗi lựa chọn cho biết bạn ưu tiên điều gì, rủi ro là gì và luận điểm lý luận nào liên quan. Quét mã để tham gia — 2 phút! Không quét được thì gõ unitylab-hcm202.netlify.app. Bạn nào không có điện thoại thì xem cùng bạn bên cạnh. (Bật đồng hồ.) … Hết giờ! Ai nhận THẺ VÀNG — Người kết nối — giơ tay? Thẻ ĐỎ — Người quyết đoán? Thẻ KEM — Người giữ hòa khí? NHIỀU MÀU? Mỗi phong cách đều có điểm mạnh và rủi ro riêng. Nhưng như Hồ Chí Minh nói năm 1958, đoàn kết thực sự là “vừa đoàn kết, vừa đấu tranh” — không né tránh mâu thuẫn, cũng không để tranh cãi thành chia rẽ.</a:t>
            </a:r>
          </a:p>
          <a:p>
            <a:endParaRPr/>
          </a:p>
          <a:p>
            <a:r>
              <a:t>CHUYỂN TIẾP: Và bây giờ, quay lại câu hỏi đầu tiên.</a:t>
            </a:r>
          </a:p>
          <a:p>
            <a:endParaRPr/>
          </a:p>
          <a:p>
            <a:r>
              <a:t>LOẠI NỘI DUNG: VẬN DỤNG ĐƯƠNG ĐẠI (mini-game của nhóm; AI hỗ trợ lập trình).</a:t>
            </a:r>
          </a:p>
          <a:p>
            <a:r>
              <a:t>NGUỒN: 03_UnityLab/ — các luận điểm trong game lấy từ ma trận (T-07, T-09, T-10, T-12, T-15, Q-07, Q-08, Q-09, Q-12, Q-21). DỰ PHÒNG nếu mất mạng: đọc tình huống 1 trên màn hình, cả lớp giơ 1–2–3 ngón cho A–B–C.</a:t>
            </a:r>
          </a:p>
          <a:p>
            <a:r>
              <a:t>ĐỘ TIN CẬY: —</a:t>
            </a:r>
          </a:p>
          <a:p>
            <a:r>
              <a:t>THỜI GIAN: 2:15 (khoảng 2 phút chơi)</a:t>
            </a:r>
          </a:p>
          <a:p>
            <a:r>
              <a:t>NGƯỜI TRÌNH BÀY (gợi ý): Thành viên 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MỤC ĐÍCH: Trả lời câu hỏi xuyên suốt, phân biệt rõ diễn giải và lý luận.</a:t>
            </a:r>
          </a:p>
          <a:p>
            <a:endParaRPr lang="en-US"/>
          </a:p>
          <a:p>
            <a:r>
              <a:rPr lang="en-US"/>
              <a:t>LỜI NÓI (gợi ý — nói tự nhiên, không đọc slide):</a:t>
            </a:r>
          </a:p>
          <a:p>
            <a:r>
              <a:rPr lang="en-US"/>
              <a:t>Đoàn kết có phải là tất cả mọi người phải giống nhau? (Bấm) Không phải giống nhau về mọi mặt. (Bấm) Cần nhất trí ở đâu? Ở mục đích chung và lập trường — Hồ Chí Minh nói rõ năm 1958: “Đoàn kết thực sự nghĩa là mục đích phải nhất trí và lập trường cũng phải nhất trí.” (Ngay trước câu này, Người nói: “Muốn tiến lên chủ nghĩa xã hội, mọi người cần đoàn kết thực sự và giúp nhau cùng tiến bộ.”) Được khác nhau ở đâu? Dân tộc, tôn giáo, tuổi tác, nghề nghiệp, cá tính — kể cả quá khứ: năm 1955 Người nói, dù trước đây chống chúng ta, nay thật thà tán thành hòa bình, thống nhất, độc lập, dân chủ thì cũng thật thà đoàn kết. Nghị quyết 23 năm 2003 cũng nêu: lấy mục tiêu độc lập, thống nhất, dân giàu, nước mạnh… làm điểm tương đồng, xóa bỏ mặc cảm, định kiến về quá khứ, thành phần, giai cấp. Cũng trong bài nói năm 1955, Người dặn phải chống hai khuynh hướng sai lầm: “cô độc hẹp hòi và đoàn kết vô nguyên tắc” — theo cách hiểu của nhóm: không khép kín, chỉ đoàn kết với người hợp mình; nhưng cũng không đoàn kết xuôi chiều, bỏ qua mục đích chung, lập trường và việc phê bình cái sai. (Bấm) Vì vậy, theo cách đọc của nhóm: đoàn kết là nhất trí về mục đích, lập trường và cùng hướng tới điểm chung; khác biệt chính đáng vẫn được tôn trọng — nhưng không đoàn kết vô nguyên tắc.</a:t>
            </a:r>
          </a:p>
          <a:p>
            <a:endParaRPr lang="en-US"/>
          </a:p>
          <a:p>
            <a:r>
              <a:rPr lang="en-US"/>
              <a:t>CHUYỂN TIẾP: Vậy còn bốn đáp án lúc đầu giờ?</a:t>
            </a:r>
          </a:p>
          <a:p>
            <a:endParaRPr lang="en-US"/>
          </a:p>
          <a:p>
            <a:r>
              <a:rPr lang="en-US"/>
              <a:t>LOẠI NỘI DUNG: DIỄN GIẢI CỦA NHÓM (câu trả lời) dựa trên LÝ LUẬN CỐT LÕI (các trích dẫn).</a:t>
            </a:r>
          </a:p>
          <a:p>
            <a:r>
              <a:rPr lang="en-US"/>
              <a:t>NGUỒN: B-04; Q-08 (t.11 tr.362), Q-07 (t.4 tr.280), Q-06 (t.4 tr.534), Q-05 &amp; Q-18 (t.9 tr.244), Q-09 (t.9 tr.203), Q-01 (t.13 tr.119–120); NQ 23-NQ/TW (C-01).</a:t>
            </a:r>
          </a:p>
          <a:p>
            <a:r>
              <a:rPr lang="en-US"/>
              <a:t>ĐỘ TIN CẬY: Trích dẫn: HIGH. Kết luận: diễn giải của nhóm.</a:t>
            </a:r>
          </a:p>
          <a:p>
            <a:r>
              <a:rPr lang="en-US"/>
              <a:t>THỜI GIAN: 0:40</a:t>
            </a:r>
          </a:p>
          <a:p>
            <a:r>
              <a:rPr lang="en-US"/>
              <a:t>NGƯỜI TRÌNH BÀY (gợi ý): Thành viên 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MỤC ĐÍCH: Khép lại khảo sát đầu giờ: đối chiếu 4 đáp án ở slide 2 với kết luận vừa nêu.</a:t>
            </a:r>
          </a:p>
          <a:p>
            <a:endParaRPr lang="en-US"/>
          </a:p>
          <a:p>
            <a:r>
              <a:rPr lang="en-US"/>
              <a:t>LỜI NÓI (gợi ý — nói tự nhiên, không đọc slide):</a:t>
            </a:r>
          </a:p>
          <a:p>
            <a:r>
              <a:rPr lang="en-US"/>
              <a:t>Nhìn lại bốn đáp án: B gần nhất. A đúng một phần — cần nhất trí về mục đích và lập trường, không phải về mọi ý kiến. C là cách ra quyết định hợp lệ — chính Hồ Chí Minh nhắc “thiểu số phải phục tùng đa số” — nhưng chưa phải định nghĩa của đoàn kết; còn với Mặt trận, bài giảng nêu nguyên tắc hiệp thương dân chủ. D thì trái với “vừa đoàn kết, vừa đấu tranh… trên lập trường thân ái”. Ai muốn đổi số ngón tay của mình không?</a:t>
            </a:r>
          </a:p>
          <a:p>
            <a:endParaRPr lang="en-US"/>
          </a:p>
          <a:p>
            <a:r>
              <a:rPr lang="en-US"/>
              <a:t>CHUYỂN TIẾP: Trước khi kết thúc, nhóm xin minh bạch về cách nhóm đã dùng AI.</a:t>
            </a:r>
          </a:p>
          <a:p>
            <a:endParaRPr lang="en-US"/>
          </a:p>
          <a:p>
            <a:r>
              <a:rPr lang="en-US"/>
              <a:t>LOẠI NỘI DUNG: DIỄN GIẢI CỦA NHÓM (đánh giá đáp án) dựa trên LÝ LUẬN CỐT LÕI (trích dẫn ở slide 12).</a:t>
            </a:r>
          </a:p>
          <a:p>
            <a:r>
              <a:rPr lang="en-US"/>
              <a:t>NGUỒN: B-04; Q-08 (t.11 tr.362), Q-20 (t.5 tr.276).</a:t>
            </a:r>
          </a:p>
          <a:p>
            <a:r>
              <a:rPr lang="en-US"/>
              <a:t>ĐỘ TIN CẬY: Trích dẫn: HIGH. Đánh giá đáp án: diễn giải của nhóm.</a:t>
            </a:r>
          </a:p>
          <a:p>
            <a:r>
              <a:rPr lang="en-US"/>
              <a:t>THỜI GIAN: 0:15</a:t>
            </a:r>
          </a:p>
          <a:p>
            <a:r>
              <a:rPr lang="en-US"/>
              <a:t>NGƯỜI TRÌNH BÀY (gợi ý): Thành viên 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Đáp ứng tiêu chí 4.1–4.4: AI usage, kiểm chứng, liêm chính.</a:t>
            </a:r>
          </a:p>
          <a:p>
            <a:endParaRPr/>
          </a:p>
          <a:p>
            <a:r>
              <a:t>LỜI NÓI (gợi ý — nói tự nhiên, không đọc slide):</a:t>
            </a:r>
          </a:p>
          <a:p>
            <a:r>
              <a:t>Nhóm dùng Claude Code của Anthropic để hỗ trợ: tìm và đối chiếu nguồn, lập ma trận kiểm chứng, gợi ý dàn ý, tìm ảnh có giấy phép, vẽ sơ đồ, lập trình Unity Lab và rà bố cục. Phần của nhóm: kiểm tra lại trích dẫn theo checklist, chọn luận điểm, sửa diễn giải, quyết định nội dung cuối cùng và chịu trách nhiệm. Chính AI cũng sai: vòng tìm nguồn ghi câu “Đoàn kết là sức mạnh, đoàn kết là thắng lợi” là “không có trong Toàn tập”; vòng phản biện tìm thấy nguyên văn ở t.14, tr.27. Bài học: kết quả “không tìm thấy” cũng phải kiểm chứng. Chi tiết ở phụ lục AI Usage và ma trận kiểm chứng.</a:t>
            </a:r>
          </a:p>
          <a:p>
            <a:endParaRPr/>
          </a:p>
          <a:p>
            <a:r>
              <a:t>CHUYỂN TIẾP: Cảm ơn thầy/cô và các bạn — nhóm sẵn sàng nhận phản biện.</a:t>
            </a:r>
          </a:p>
          <a:p>
            <a:endParaRPr/>
          </a:p>
          <a:p>
            <a:r>
              <a:t>LOẠI NỘI DUNG: Minh bạch AI / liêm chính học thuật.</a:t>
            </a:r>
          </a:p>
          <a:p>
            <a:r>
              <a:t>NGUỒN: 07_AI-USAGE.md; 05_theory-verification.md (mục D).</a:t>
            </a:r>
          </a:p>
          <a:p>
            <a:r>
              <a:t>ĐỘ TIN CẬY: —</a:t>
            </a:r>
          </a:p>
          <a:p>
            <a:r>
              <a:t>THỜI GIAN: 0:30</a:t>
            </a:r>
          </a:p>
          <a:p>
            <a:r>
              <a:t>NGƯỜI TRÌNH BÀY (gợi ý): Thành viên 5</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Phụ lục nguồn — chỉ mở khi được hỏi.</a:t>
            </a:r>
          </a:p>
          <a:p>
            <a:endParaRPr/>
          </a:p>
          <a:p>
            <a:r>
              <a:t>LỜI NÓI (gợi ý — nói tự nhiên, không đọc slide):</a:t>
            </a:r>
          </a:p>
          <a:p>
            <a:r>
              <a:t>(Không trình bày; mở khi giảng viên/nhóm khác hỏi về nguồn.)</a:t>
            </a:r>
          </a:p>
          <a:p>
            <a:endParaRPr/>
          </a:p>
          <a:p>
            <a:r>
              <a:t>CHUYỂN TIẾP: —</a:t>
            </a:r>
          </a:p>
          <a:p>
            <a:endParaRPr/>
          </a:p>
          <a:p>
            <a:r>
              <a:t>LOẠI NỘI DUNG: Phụ lục.</a:t>
            </a:r>
          </a:p>
          <a:p>
            <a:r>
              <a:t>NGUỒN: 04_sources.md.</a:t>
            </a:r>
          </a:p>
          <a:p>
            <a:r>
              <a:t>ĐỘ TIN CẬY: —</a:t>
            </a:r>
          </a:p>
          <a:p>
            <a:r>
              <a:t>THỜI GIAN: 0:00 (không tính giờ)</a:t>
            </a:r>
          </a:p>
          <a:p>
            <a:r>
              <a:t>NGƯỜI TRÌNH BÀY (gợi ý): —</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Kết thúc, mở phần phản biện bằng câu hỏi gợi mở.</a:t>
            </a:r>
          </a:p>
          <a:p>
            <a:endParaRPr/>
          </a:p>
          <a:p>
            <a:r>
              <a:t>LỜI NÓI (gợi ý — nói tự nhiên, không đọc slide):</a:t>
            </a:r>
          </a:p>
          <a:p>
            <a:r>
              <a:t>Xin cảm ơn. Ba câu hỏi nhóm muốn cùng cả lớp suy nghĩ tiếp — và mời các nhóm phản biện.</a:t>
            </a:r>
          </a:p>
          <a:p>
            <a:endParaRPr/>
          </a:p>
          <a:p>
            <a:r>
              <a:t>CHUYỂN TIẾP: —</a:t>
            </a:r>
          </a:p>
          <a:p>
            <a:endParaRPr/>
          </a:p>
          <a:p>
            <a:r>
              <a:t>LOẠI NỘI DUNG: Kết thúc.</a:t>
            </a:r>
          </a:p>
          <a:p>
            <a:r>
              <a:t>NGUỒN: 11_Q&amp;A-preparation.md.</a:t>
            </a:r>
          </a:p>
          <a:p>
            <a:r>
              <a:t>ĐỘ TIN CẬY: —</a:t>
            </a:r>
          </a:p>
          <a:p>
            <a:r>
              <a:t>THỜI GIAN: 0:20</a:t>
            </a:r>
          </a:p>
          <a:p>
            <a:r>
              <a:t>NGƯỜI TRÌNH BÀY (gợi ý): Cả nhóm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6.jp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3.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0.jp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png"/>
          <p:cNvPicPr>
            <a:picLocks noChangeAspect="1"/>
          </p:cNvPicPr>
          <p:nvPr/>
        </p:nvPicPr>
        <p:blipFill>
          <a:blip r:embed="rId3"/>
          <a:stretch>
            <a:fillRect/>
          </a:stretch>
        </p:blipFill>
        <p:spPr>
          <a:xfrm>
            <a:off x="0" y="0"/>
            <a:ext cx="12191695" cy="6858000"/>
          </a:xfrm>
          <a:prstGeom prst="rect">
            <a:avLst/>
          </a:prstGeom>
        </p:spPr>
      </p:pic>
      <p:pic>
        <p:nvPicPr>
          <p:cNvPr id="3" name="Motif trong dong" descr="drum_gold_14.png"/>
          <p:cNvPicPr>
            <a:picLocks noChangeAspect="1"/>
          </p:cNvPicPr>
          <p:nvPr/>
        </p:nvPicPr>
        <p:blipFill>
          <a:blip r:embed="rId4"/>
          <a:stretch>
            <a:fillRect/>
          </a:stretch>
        </p:blipFill>
        <p:spPr>
          <a:xfrm>
            <a:off x="5074920" y="182880"/>
            <a:ext cx="6492240" cy="6492240"/>
          </a:xfrm>
          <a:prstGeom prst="rect">
            <a:avLst/>
          </a:prstGeom>
        </p:spPr>
      </p:pic>
      <p:pic>
        <p:nvPicPr>
          <p:cNvPr id="4" name="Chan dung Ho Chi Minh" descr="hero.png"/>
          <p:cNvPicPr>
            <a:picLocks noChangeAspect="1"/>
          </p:cNvPicPr>
          <p:nvPr/>
        </p:nvPicPr>
        <p:blipFill>
          <a:blip r:embed="rId5"/>
          <a:srcRect b="91"/>
          <a:stretch>
            <a:fillRect/>
          </a:stretch>
        </p:blipFill>
        <p:spPr>
          <a:xfrm>
            <a:off x="6446520" y="0"/>
            <a:ext cx="5745175" cy="6858000"/>
          </a:xfrm>
          <a:prstGeom prst="rect">
            <a:avLst/>
          </a:prstGeom>
        </p:spPr>
      </p:pic>
      <p:pic>
        <p:nvPicPr>
          <p:cNvPr id="5" name="Dai lua" descr="ribbon_band.png"/>
          <p:cNvPicPr>
            <a:picLocks noChangeAspect="1"/>
          </p:cNvPicPr>
          <p:nvPr/>
        </p:nvPicPr>
        <p:blipFill>
          <a:blip r:embed="rId6"/>
          <a:stretch>
            <a:fillRect/>
          </a:stretch>
        </p:blipFill>
        <p:spPr>
          <a:xfrm>
            <a:off x="0" y="5532120"/>
            <a:ext cx="12191695" cy="1325880"/>
          </a:xfrm>
          <a:prstGeom prst="rect">
            <a:avLst/>
          </a:prstGeom>
        </p:spPr>
      </p:pic>
      <p:sp>
        <p:nvSpPr>
          <p:cNvPr id="6" name="Logo chip"/>
          <p:cNvSpPr/>
          <p:nvPr/>
        </p:nvSpPr>
        <p:spPr>
          <a:xfrm>
            <a:off x="548640" y="411480"/>
            <a:ext cx="1865376" cy="89611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Logo Dai hoc FPT" descr="fpt_logo_crop.png"/>
          <p:cNvPicPr>
            <a:picLocks noChangeAspect="1"/>
          </p:cNvPicPr>
          <p:nvPr/>
        </p:nvPicPr>
        <p:blipFill>
          <a:blip r:embed="rId7"/>
          <a:stretch>
            <a:fillRect/>
          </a:stretch>
        </p:blipFill>
        <p:spPr>
          <a:xfrm>
            <a:off x="658368" y="484632"/>
            <a:ext cx="1645920" cy="745106"/>
          </a:xfrm>
          <a:prstGeom prst="rect">
            <a:avLst/>
          </a:prstGeom>
        </p:spPr>
      </p:pic>
      <p:sp>
        <p:nvSpPr>
          <p:cNvPr id="8" name="TextBox 7"/>
          <p:cNvSpPr txBox="1"/>
          <p:nvPr/>
        </p:nvSpPr>
        <p:spPr>
          <a:xfrm>
            <a:off x="548640" y="1572768"/>
            <a:ext cx="5852160" cy="411480"/>
          </a:xfrm>
          <a:prstGeom prst="rect">
            <a:avLst/>
          </a:prstGeom>
          <a:noFill/>
        </p:spPr>
        <p:txBody>
          <a:bodyPr wrap="square" lIns="0" tIns="0" rIns="0" bIns="0" anchor="t">
            <a:noAutofit/>
          </a:bodyPr>
          <a:lstStyle/>
          <a:p>
            <a:pPr algn="l"/>
            <a:r>
              <a:rPr sz="1600" b="0" i="0" spc="500">
                <a:solidFill>
                  <a:srgbClr val="D2AA50"/>
                </a:solidFill>
                <a:latin typeface="Be Vietnam Pro SemiBold"/>
                <a:ea typeface="Be Vietnam Pro SemiBold"/>
                <a:cs typeface="Be Vietnam Pro SemiBold"/>
              </a:rPr>
              <a:t>TƯ TƯỞNG HỒ CHÍ MINH</a:t>
            </a:r>
          </a:p>
        </p:txBody>
      </p:sp>
      <p:sp>
        <p:nvSpPr>
          <p:cNvPr id="9" name="TextBox 8"/>
          <p:cNvSpPr txBox="1"/>
          <p:nvPr/>
        </p:nvSpPr>
        <p:spPr>
          <a:xfrm>
            <a:off x="548640" y="1993392"/>
            <a:ext cx="5852160" cy="502920"/>
          </a:xfrm>
          <a:prstGeom prst="rect">
            <a:avLst/>
          </a:prstGeom>
          <a:noFill/>
        </p:spPr>
        <p:txBody>
          <a:bodyPr wrap="square" lIns="0" tIns="0" rIns="0" bIns="0" anchor="t">
            <a:noAutofit/>
          </a:bodyPr>
          <a:lstStyle/>
          <a:p>
            <a:pPr algn="l"/>
            <a:r>
              <a:rPr sz="2750" b="0" i="1">
                <a:solidFill>
                  <a:srgbClr val="EFE3CE"/>
                </a:solidFill>
                <a:latin typeface="Be Vietnam Pro"/>
                <a:ea typeface="Be Vietnam Pro"/>
                <a:cs typeface="Be Vietnam Pro"/>
              </a:rPr>
              <a:t>về</a:t>
            </a:r>
          </a:p>
        </p:txBody>
      </p:sp>
      <p:sp>
        <p:nvSpPr>
          <p:cNvPr id="10" name="Title"/>
          <p:cNvSpPr txBox="1"/>
          <p:nvPr/>
        </p:nvSpPr>
        <p:spPr>
          <a:xfrm>
            <a:off x="548640" y="2340864"/>
            <a:ext cx="6035040" cy="2103120"/>
          </a:xfrm>
          <a:prstGeom prst="rect">
            <a:avLst/>
          </a:prstGeom>
          <a:noFill/>
        </p:spPr>
        <p:txBody>
          <a:bodyPr wrap="square" lIns="0" tIns="0" rIns="0" bIns="0" anchor="t">
            <a:noAutofit/>
          </a:bodyPr>
          <a:lstStyle/>
          <a:p>
            <a:pPr algn="l">
              <a:lnSpc>
                <a:spcPct val="96000"/>
              </a:lnSpc>
            </a:pPr>
            <a:r>
              <a:rPr sz="6800" b="0" i="0">
                <a:solidFill>
                  <a:srgbClr val="FAF5E8"/>
                </a:solidFill>
                <a:latin typeface="Phudu ExtraBold"/>
                <a:ea typeface="Phudu ExtraBold"/>
                <a:cs typeface="Phudu ExtraBold"/>
              </a:rPr>
              <a:t>ĐẠI ĐOÀN KẾT</a:t>
            </a:r>
          </a:p>
          <a:p>
            <a:pPr algn="l">
              <a:lnSpc>
                <a:spcPct val="96000"/>
              </a:lnSpc>
            </a:pPr>
            <a:r>
              <a:rPr sz="6800" b="0" i="0">
                <a:solidFill>
                  <a:srgbClr val="FAF5E8"/>
                </a:solidFill>
                <a:latin typeface="Phudu ExtraBold"/>
                <a:ea typeface="Phudu ExtraBold"/>
                <a:cs typeface="Phudu ExtraBold"/>
              </a:rPr>
              <a:t>DÂN TỘC</a:t>
            </a:r>
          </a:p>
        </p:txBody>
      </p:sp>
      <p:sp>
        <p:nvSpPr>
          <p:cNvPr id="11" name="TextBox 10"/>
          <p:cNvSpPr txBox="1"/>
          <p:nvPr/>
        </p:nvSpPr>
        <p:spPr>
          <a:xfrm>
            <a:off x="548640" y="4480560"/>
            <a:ext cx="5852160" cy="457200"/>
          </a:xfrm>
          <a:prstGeom prst="rect">
            <a:avLst/>
          </a:prstGeom>
          <a:noFill/>
        </p:spPr>
        <p:txBody>
          <a:bodyPr wrap="square" lIns="0" tIns="0" rIns="0" bIns="0" anchor="t">
            <a:noAutofit/>
          </a:bodyPr>
          <a:lstStyle/>
          <a:p>
            <a:pPr algn="l"/>
            <a:r>
              <a:rPr sz="2000" b="0" i="1">
                <a:solidFill>
                  <a:srgbClr val="D2AA50"/>
                </a:solidFill>
                <a:latin typeface="Be Vietnam Pro"/>
                <a:ea typeface="Be Vietnam Pro"/>
                <a:cs typeface="Be Vietnam Pro"/>
              </a:rPr>
              <a:t>Khi khác biệt không nhất thiết dẫn đến chia rẽ</a:t>
            </a:r>
          </a:p>
        </p:txBody>
      </p:sp>
      <p:sp>
        <p:nvSpPr>
          <p:cNvPr id="12" name="TextBox 11"/>
          <p:cNvSpPr txBox="1"/>
          <p:nvPr/>
        </p:nvSpPr>
        <p:spPr>
          <a:xfrm>
            <a:off x="548640" y="4974336"/>
            <a:ext cx="6035040" cy="566928"/>
          </a:xfrm>
          <a:prstGeom prst="rect">
            <a:avLst/>
          </a:prstGeom>
          <a:noFill/>
        </p:spPr>
        <p:txBody>
          <a:bodyPr wrap="square" lIns="0" tIns="0" rIns="0" bIns="0" anchor="t">
            <a:noAutofit/>
          </a:bodyPr>
          <a:lstStyle/>
          <a:p>
            <a:pPr algn="l">
              <a:lnSpc>
                <a:spcPct val="110000"/>
              </a:lnSpc>
            </a:pPr>
            <a:r>
              <a:rPr sz="1150" b="1" i="0">
                <a:solidFill>
                  <a:srgbClr val="EFE3CE"/>
                </a:solidFill>
                <a:latin typeface="Be Vietnam Pro"/>
                <a:ea typeface="Be Vietnam Pro"/>
                <a:cs typeface="Be Vietnam Pro"/>
              </a:rPr>
              <a:t>Học phần Tư tưởng Hồ Chí Minh (HCM202)</a:t>
            </a:r>
          </a:p>
          <a:p>
            <a:pPr algn="l">
              <a:lnSpc>
                <a:spcPct val="110000"/>
              </a:lnSpc>
            </a:pPr>
            <a:r>
              <a:rPr sz="1150" b="0" i="0">
                <a:solidFill>
                  <a:srgbClr val="EFE3CE"/>
                </a:solidFill>
                <a:latin typeface="Be Vietnam Pro"/>
                <a:ea typeface="Be Vietnam Pro"/>
                <a:cs typeface="Be Vietnam Pro"/>
              </a:rPr>
              <a:t>Nhóm ___  ·  Lớp ___  ·  GVHD: ___  ·  Đại học FPT</a:t>
            </a:r>
          </a:p>
        </p:txBody>
      </p:sp>
      <p:sp>
        <p:nvSpPr>
          <p:cNvPr id="13" name="Caption"/>
          <p:cNvSpPr txBox="1"/>
          <p:nvPr/>
        </p:nvSpPr>
        <p:spPr>
          <a:xfrm>
            <a:off x="6766560" y="6473952"/>
            <a:ext cx="4983480" cy="274320"/>
          </a:xfrm>
          <a:prstGeom prst="rect">
            <a:avLst/>
          </a:prstGeom>
          <a:noFill/>
        </p:spPr>
        <p:txBody>
          <a:bodyPr wrap="square" lIns="0" tIns="0" rIns="0" bIns="0" anchor="t">
            <a:noAutofit/>
          </a:bodyPr>
          <a:lstStyle/>
          <a:p>
            <a:pPr algn="r"/>
            <a:r>
              <a:rPr sz="800" b="0" i="1">
                <a:solidFill>
                  <a:srgbClr val="EFE3CE"/>
                </a:solidFill>
                <a:latin typeface="Be Vietnam Pro"/>
                <a:ea typeface="Be Vietnam Pro"/>
                <a:cs typeface="Be Vietnam Pro"/>
              </a:rPr>
              <a:t>Hồ Chí Minh, khoảng 1946 · ảnh tư liệu, phạm vi công cộng (Wikimedia Commons)</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502920"/>
            <a:ext cx="5120640" cy="365760"/>
          </a:xfrm>
          <a:prstGeom prst="rect">
            <a:avLst/>
          </a:prstGeom>
          <a:noFill/>
        </p:spPr>
        <p:txBody>
          <a:bodyPr wrap="square" lIns="0" tIns="0" rIns="0" bIns="0" anchor="t">
            <a:noAutofit/>
          </a:bodyPr>
          <a:lstStyle/>
          <a:p>
            <a:pPr algn="l"/>
            <a:r>
              <a:rPr sz="1200" b="0" i="0" spc="300">
                <a:solidFill>
                  <a:srgbClr val="9C1214"/>
                </a:solidFill>
                <a:latin typeface="Be Vietnam Pro SemiBold"/>
                <a:ea typeface="Be Vietnam Pro SemiBold"/>
                <a:cs typeface="Be Vietnam Pro SemiBold"/>
              </a:rPr>
              <a:t>MỞ ĐẦU  ·  CÂU HỎI CHO CẢ LỚP</a:t>
            </a:r>
          </a:p>
        </p:txBody>
      </p:sp>
      <p:sp>
        <p:nvSpPr>
          <p:cNvPr id="4" name="TextBox 3"/>
          <p:cNvSpPr txBox="1"/>
          <p:nvPr/>
        </p:nvSpPr>
        <p:spPr>
          <a:xfrm>
            <a:off x="548640" y="914400"/>
            <a:ext cx="5120640" cy="2011680"/>
          </a:xfrm>
          <a:prstGeom prst="rect">
            <a:avLst/>
          </a:prstGeom>
          <a:noFill/>
        </p:spPr>
        <p:txBody>
          <a:bodyPr wrap="square" lIns="0" tIns="0" rIns="0" bIns="0" anchor="t">
            <a:noAutofit/>
          </a:bodyPr>
          <a:lstStyle/>
          <a:p>
            <a:pPr algn="l">
              <a:lnSpc>
                <a:spcPct val="92000"/>
              </a:lnSpc>
            </a:pPr>
            <a:r>
              <a:rPr sz="7250" b="0" i="0">
                <a:solidFill>
                  <a:srgbClr val="5B0808"/>
                </a:solidFill>
                <a:latin typeface="Phudu ExtraBold"/>
                <a:ea typeface="Phudu ExtraBold"/>
                <a:cs typeface="Phudu ExtraBold"/>
              </a:rPr>
              <a:t>ĐOÀN KẾT</a:t>
            </a:r>
          </a:p>
          <a:p>
            <a:pPr algn="l">
              <a:lnSpc>
                <a:spcPct val="92000"/>
              </a:lnSpc>
            </a:pPr>
            <a:r>
              <a:rPr sz="7250" b="0" i="0">
                <a:solidFill>
                  <a:srgbClr val="5B0808"/>
                </a:solidFill>
                <a:latin typeface="Phudu ExtraBold"/>
                <a:ea typeface="Phudu ExtraBold"/>
                <a:cs typeface="Phudu ExtraBold"/>
              </a:rPr>
              <a:t>LÀ GÌ?</a:t>
            </a:r>
          </a:p>
        </p:txBody>
      </p:sp>
      <p:sp>
        <p:nvSpPr>
          <p:cNvPr id="5" name="TextBox 4"/>
          <p:cNvSpPr txBox="1"/>
          <p:nvPr/>
        </p:nvSpPr>
        <p:spPr>
          <a:xfrm>
            <a:off x="548640" y="3154680"/>
            <a:ext cx="4846320" cy="1188720"/>
          </a:xfrm>
          <a:prstGeom prst="rect">
            <a:avLst/>
          </a:prstGeom>
          <a:noFill/>
        </p:spPr>
        <p:txBody>
          <a:bodyPr wrap="square" lIns="0" tIns="0" rIns="0" bIns="0" anchor="t">
            <a:noAutofit/>
          </a:bodyPr>
          <a:lstStyle/>
          <a:p>
            <a:pPr algn="l">
              <a:lnSpc>
                <a:spcPct val="110000"/>
              </a:lnSpc>
            </a:pPr>
            <a:r>
              <a:rPr sz="1750" b="1" i="0">
                <a:solidFill>
                  <a:srgbClr val="4C3026"/>
                </a:solidFill>
                <a:latin typeface="Be Vietnam Pro"/>
                <a:ea typeface="Be Vietnam Pro"/>
                <a:cs typeface="Be Vietnam Pro"/>
              </a:rPr>
              <a:t>Trả lời bằng bàn tay: </a:t>
            </a:r>
            <a:r>
              <a:rPr sz="1750" b="0" i="0">
                <a:solidFill>
                  <a:srgbClr val="4C3026"/>
                </a:solidFill>
                <a:latin typeface="Be Vietnam Pro"/>
                <a:ea typeface="Be Vietnam Pro"/>
                <a:cs typeface="Be Vietnam Pro"/>
              </a:rPr>
              <a:t>giơ 1, 2, 3 hoặc 4 ngón tay tương ứng với A, B, C, D.</a:t>
            </a:r>
          </a:p>
        </p:txBody>
      </p:sp>
      <p:sp>
        <p:nvSpPr>
          <p:cNvPr id="6" name="TextBox 5"/>
          <p:cNvSpPr txBox="1"/>
          <p:nvPr/>
        </p:nvSpPr>
        <p:spPr>
          <a:xfrm>
            <a:off x="548640" y="4315968"/>
            <a:ext cx="4754880" cy="914400"/>
          </a:xfrm>
          <a:prstGeom prst="rect">
            <a:avLst/>
          </a:prstGeom>
          <a:noFill/>
        </p:spPr>
        <p:txBody>
          <a:bodyPr wrap="square" lIns="0" tIns="0" rIns="0" bIns="0" anchor="t">
            <a:noAutofit/>
          </a:bodyPr>
          <a:lstStyle/>
          <a:p>
            <a:pPr algn="l"/>
            <a:r>
              <a:rPr sz="1750" b="0" i="1">
                <a:solidFill>
                  <a:srgbClr val="6E564B"/>
                </a:solidFill>
                <a:latin typeface="Be Vietnam Pro"/>
                <a:ea typeface="Be Vietnam Pro"/>
                <a:cs typeface="Be Vietnam Pro"/>
              </a:rPr>
              <a:t>Chưa có đáp án. Cuối bài, cả lớp sẽ quay lại câu hỏi này.</a:t>
            </a:r>
          </a:p>
        </p:txBody>
      </p:sp>
      <p:sp>
        <p:nvSpPr>
          <p:cNvPr id="7" name="Option A"/>
          <p:cNvSpPr/>
          <p:nvPr/>
        </p:nvSpPr>
        <p:spPr>
          <a:xfrm>
            <a:off x="5760720" y="777240"/>
            <a:ext cx="2926080" cy="2286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TextBox 7"/>
          <p:cNvSpPr txBox="1"/>
          <p:nvPr/>
        </p:nvSpPr>
        <p:spPr>
          <a:xfrm>
            <a:off x="6016752" y="960120"/>
            <a:ext cx="914400" cy="822960"/>
          </a:xfrm>
          <a:prstGeom prst="rect">
            <a:avLst/>
          </a:prstGeom>
          <a:noFill/>
        </p:spPr>
        <p:txBody>
          <a:bodyPr wrap="square" lIns="0" tIns="0" rIns="0" bIns="0" anchor="t">
            <a:noAutofit/>
          </a:bodyPr>
          <a:lstStyle/>
          <a:p>
            <a:pPr algn="l"/>
            <a:r>
              <a:rPr sz="5050" b="0" i="0">
                <a:solidFill>
                  <a:srgbClr val="9C1214"/>
                </a:solidFill>
                <a:latin typeface="Phudu ExtraBold"/>
                <a:ea typeface="Phudu ExtraBold"/>
                <a:cs typeface="Phudu ExtraBold"/>
              </a:rPr>
              <a:t>A</a:t>
            </a:r>
          </a:p>
        </p:txBody>
      </p:sp>
      <p:sp>
        <p:nvSpPr>
          <p:cNvPr id="9" name="TextBox 8"/>
          <p:cNvSpPr txBox="1"/>
          <p:nvPr/>
        </p:nvSpPr>
        <p:spPr>
          <a:xfrm>
            <a:off x="6016752" y="1801368"/>
            <a:ext cx="2414016" cy="1051560"/>
          </a:xfrm>
          <a:prstGeom prst="rect">
            <a:avLst/>
          </a:prstGeom>
          <a:noFill/>
        </p:spPr>
        <p:txBody>
          <a:bodyPr wrap="square" lIns="0" tIns="0" rIns="0" bIns="0" anchor="t">
            <a:noAutofit/>
          </a:bodyPr>
          <a:lstStyle/>
          <a:p>
            <a:pPr algn="l">
              <a:lnSpc>
                <a:spcPct val="105000"/>
              </a:lnSpc>
            </a:pPr>
            <a:r>
              <a:rPr sz="1750" b="0" i="0">
                <a:solidFill>
                  <a:srgbClr val="2A1712"/>
                </a:solidFill>
                <a:latin typeface="Be Vietnam Pro"/>
                <a:ea typeface="Be Vietnam Pro"/>
                <a:cs typeface="Be Vietnam Pro"/>
              </a:rPr>
              <a:t>Mọi người cùng một quan điểm, một cách nghĩ</a:t>
            </a:r>
          </a:p>
        </p:txBody>
      </p:sp>
      <p:pic>
        <p:nvPicPr>
          <p:cNvPr id="10" name="Picture 9" descr="hand_1_burg.png"/>
          <p:cNvPicPr>
            <a:picLocks noChangeAspect="1"/>
          </p:cNvPicPr>
          <p:nvPr/>
        </p:nvPicPr>
        <p:blipFill>
          <a:blip r:embed="rId4"/>
          <a:stretch>
            <a:fillRect/>
          </a:stretch>
        </p:blipFill>
        <p:spPr>
          <a:xfrm>
            <a:off x="7818120" y="978408"/>
            <a:ext cx="629838" cy="749808"/>
          </a:xfrm>
          <a:prstGeom prst="rect">
            <a:avLst/>
          </a:prstGeom>
        </p:spPr>
      </p:pic>
      <p:sp>
        <p:nvSpPr>
          <p:cNvPr id="11" name="Option B"/>
          <p:cNvSpPr/>
          <p:nvPr/>
        </p:nvSpPr>
        <p:spPr>
          <a:xfrm>
            <a:off x="8915400" y="777240"/>
            <a:ext cx="2926080" cy="2286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9171432" y="960120"/>
            <a:ext cx="914400" cy="822960"/>
          </a:xfrm>
          <a:prstGeom prst="rect">
            <a:avLst/>
          </a:prstGeom>
          <a:noFill/>
        </p:spPr>
        <p:txBody>
          <a:bodyPr wrap="square" lIns="0" tIns="0" rIns="0" bIns="0" anchor="t">
            <a:noAutofit/>
          </a:bodyPr>
          <a:lstStyle/>
          <a:p>
            <a:pPr algn="l"/>
            <a:r>
              <a:rPr sz="5050" b="0" i="0">
                <a:solidFill>
                  <a:srgbClr val="9C1214"/>
                </a:solidFill>
                <a:latin typeface="Phudu ExtraBold"/>
                <a:ea typeface="Phudu ExtraBold"/>
                <a:cs typeface="Phudu ExtraBold"/>
              </a:rPr>
              <a:t>B</a:t>
            </a:r>
          </a:p>
        </p:txBody>
      </p:sp>
      <p:sp>
        <p:nvSpPr>
          <p:cNvPr id="13" name="TextBox 12"/>
          <p:cNvSpPr txBox="1"/>
          <p:nvPr/>
        </p:nvSpPr>
        <p:spPr>
          <a:xfrm>
            <a:off x="9171432" y="1801368"/>
            <a:ext cx="2414016" cy="1051560"/>
          </a:xfrm>
          <a:prstGeom prst="rect">
            <a:avLst/>
          </a:prstGeom>
          <a:noFill/>
        </p:spPr>
        <p:txBody>
          <a:bodyPr wrap="square" lIns="0" tIns="0" rIns="0" bIns="0" anchor="t">
            <a:noAutofit/>
          </a:bodyPr>
          <a:lstStyle/>
          <a:p>
            <a:pPr algn="l">
              <a:lnSpc>
                <a:spcPct val="105000"/>
              </a:lnSpc>
            </a:pPr>
            <a:r>
              <a:rPr sz="1750" b="0" i="0">
                <a:solidFill>
                  <a:srgbClr val="2A1712"/>
                </a:solidFill>
                <a:latin typeface="Be Vietnam Pro"/>
                <a:ea typeface="Be Vietnam Pro"/>
                <a:cs typeface="Be Vietnam Pro"/>
              </a:rPr>
              <a:t>Có khác biệt nhưng cùng hướng tới mục tiêu chung</a:t>
            </a:r>
          </a:p>
        </p:txBody>
      </p:sp>
      <p:pic>
        <p:nvPicPr>
          <p:cNvPr id="14" name="Picture 13" descr="hand_2_burg.png"/>
          <p:cNvPicPr>
            <a:picLocks noChangeAspect="1"/>
          </p:cNvPicPr>
          <p:nvPr/>
        </p:nvPicPr>
        <p:blipFill>
          <a:blip r:embed="rId5"/>
          <a:stretch>
            <a:fillRect/>
          </a:stretch>
        </p:blipFill>
        <p:spPr>
          <a:xfrm>
            <a:off x="10972800" y="978408"/>
            <a:ext cx="629838" cy="749808"/>
          </a:xfrm>
          <a:prstGeom prst="rect">
            <a:avLst/>
          </a:prstGeom>
        </p:spPr>
      </p:pic>
      <p:sp>
        <p:nvSpPr>
          <p:cNvPr id="15" name="Option C"/>
          <p:cNvSpPr/>
          <p:nvPr/>
        </p:nvSpPr>
        <p:spPr>
          <a:xfrm>
            <a:off x="5760720" y="3291840"/>
            <a:ext cx="2926080" cy="2286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TextBox 15"/>
          <p:cNvSpPr txBox="1"/>
          <p:nvPr/>
        </p:nvSpPr>
        <p:spPr>
          <a:xfrm>
            <a:off x="6016752" y="3474720"/>
            <a:ext cx="914400" cy="822960"/>
          </a:xfrm>
          <a:prstGeom prst="rect">
            <a:avLst/>
          </a:prstGeom>
          <a:noFill/>
        </p:spPr>
        <p:txBody>
          <a:bodyPr wrap="square" lIns="0" tIns="0" rIns="0" bIns="0" anchor="t">
            <a:noAutofit/>
          </a:bodyPr>
          <a:lstStyle/>
          <a:p>
            <a:pPr algn="l"/>
            <a:r>
              <a:rPr sz="5050" b="0" i="0">
                <a:solidFill>
                  <a:srgbClr val="9C1214"/>
                </a:solidFill>
                <a:latin typeface="Phudu ExtraBold"/>
                <a:ea typeface="Phudu ExtraBold"/>
                <a:cs typeface="Phudu ExtraBold"/>
              </a:rPr>
              <a:t>C</a:t>
            </a:r>
          </a:p>
        </p:txBody>
      </p:sp>
      <p:sp>
        <p:nvSpPr>
          <p:cNvPr id="17" name="TextBox 16"/>
          <p:cNvSpPr txBox="1"/>
          <p:nvPr/>
        </p:nvSpPr>
        <p:spPr>
          <a:xfrm>
            <a:off x="6016752" y="4315968"/>
            <a:ext cx="2414016" cy="1051560"/>
          </a:xfrm>
          <a:prstGeom prst="rect">
            <a:avLst/>
          </a:prstGeom>
          <a:noFill/>
        </p:spPr>
        <p:txBody>
          <a:bodyPr wrap="square" lIns="0" tIns="0" rIns="0" bIns="0" anchor="t">
            <a:noAutofit/>
          </a:bodyPr>
          <a:lstStyle/>
          <a:p>
            <a:pPr algn="l">
              <a:lnSpc>
                <a:spcPct val="105000"/>
              </a:lnSpc>
            </a:pPr>
            <a:r>
              <a:rPr sz="1750" b="0" i="0">
                <a:solidFill>
                  <a:srgbClr val="2A1712"/>
                </a:solidFill>
                <a:latin typeface="Be Vietnam Pro"/>
                <a:ea typeface="Be Vietnam Pro"/>
                <a:cs typeface="Be Vietnam Pro"/>
              </a:rPr>
              <a:t>Ý kiến thiểu số phải theo đa số</a:t>
            </a:r>
          </a:p>
        </p:txBody>
      </p:sp>
      <p:pic>
        <p:nvPicPr>
          <p:cNvPr id="18" name="Picture 17" descr="hand_3_burg.png"/>
          <p:cNvPicPr>
            <a:picLocks noChangeAspect="1"/>
          </p:cNvPicPr>
          <p:nvPr/>
        </p:nvPicPr>
        <p:blipFill>
          <a:blip r:embed="rId6"/>
          <a:stretch>
            <a:fillRect/>
          </a:stretch>
        </p:blipFill>
        <p:spPr>
          <a:xfrm>
            <a:off x="7818120" y="3493008"/>
            <a:ext cx="629838" cy="749808"/>
          </a:xfrm>
          <a:prstGeom prst="rect">
            <a:avLst/>
          </a:prstGeom>
        </p:spPr>
      </p:pic>
      <p:sp>
        <p:nvSpPr>
          <p:cNvPr id="19" name="Option D"/>
          <p:cNvSpPr/>
          <p:nvPr/>
        </p:nvSpPr>
        <p:spPr>
          <a:xfrm>
            <a:off x="8915400" y="3291840"/>
            <a:ext cx="2926080" cy="2286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TextBox 19"/>
          <p:cNvSpPr txBox="1"/>
          <p:nvPr/>
        </p:nvSpPr>
        <p:spPr>
          <a:xfrm>
            <a:off x="9171432" y="3474720"/>
            <a:ext cx="914400" cy="822960"/>
          </a:xfrm>
          <a:prstGeom prst="rect">
            <a:avLst/>
          </a:prstGeom>
          <a:noFill/>
        </p:spPr>
        <p:txBody>
          <a:bodyPr wrap="square" lIns="0" tIns="0" rIns="0" bIns="0" anchor="t">
            <a:noAutofit/>
          </a:bodyPr>
          <a:lstStyle/>
          <a:p>
            <a:pPr algn="l"/>
            <a:r>
              <a:rPr sz="5050" b="0" i="0">
                <a:solidFill>
                  <a:srgbClr val="9C1214"/>
                </a:solidFill>
                <a:latin typeface="Phudu ExtraBold"/>
                <a:ea typeface="Phudu ExtraBold"/>
                <a:cs typeface="Phudu ExtraBold"/>
              </a:rPr>
              <a:t>D</a:t>
            </a:r>
          </a:p>
        </p:txBody>
      </p:sp>
      <p:sp>
        <p:nvSpPr>
          <p:cNvPr id="21" name="TextBox 20"/>
          <p:cNvSpPr txBox="1"/>
          <p:nvPr/>
        </p:nvSpPr>
        <p:spPr>
          <a:xfrm>
            <a:off x="9171432" y="4315968"/>
            <a:ext cx="2414016" cy="1051560"/>
          </a:xfrm>
          <a:prstGeom prst="rect">
            <a:avLst/>
          </a:prstGeom>
          <a:noFill/>
        </p:spPr>
        <p:txBody>
          <a:bodyPr wrap="square" lIns="0" tIns="0" rIns="0" bIns="0" anchor="t">
            <a:noAutofit/>
          </a:bodyPr>
          <a:lstStyle/>
          <a:p>
            <a:pPr algn="l">
              <a:lnSpc>
                <a:spcPct val="105000"/>
              </a:lnSpc>
            </a:pPr>
            <a:r>
              <a:rPr sz="1750" b="0" i="0">
                <a:solidFill>
                  <a:srgbClr val="2A1712"/>
                </a:solidFill>
                <a:latin typeface="Be Vietnam Pro"/>
                <a:ea typeface="Be Vietnam Pro"/>
                <a:cs typeface="Be Vietnam Pro"/>
              </a:rPr>
              <a:t>Tránh tranh luận để giữ hòa khí trong tập thể</a:t>
            </a:r>
          </a:p>
        </p:txBody>
      </p:sp>
      <p:pic>
        <p:nvPicPr>
          <p:cNvPr id="22" name="Picture 21" descr="hand_4_burg.png"/>
          <p:cNvPicPr>
            <a:picLocks noChangeAspect="1"/>
          </p:cNvPicPr>
          <p:nvPr/>
        </p:nvPicPr>
        <p:blipFill>
          <a:blip r:embed="rId7"/>
          <a:stretch>
            <a:fillRect/>
          </a:stretch>
        </p:blipFill>
        <p:spPr>
          <a:xfrm>
            <a:off x="10972800" y="3493008"/>
            <a:ext cx="629838" cy="749808"/>
          </a:xfrm>
          <a:prstGeom prst="rect">
            <a:avLst/>
          </a:prstGeom>
        </p:spPr>
      </p:pic>
      <p:sp>
        <p:nvSpPr>
          <p:cNvPr id="23"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02</a:t>
            </a:r>
            <a:r>
              <a:rPr sz="950" b="0" i="0" spc="120">
                <a:solidFill>
                  <a:srgbClr val="6E564B"/>
                </a:solidFill>
                <a:latin typeface="Be Vietnam Pro"/>
                <a:ea typeface="Be Vietnam Pro"/>
                <a:cs typeface="Be Vietnam Pro"/>
              </a:rPr>
              <a:t>  /  16    ĐẠI ĐOÀN KẾT DÂN TỘC</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_soft.png"/>
          <p:cNvPicPr>
            <a:picLocks noChangeAspect="1"/>
          </p:cNvPicPr>
          <p:nvPr/>
        </p:nvPicPr>
        <p:blipFill>
          <a:blip r:embed="rId3"/>
          <a:stretch>
            <a:fillRect/>
          </a:stretch>
        </p:blipFill>
        <p:spPr>
          <a:xfrm>
            <a:off x="0" y="0"/>
            <a:ext cx="12191695" cy="6858000"/>
          </a:xfrm>
          <a:prstGeom prst="rect">
            <a:avLst/>
          </a:prstGeom>
        </p:spPr>
      </p:pic>
      <p:pic>
        <p:nvPicPr>
          <p:cNvPr id="3" name="Panel trai - Quoc hoi khoa I 1946" descr="s3bg.jpg"/>
          <p:cNvPicPr>
            <a:picLocks noChangeAspect="1"/>
          </p:cNvPicPr>
          <p:nvPr/>
        </p:nvPicPr>
        <p:blipFill>
          <a:blip r:embed="rId4"/>
          <a:stretch>
            <a:fillRect/>
          </a:stretch>
        </p:blipFill>
        <p:spPr>
          <a:xfrm>
            <a:off x="0" y="0"/>
            <a:ext cx="4160520" cy="6858000"/>
          </a:xfrm>
          <a:prstGeom prst="rect">
            <a:avLst/>
          </a:prstGeom>
        </p:spPr>
      </p:pic>
      <p:sp>
        <p:nvSpPr>
          <p:cNvPr id="4" name="Phu toi"/>
          <p:cNvSpPr/>
          <p:nvPr/>
        </p:nvSpPr>
        <p:spPr>
          <a:xfrm>
            <a:off x="0" y="0"/>
            <a:ext cx="4160520" cy="6858000"/>
          </a:xfrm>
          <a:prstGeom prst="rect">
            <a:avLst/>
          </a:prstGeom>
          <a:gradFill rotWithShape="1">
            <a:gsLst>
              <a:gs pos="0">
                <a:srgbClr val="5B0808">
                  <a:alpha val="90000"/>
                </a:srgbClr>
              </a:gs>
              <a:gs pos="62000">
                <a:srgbClr val="5B0808">
                  <a:alpha val="84000"/>
                </a:srgbClr>
              </a:gs>
              <a:gs pos="84000">
                <a:srgbClr val="3A0405">
                  <a:alpha val="45000"/>
                </a:srgbClr>
              </a:gs>
              <a:gs pos="100000">
                <a:srgbClr val="3A0405">
                  <a:alpha val="40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ption"/>
          <p:cNvSpPr txBox="1"/>
          <p:nvPr/>
        </p:nvSpPr>
        <p:spPr>
          <a:xfrm>
            <a:off x="502920" y="6053328"/>
            <a:ext cx="3383280" cy="457200"/>
          </a:xfrm>
          <a:prstGeom prst="rect">
            <a:avLst/>
          </a:prstGeom>
          <a:noFill/>
        </p:spPr>
        <p:txBody>
          <a:bodyPr wrap="square" lIns="0" tIns="0" rIns="0" bIns="0" anchor="t">
            <a:noAutofit/>
          </a:bodyPr>
          <a:lstStyle/>
          <a:p>
            <a:pPr algn="l">
              <a:lnSpc>
                <a:spcPct val="100000"/>
              </a:lnSpc>
            </a:pPr>
            <a:r>
              <a:rPr sz="800" b="0" i="1">
                <a:solidFill>
                  <a:srgbClr val="EFE3CE"/>
                </a:solidFill>
                <a:latin typeface="Be Vietnam Pro"/>
                <a:ea typeface="Be Vietnam Pro"/>
                <a:cs typeface="Be Vietnam Pro"/>
              </a:rPr>
              <a:t>Đại biểu Quốc hội khóa I, 2/3/1946 · ảnh tư liệu, phạm vi công cộng (quochoi.vn qua Wikimedia Commons)</a:t>
            </a:r>
          </a:p>
        </p:txBody>
      </p:sp>
      <p:sp>
        <p:nvSpPr>
          <p:cNvPr id="6" name="TextBox 5"/>
          <p:cNvSpPr txBox="1"/>
          <p:nvPr/>
        </p:nvSpPr>
        <p:spPr>
          <a:xfrm>
            <a:off x="502920" y="566928"/>
            <a:ext cx="3291840" cy="365760"/>
          </a:xfrm>
          <a:prstGeom prst="rect">
            <a:avLst/>
          </a:prstGeom>
          <a:noFill/>
        </p:spPr>
        <p:txBody>
          <a:bodyPr wrap="square" lIns="0" tIns="0" rIns="0" bIns="0" anchor="t">
            <a:noAutofit/>
          </a:bodyPr>
          <a:lstStyle/>
          <a:p>
            <a:pPr algn="l"/>
            <a:r>
              <a:rPr sz="1100" b="0" i="0" spc="250">
                <a:solidFill>
                  <a:srgbClr val="D2AA50"/>
                </a:solidFill>
                <a:latin typeface="Be Vietnam Pro SemiBold"/>
                <a:ea typeface="Be Vietnam Pro SemiBold"/>
                <a:cs typeface="Be Vietnam Pro SemiBold"/>
              </a:rPr>
              <a:t>NHÌN LẠI CHƯƠNG 5 · MỤC II</a:t>
            </a:r>
          </a:p>
        </p:txBody>
      </p:sp>
      <p:sp>
        <p:nvSpPr>
          <p:cNvPr id="7" name="TextBox 6"/>
          <p:cNvSpPr txBox="1"/>
          <p:nvPr/>
        </p:nvSpPr>
        <p:spPr>
          <a:xfrm>
            <a:off x="502920" y="1005840"/>
            <a:ext cx="3520440" cy="2377440"/>
          </a:xfrm>
          <a:prstGeom prst="rect">
            <a:avLst/>
          </a:prstGeom>
          <a:noFill/>
        </p:spPr>
        <p:txBody>
          <a:bodyPr wrap="square" lIns="0" tIns="0" rIns="0" bIns="0" anchor="t">
            <a:noAutofit/>
          </a:bodyPr>
          <a:lstStyle/>
          <a:p>
            <a:pPr algn="l">
              <a:lnSpc>
                <a:spcPct val="98000"/>
              </a:lnSpc>
            </a:pPr>
            <a:r>
              <a:rPr sz="3300" b="0" i="0">
                <a:solidFill>
                  <a:srgbClr val="FAF5E8"/>
                </a:solidFill>
                <a:latin typeface="Phudu ExtraBold"/>
                <a:ea typeface="Phudu ExtraBold"/>
                <a:cs typeface="Phudu ExtraBold"/>
              </a:rPr>
              <a:t>KHÔNG HỌC LẠI,</a:t>
            </a:r>
          </a:p>
          <a:p>
            <a:pPr algn="l">
              <a:lnSpc>
                <a:spcPct val="98000"/>
              </a:lnSpc>
            </a:pPr>
            <a:r>
              <a:rPr sz="3300" b="0" i="0">
                <a:solidFill>
                  <a:srgbClr val="FAF5E8"/>
                </a:solidFill>
                <a:latin typeface="Phudu ExtraBold"/>
                <a:ea typeface="Phudu ExtraBold"/>
                <a:cs typeface="Phudu ExtraBold"/>
              </a:rPr>
              <a:t>MÀ NHÌN LẠI</a:t>
            </a:r>
          </a:p>
          <a:p>
            <a:pPr algn="l">
              <a:lnSpc>
                <a:spcPct val="98000"/>
              </a:lnSpc>
            </a:pPr>
            <a:r>
              <a:rPr sz="3300" b="0" i="0">
                <a:solidFill>
                  <a:srgbClr val="FAF5E8"/>
                </a:solidFill>
                <a:latin typeface="Phudu ExtraBold"/>
                <a:ea typeface="Phudu ExtraBold"/>
                <a:cs typeface="Phudu ExtraBold"/>
              </a:rPr>
              <a:t>SÂU HƠN</a:t>
            </a:r>
          </a:p>
        </p:txBody>
      </p:sp>
      <p:sp>
        <p:nvSpPr>
          <p:cNvPr id="8" name="TextBox 7"/>
          <p:cNvSpPr txBox="1"/>
          <p:nvPr/>
        </p:nvSpPr>
        <p:spPr>
          <a:xfrm>
            <a:off x="502920" y="3429000"/>
            <a:ext cx="3291840" cy="1828800"/>
          </a:xfrm>
          <a:prstGeom prst="rect">
            <a:avLst/>
          </a:prstGeom>
          <a:noFill/>
        </p:spPr>
        <p:txBody>
          <a:bodyPr wrap="square" lIns="0" tIns="0" rIns="0" bIns="0" anchor="t">
            <a:noAutofit/>
          </a:bodyPr>
          <a:lstStyle/>
          <a:p>
            <a:pPr algn="l">
              <a:lnSpc>
                <a:spcPct val="115000"/>
              </a:lnSpc>
              <a:spcAft>
                <a:spcPts val="800"/>
              </a:spcAft>
            </a:pPr>
            <a:r>
              <a:rPr sz="1500" b="0" i="0">
                <a:solidFill>
                  <a:srgbClr val="EFE3CE"/>
                </a:solidFill>
                <a:latin typeface="Be Vietnam Pro"/>
                <a:ea typeface="Be Vietnam Pro"/>
                <a:cs typeface="Be Vietnam Pro"/>
              </a:rPr>
              <a:t>Bốn mảnh ghép cả lớp đã học trong bài giảng Chương 5.</a:t>
            </a:r>
          </a:p>
          <a:p>
            <a:pPr algn="l">
              <a:lnSpc>
                <a:spcPct val="115000"/>
              </a:lnSpc>
              <a:spcAft>
                <a:spcPts val="800"/>
              </a:spcAft>
            </a:pPr>
            <a:r>
              <a:rPr sz="1500" b="0" i="0">
                <a:solidFill>
                  <a:srgbClr val="EFE3CE"/>
                </a:solidFill>
                <a:latin typeface="Be Vietnam Pro"/>
                <a:ea typeface="Be Vietnam Pro"/>
                <a:cs typeface="Be Vietnam Pro"/>
              </a:rPr>
              <a:t>Hôm nay, nhóm dùng chúng để trả lời một câu hỏi khó hơn.</a:t>
            </a:r>
          </a:p>
        </p:txBody>
      </p:sp>
      <p:cxnSp>
        <p:nvCxnSpPr>
          <p:cNvPr id="9" name="Connector 8"/>
          <p:cNvCxnSpPr/>
          <p:nvPr/>
        </p:nvCxnSpPr>
        <p:spPr>
          <a:xfrm flipV="1">
            <a:off x="8092440" y="1463040"/>
            <a:ext cx="0" cy="2057400"/>
          </a:xfrm>
          <a:prstGeom prst="line">
            <a:avLst/>
          </a:prstGeom>
          <a:ln w="15875">
            <a:solidFill>
              <a:srgbClr val="B68A45">
                <a:alpha val="70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92440" y="3520440"/>
            <a:ext cx="2697480" cy="0"/>
          </a:xfrm>
          <a:prstGeom prst="line">
            <a:avLst/>
          </a:prstGeom>
          <a:ln w="15875">
            <a:solidFill>
              <a:srgbClr val="B68A45">
                <a:alpha val="70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92440" y="3520440"/>
            <a:ext cx="0" cy="2057400"/>
          </a:xfrm>
          <a:prstGeom prst="line">
            <a:avLst/>
          </a:prstGeom>
          <a:ln w="15875">
            <a:solidFill>
              <a:srgbClr val="B68A45">
                <a:alpha val="70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394959" y="3520440"/>
            <a:ext cx="2697481" cy="0"/>
          </a:xfrm>
          <a:prstGeom prst="line">
            <a:avLst/>
          </a:prstGeom>
          <a:ln w="15875">
            <a:solidFill>
              <a:srgbClr val="B68A45">
                <a:alpha val="70000"/>
              </a:srgbClr>
            </a:solidFill>
          </a:ln>
        </p:spPr>
        <p:style>
          <a:lnRef idx="2">
            <a:schemeClr val="accent1"/>
          </a:lnRef>
          <a:fillRef idx="0">
            <a:schemeClr val="accent1"/>
          </a:fillRef>
          <a:effectRef idx="1">
            <a:schemeClr val="accent1"/>
          </a:effectRef>
          <a:fontRef idx="minor">
            <a:schemeClr val="tx1"/>
          </a:fontRef>
        </p:style>
      </p:cxnSp>
      <p:sp>
        <p:nvSpPr>
          <p:cNvPr id="13" name="Cau hoi trung tam"/>
          <p:cNvSpPr/>
          <p:nvPr/>
        </p:nvSpPr>
        <p:spPr>
          <a:xfrm>
            <a:off x="7013448" y="2441448"/>
            <a:ext cx="2157984" cy="2157984"/>
          </a:xfrm>
          <a:prstGeom prst="ellipse">
            <a:avLst/>
          </a:prstGeom>
          <a:solidFill>
            <a:srgbClr val="5B0808"/>
          </a:solidFill>
          <a:ln>
            <a:noFill/>
          </a:ln>
          <a:effectLst>
            <a:outerShdw blurRad="254000" dist="508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TextBox 13"/>
          <p:cNvSpPr txBox="1"/>
          <p:nvPr/>
        </p:nvSpPr>
        <p:spPr>
          <a:xfrm>
            <a:off x="7178040" y="2807208"/>
            <a:ext cx="1828800" cy="1426464"/>
          </a:xfrm>
          <a:prstGeom prst="rect">
            <a:avLst/>
          </a:prstGeom>
          <a:noFill/>
        </p:spPr>
        <p:txBody>
          <a:bodyPr wrap="square" lIns="0" tIns="0" rIns="0" bIns="0" anchor="ctr">
            <a:noAutofit/>
          </a:bodyPr>
          <a:lstStyle/>
          <a:p>
            <a:pPr algn="ctr">
              <a:lnSpc>
                <a:spcPct val="100000"/>
              </a:lnSpc>
            </a:pPr>
            <a:r>
              <a:rPr sz="1900" b="0" i="0">
                <a:solidFill>
                  <a:srgbClr val="D2AA50"/>
                </a:solidFill>
                <a:latin typeface="Phudu ExtraBold"/>
                <a:ea typeface="Phudu ExtraBold"/>
                <a:cs typeface="Phudu ExtraBold"/>
              </a:rPr>
              <a:t>ĐOÀN KẾT</a:t>
            </a:r>
          </a:p>
          <a:p>
            <a:pPr algn="ctr">
              <a:lnSpc>
                <a:spcPct val="100000"/>
              </a:lnSpc>
            </a:pPr>
            <a:r>
              <a:rPr sz="1350" b="0" i="1">
                <a:solidFill>
                  <a:srgbClr val="EFE3CE"/>
                </a:solidFill>
                <a:latin typeface="Be Vietnam Pro"/>
                <a:ea typeface="Be Vietnam Pro"/>
                <a:cs typeface="Be Vietnam Pro"/>
              </a:rPr>
              <a:t>có phải là</a:t>
            </a:r>
          </a:p>
          <a:p>
            <a:pPr algn="ctr">
              <a:lnSpc>
                <a:spcPct val="100000"/>
              </a:lnSpc>
            </a:pPr>
            <a:r>
              <a:rPr sz="1900" b="0" i="0">
                <a:solidFill>
                  <a:srgbClr val="FAF5E8"/>
                </a:solidFill>
                <a:latin typeface="Phudu ExtraBold"/>
                <a:ea typeface="Phudu ExtraBold"/>
                <a:cs typeface="Phudu ExtraBold"/>
              </a:rPr>
              <a:t>GIỐNG NHAU?</a:t>
            </a:r>
          </a:p>
        </p:txBody>
      </p:sp>
      <p:sp>
        <p:nvSpPr>
          <p:cNvPr id="15" name="Node 1"/>
          <p:cNvSpPr/>
          <p:nvPr/>
        </p:nvSpPr>
        <p:spPr>
          <a:xfrm>
            <a:off x="7845552" y="1216152"/>
            <a:ext cx="493776" cy="493776"/>
          </a:xfrm>
          <a:prstGeom prst="ellipse">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TextBox 15"/>
          <p:cNvSpPr txBox="1"/>
          <p:nvPr/>
        </p:nvSpPr>
        <p:spPr>
          <a:xfrm>
            <a:off x="7845552" y="1216152"/>
            <a:ext cx="493776" cy="493776"/>
          </a:xfrm>
          <a:prstGeom prst="rect">
            <a:avLst/>
          </a:prstGeom>
          <a:noFill/>
        </p:spPr>
        <p:txBody>
          <a:bodyPr wrap="square" lIns="0" tIns="0" rIns="0" bIns="0" anchor="ctr">
            <a:noAutofit/>
          </a:bodyPr>
          <a:lstStyle/>
          <a:p>
            <a:pPr algn="ctr"/>
            <a:r>
              <a:rPr sz="1600" b="0" i="0">
                <a:solidFill>
                  <a:srgbClr val="5B0808"/>
                </a:solidFill>
                <a:latin typeface="Be Vietnam Pro SemiBold"/>
                <a:ea typeface="Be Vietnam Pro SemiBold"/>
                <a:cs typeface="Be Vietnam Pro SemiBold"/>
              </a:rPr>
              <a:t>1</a:t>
            </a:r>
          </a:p>
        </p:txBody>
      </p:sp>
      <p:sp>
        <p:nvSpPr>
          <p:cNvPr id="17" name="TextBox 16"/>
          <p:cNvSpPr txBox="1"/>
          <p:nvPr/>
        </p:nvSpPr>
        <p:spPr>
          <a:xfrm>
            <a:off x="8476488" y="1133856"/>
            <a:ext cx="3108960" cy="1097280"/>
          </a:xfrm>
          <a:prstGeom prst="rect">
            <a:avLst/>
          </a:prstGeom>
          <a:noFill/>
        </p:spPr>
        <p:txBody>
          <a:bodyPr wrap="square" lIns="0" tIns="0" rIns="0" bIns="0" anchor="t">
            <a:noAutofit/>
          </a:bodyPr>
          <a:lstStyle/>
          <a:p>
            <a:pPr algn="l">
              <a:lnSpc>
                <a:spcPct val="105000"/>
              </a:lnSpc>
            </a:pPr>
            <a:r>
              <a:rPr sz="1300" b="1" i="0" spc="150">
                <a:solidFill>
                  <a:srgbClr val="5B0808"/>
                </a:solidFill>
                <a:latin typeface="Be Vietnam Pro"/>
                <a:ea typeface="Be Vietnam Pro"/>
                <a:cs typeface="Be Vietnam Pro"/>
              </a:rPr>
              <a:t>VAI TRÒ</a:t>
            </a:r>
          </a:p>
          <a:p>
            <a:pPr algn="l">
              <a:lnSpc>
                <a:spcPct val="105000"/>
              </a:lnSpc>
            </a:pPr>
            <a:r>
              <a:rPr sz="1100" b="0" i="0">
                <a:solidFill>
                  <a:srgbClr val="4C3026"/>
                </a:solidFill>
                <a:latin typeface="Be Vietnam Pro"/>
                <a:ea typeface="Be Vietnam Pro"/>
                <a:cs typeface="Be Vietnam Pro"/>
              </a:rPr>
              <a:t>Vấn đề có ý nghĩa chiến lược,</a:t>
            </a:r>
            <a:br>
              <a:rPr sz="1200"/>
            </a:br>
            <a:r>
              <a:rPr sz="1100" b="0" i="0">
                <a:solidFill>
                  <a:srgbClr val="4C3026"/>
                </a:solidFill>
                <a:latin typeface="Be Vietnam Pro"/>
                <a:ea typeface="Be Vietnam Pro"/>
                <a:cs typeface="Be Vietnam Pro"/>
              </a:rPr>
              <a:t>quyết định thành công của cách mạng;</a:t>
            </a:r>
            <a:br>
              <a:rPr sz="1200"/>
            </a:br>
            <a:r>
              <a:rPr sz="1100" b="0" i="0">
                <a:solidFill>
                  <a:srgbClr val="4C3026"/>
                </a:solidFill>
                <a:latin typeface="Be Vietnam Pro"/>
                <a:ea typeface="Be Vietnam Pro"/>
                <a:cs typeface="Be Vietnam Pro"/>
              </a:rPr>
              <a:t>mục tiêu, nhiệm vụ hàng đầu</a:t>
            </a:r>
            <a:br>
              <a:rPr sz="1200"/>
            </a:br>
            <a:r>
              <a:rPr sz="1100" b="0" i="0">
                <a:solidFill>
                  <a:srgbClr val="4C3026"/>
                </a:solidFill>
                <a:latin typeface="Be Vietnam Pro"/>
                <a:ea typeface="Be Vietnam Pro"/>
                <a:cs typeface="Be Vietnam Pro"/>
              </a:rPr>
              <a:t>của Đảng, của dân tộc</a:t>
            </a:r>
          </a:p>
        </p:txBody>
      </p:sp>
      <p:sp>
        <p:nvSpPr>
          <p:cNvPr id="18" name="Node 2a"/>
          <p:cNvSpPr/>
          <p:nvPr/>
        </p:nvSpPr>
        <p:spPr>
          <a:xfrm>
            <a:off x="10543032" y="3273552"/>
            <a:ext cx="493776" cy="493776"/>
          </a:xfrm>
          <a:prstGeom prst="ellipse">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TextBox 18"/>
          <p:cNvSpPr txBox="1"/>
          <p:nvPr/>
        </p:nvSpPr>
        <p:spPr>
          <a:xfrm>
            <a:off x="10543032" y="3273552"/>
            <a:ext cx="493776" cy="493776"/>
          </a:xfrm>
          <a:prstGeom prst="rect">
            <a:avLst/>
          </a:prstGeom>
          <a:noFill/>
        </p:spPr>
        <p:txBody>
          <a:bodyPr wrap="square" lIns="0" tIns="0" rIns="0" bIns="0" anchor="ctr">
            <a:noAutofit/>
          </a:bodyPr>
          <a:lstStyle/>
          <a:p>
            <a:pPr algn="ctr"/>
            <a:r>
              <a:rPr sz="1400" b="0" i="0">
                <a:solidFill>
                  <a:srgbClr val="5B0808"/>
                </a:solidFill>
                <a:latin typeface="Be Vietnam Pro SemiBold"/>
                <a:ea typeface="Be Vietnam Pro SemiBold"/>
                <a:cs typeface="Be Vietnam Pro SemiBold"/>
              </a:rPr>
              <a:t>2a</a:t>
            </a:r>
          </a:p>
        </p:txBody>
      </p:sp>
      <p:sp>
        <p:nvSpPr>
          <p:cNvPr id="20" name="TextBox 19"/>
          <p:cNvSpPr txBox="1"/>
          <p:nvPr/>
        </p:nvSpPr>
        <p:spPr>
          <a:xfrm>
            <a:off x="9738360" y="3849624"/>
            <a:ext cx="2103120" cy="1097280"/>
          </a:xfrm>
          <a:prstGeom prst="rect">
            <a:avLst/>
          </a:prstGeom>
          <a:noFill/>
        </p:spPr>
        <p:txBody>
          <a:bodyPr wrap="square" lIns="0" tIns="0" rIns="0" bIns="0" anchor="t">
            <a:noAutofit/>
          </a:bodyPr>
          <a:lstStyle/>
          <a:p>
            <a:pPr algn="ctr">
              <a:lnSpc>
                <a:spcPct val="105000"/>
              </a:lnSpc>
            </a:pPr>
            <a:r>
              <a:rPr sz="1300" b="1" i="0" spc="150">
                <a:solidFill>
                  <a:srgbClr val="5B0808"/>
                </a:solidFill>
                <a:latin typeface="Be Vietnam Pro"/>
                <a:ea typeface="Be Vietnam Pro"/>
                <a:cs typeface="Be Vietnam Pro"/>
              </a:rPr>
              <a:t>ĐOÀN KẾT</a:t>
            </a:r>
            <a:br>
              <a:rPr sz="1400"/>
            </a:br>
            <a:r>
              <a:rPr sz="1300" b="1" i="0" spc="150">
                <a:solidFill>
                  <a:srgbClr val="5B0808"/>
                </a:solidFill>
                <a:latin typeface="Be Vietnam Pro"/>
                <a:ea typeface="Be Vietnam Pro"/>
                <a:cs typeface="Be Vietnam Pro"/>
              </a:rPr>
              <a:t>TOÀN DÂN</a:t>
            </a:r>
          </a:p>
          <a:p>
            <a:pPr algn="ctr">
              <a:lnSpc>
                <a:spcPct val="105000"/>
              </a:lnSpc>
            </a:pPr>
            <a:r>
              <a:rPr sz="1100" b="0" i="0">
                <a:solidFill>
                  <a:srgbClr val="4C3026"/>
                </a:solidFill>
                <a:latin typeface="Be Vietnam Pro"/>
                <a:ea typeface="Be Vietnam Pro"/>
                <a:cs typeface="Be Vietnam Pro"/>
              </a:rPr>
              <a:t>Dân là chủ thể;</a:t>
            </a:r>
            <a:br>
              <a:rPr sz="1200"/>
            </a:br>
            <a:r>
              <a:rPr sz="1100" b="0" i="0">
                <a:solidFill>
                  <a:srgbClr val="4C3026"/>
                </a:solidFill>
                <a:latin typeface="Be Vietnam Pro"/>
                <a:ea typeface="Be Vietnam Pro"/>
                <a:cs typeface="Be Vietnam Pro"/>
              </a:rPr>
              <a:t>nền tảng: liên minh</a:t>
            </a:r>
            <a:br>
              <a:rPr sz="1200"/>
            </a:br>
            <a:r>
              <a:rPr sz="1100" b="0" i="0">
                <a:solidFill>
                  <a:srgbClr val="4C3026"/>
                </a:solidFill>
                <a:latin typeface="Be Vietnam Pro"/>
                <a:ea typeface="Be Vietnam Pro"/>
                <a:cs typeface="Be Vietnam Pro"/>
              </a:rPr>
              <a:t>công – nông – trí</a:t>
            </a:r>
          </a:p>
        </p:txBody>
      </p:sp>
      <p:sp>
        <p:nvSpPr>
          <p:cNvPr id="21" name="Node 2b"/>
          <p:cNvSpPr/>
          <p:nvPr/>
        </p:nvSpPr>
        <p:spPr>
          <a:xfrm>
            <a:off x="7845552" y="5330952"/>
            <a:ext cx="493776" cy="493776"/>
          </a:xfrm>
          <a:prstGeom prst="ellipse">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TextBox 21"/>
          <p:cNvSpPr txBox="1"/>
          <p:nvPr/>
        </p:nvSpPr>
        <p:spPr>
          <a:xfrm>
            <a:off x="7845552" y="5330952"/>
            <a:ext cx="493776" cy="493776"/>
          </a:xfrm>
          <a:prstGeom prst="rect">
            <a:avLst/>
          </a:prstGeom>
          <a:noFill/>
        </p:spPr>
        <p:txBody>
          <a:bodyPr wrap="square" lIns="0" tIns="0" rIns="0" bIns="0" anchor="ctr">
            <a:noAutofit/>
          </a:bodyPr>
          <a:lstStyle/>
          <a:p>
            <a:pPr algn="ctr"/>
            <a:r>
              <a:rPr sz="1400" b="0" i="0">
                <a:solidFill>
                  <a:srgbClr val="5B0808"/>
                </a:solidFill>
                <a:latin typeface="Be Vietnam Pro SemiBold"/>
                <a:ea typeface="Be Vietnam Pro SemiBold"/>
                <a:cs typeface="Be Vietnam Pro SemiBold"/>
              </a:rPr>
              <a:t>2b</a:t>
            </a:r>
          </a:p>
        </p:txBody>
      </p:sp>
      <p:sp>
        <p:nvSpPr>
          <p:cNvPr id="23" name="TextBox 22"/>
          <p:cNvSpPr txBox="1"/>
          <p:nvPr/>
        </p:nvSpPr>
        <p:spPr>
          <a:xfrm>
            <a:off x="8476488" y="5212079"/>
            <a:ext cx="2468880" cy="1097280"/>
          </a:xfrm>
          <a:prstGeom prst="rect">
            <a:avLst/>
          </a:prstGeom>
          <a:noFill/>
        </p:spPr>
        <p:txBody>
          <a:bodyPr wrap="square" lIns="0" tIns="0" rIns="0" bIns="0" anchor="t">
            <a:noAutofit/>
          </a:bodyPr>
          <a:lstStyle/>
          <a:p>
            <a:pPr algn="l">
              <a:lnSpc>
                <a:spcPct val="105000"/>
              </a:lnSpc>
            </a:pPr>
            <a:r>
              <a:rPr sz="1300" b="1" i="0" spc="150">
                <a:solidFill>
                  <a:srgbClr val="5B0808"/>
                </a:solidFill>
                <a:latin typeface="Be Vietnam Pro"/>
                <a:ea typeface="Be Vietnam Pro"/>
                <a:cs typeface="Be Vietnam Pro"/>
              </a:rPr>
              <a:t>ĐIỀU KIỆN</a:t>
            </a:r>
          </a:p>
          <a:p>
            <a:pPr algn="l">
              <a:lnSpc>
                <a:spcPct val="105000"/>
              </a:lnSpc>
            </a:pPr>
            <a:r>
              <a:rPr sz="1100" b="0" i="0">
                <a:solidFill>
                  <a:srgbClr val="4C3026"/>
                </a:solidFill>
                <a:latin typeface="Be Vietnam Pro"/>
                <a:ea typeface="Be Vietnam Pro"/>
                <a:cs typeface="Be Vietnam Pro"/>
              </a:rPr>
              <a:t>Truyền thống yêu nước –</a:t>
            </a:r>
            <a:br>
              <a:rPr sz="1200"/>
            </a:br>
            <a:r>
              <a:rPr sz="1100" b="0" i="0">
                <a:solidFill>
                  <a:srgbClr val="4C3026"/>
                </a:solidFill>
                <a:latin typeface="Be Vietnam Pro"/>
                <a:ea typeface="Be Vietnam Pro"/>
                <a:cs typeface="Be Vietnam Pro"/>
              </a:rPr>
              <a:t>nhân nghĩa – đoàn kết ·</a:t>
            </a:r>
            <a:br>
              <a:rPr sz="1200"/>
            </a:br>
            <a:r>
              <a:rPr sz="1100" b="0" i="0">
                <a:solidFill>
                  <a:srgbClr val="4C3026"/>
                </a:solidFill>
                <a:latin typeface="Be Vietnam Pro"/>
                <a:ea typeface="Be Vietnam Pro"/>
                <a:cs typeface="Be Vietnam Pro"/>
              </a:rPr>
              <a:t>khoan dung, độ lượng ·</a:t>
            </a:r>
            <a:br>
              <a:rPr sz="1200"/>
            </a:br>
            <a:r>
              <a:rPr sz="1100" b="0" i="0">
                <a:solidFill>
                  <a:srgbClr val="4C3026"/>
                </a:solidFill>
                <a:latin typeface="Be Vietnam Pro"/>
                <a:ea typeface="Be Vietnam Pro"/>
                <a:cs typeface="Be Vietnam Pro"/>
              </a:rPr>
              <a:t>niềm tin vào nhân dân</a:t>
            </a:r>
          </a:p>
        </p:txBody>
      </p:sp>
      <p:sp>
        <p:nvSpPr>
          <p:cNvPr id="24" name="Node 3"/>
          <p:cNvSpPr/>
          <p:nvPr/>
        </p:nvSpPr>
        <p:spPr>
          <a:xfrm>
            <a:off x="5148071" y="3273552"/>
            <a:ext cx="493776" cy="493776"/>
          </a:xfrm>
          <a:prstGeom prst="ellipse">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TextBox 24"/>
          <p:cNvSpPr txBox="1"/>
          <p:nvPr/>
        </p:nvSpPr>
        <p:spPr>
          <a:xfrm>
            <a:off x="5148071" y="3273552"/>
            <a:ext cx="493776" cy="493776"/>
          </a:xfrm>
          <a:prstGeom prst="rect">
            <a:avLst/>
          </a:prstGeom>
          <a:noFill/>
        </p:spPr>
        <p:txBody>
          <a:bodyPr wrap="square" lIns="0" tIns="0" rIns="0" bIns="0" anchor="ctr">
            <a:noAutofit/>
          </a:bodyPr>
          <a:lstStyle/>
          <a:p>
            <a:pPr algn="ctr"/>
            <a:r>
              <a:rPr sz="1600" b="0" i="0">
                <a:solidFill>
                  <a:srgbClr val="5B0808"/>
                </a:solidFill>
                <a:latin typeface="Be Vietnam Pro SemiBold"/>
                <a:ea typeface="Be Vietnam Pro SemiBold"/>
                <a:cs typeface="Be Vietnam Pro SemiBold"/>
              </a:rPr>
              <a:t>3</a:t>
            </a:r>
          </a:p>
        </p:txBody>
      </p:sp>
      <p:sp>
        <p:nvSpPr>
          <p:cNvPr id="26" name="TextBox 25"/>
          <p:cNvSpPr txBox="1"/>
          <p:nvPr/>
        </p:nvSpPr>
        <p:spPr>
          <a:xfrm>
            <a:off x="4343400" y="3849624"/>
            <a:ext cx="2103120" cy="1097280"/>
          </a:xfrm>
          <a:prstGeom prst="rect">
            <a:avLst/>
          </a:prstGeom>
          <a:noFill/>
        </p:spPr>
        <p:txBody>
          <a:bodyPr wrap="square" lIns="0" tIns="0" rIns="0" bIns="0" anchor="t">
            <a:noAutofit/>
          </a:bodyPr>
          <a:lstStyle/>
          <a:p>
            <a:pPr algn="ctr">
              <a:lnSpc>
                <a:spcPct val="105000"/>
              </a:lnSpc>
            </a:pPr>
            <a:r>
              <a:rPr sz="1300" b="1" i="0" spc="150">
                <a:solidFill>
                  <a:srgbClr val="5B0808"/>
                </a:solidFill>
                <a:latin typeface="Be Vietnam Pro"/>
                <a:ea typeface="Be Vietnam Pro"/>
                <a:cs typeface="Be Vietnam Pro"/>
              </a:rPr>
              <a:t>HÌNH THỨC</a:t>
            </a:r>
            <a:br>
              <a:rPr sz="1400"/>
            </a:br>
            <a:r>
              <a:rPr sz="1300" b="1" i="0" spc="150">
                <a:solidFill>
                  <a:srgbClr val="5B0808"/>
                </a:solidFill>
                <a:latin typeface="Be Vietnam Pro"/>
                <a:ea typeface="Be Vietnam Pro"/>
                <a:cs typeface="Be Vietnam Pro"/>
              </a:rPr>
              <a:t>TỔ CHỨC</a:t>
            </a:r>
          </a:p>
          <a:p>
            <a:pPr algn="ctr">
              <a:lnSpc>
                <a:spcPct val="105000"/>
              </a:lnSpc>
            </a:pPr>
            <a:r>
              <a:rPr sz="1100" b="0" i="0">
                <a:solidFill>
                  <a:srgbClr val="4C3026"/>
                </a:solidFill>
                <a:latin typeface="Be Vietnam Pro"/>
                <a:ea typeface="Be Vietnam Pro"/>
                <a:cs typeface="Be Vietnam Pro"/>
              </a:rPr>
              <a:t>Mặt trận dân tộc</a:t>
            </a:r>
            <a:br>
              <a:rPr sz="1200"/>
            </a:br>
            <a:r>
              <a:rPr sz="1100" b="0" i="0">
                <a:solidFill>
                  <a:srgbClr val="4C3026"/>
                </a:solidFill>
                <a:latin typeface="Be Vietnam Pro"/>
                <a:ea typeface="Be Vietnam Pro"/>
                <a:cs typeface="Be Vietnam Pro"/>
              </a:rPr>
              <a:t>thống nhất ·</a:t>
            </a:r>
            <a:br>
              <a:rPr sz="1200"/>
            </a:br>
            <a:r>
              <a:rPr sz="1100" b="0" i="0">
                <a:solidFill>
                  <a:srgbClr val="4C3026"/>
                </a:solidFill>
                <a:latin typeface="Be Vietnam Pro"/>
                <a:ea typeface="Be Vietnam Pro"/>
                <a:cs typeface="Be Vietnam Pro"/>
              </a:rPr>
              <a:t>4 nguyên tắc hoạt động</a:t>
            </a:r>
          </a:p>
        </p:txBody>
      </p:sp>
      <p:sp>
        <p:nvSpPr>
          <p:cNvPr id="27" name="Tag LÝ LUẬN CỐT LÕI"/>
          <p:cNvSpPr/>
          <p:nvPr/>
        </p:nvSpPr>
        <p:spPr>
          <a:xfrm>
            <a:off x="9933127"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LÝ LUẬN CỐT LÕI</a:t>
            </a:r>
          </a:p>
        </p:txBody>
      </p:sp>
      <p:sp>
        <p:nvSpPr>
          <p:cNvPr id="28" name="Folio"/>
          <p:cNvSpPr txBox="1"/>
          <p:nvPr/>
        </p:nvSpPr>
        <p:spPr>
          <a:xfrm>
            <a:off x="452628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03</a:t>
            </a:r>
            <a:r>
              <a:rPr sz="950" b="0" i="0" spc="120">
                <a:solidFill>
                  <a:srgbClr val="6E564B"/>
                </a:solidFill>
                <a:latin typeface="Be Vietnam Pro"/>
                <a:ea typeface="Be Vietnam Pro"/>
                <a:cs typeface="Be Vietnam Pro"/>
              </a:rPr>
              <a:t>  /  16    ĐẠI ĐOÀN KẾT DÂN TỘC</a:t>
            </a:r>
          </a:p>
        </p:txBody>
      </p:sp>
      <p:sp>
        <p:nvSpPr>
          <p:cNvPr id="29" name="Source"/>
          <p:cNvSpPr txBox="1"/>
          <p:nvPr/>
        </p:nvSpPr>
        <p:spPr>
          <a:xfrm>
            <a:off x="7253935" y="6254496"/>
            <a:ext cx="4480560" cy="310896"/>
          </a:xfrm>
          <a:prstGeom prst="rect">
            <a:avLst/>
          </a:prstGeom>
          <a:noFill/>
        </p:spPr>
        <p:txBody>
          <a:bodyPr wrap="square" lIns="0" tIns="0" rIns="0" bIns="0" anchor="t">
            <a:noAutofit/>
          </a:bodyPr>
          <a:lstStyle/>
          <a:p>
            <a:pPr algn="r"/>
            <a:r>
              <a:rPr sz="950" b="0" i="1">
                <a:solidFill>
                  <a:srgbClr val="6E564B"/>
                </a:solidFill>
                <a:latin typeface="Be Vietnam Pro"/>
                <a:ea typeface="Be Vietnam Pro"/>
                <a:cs typeface="Be Vietnam Pro"/>
              </a:rPr>
              <a:t>Khung: bài giảng Chương 5 của lớp, mục II</a:t>
            </a:r>
            <a:br>
              <a:rPr sz="1000"/>
            </a:br>
            <a:r>
              <a:rPr sz="950" b="0" i="1">
                <a:solidFill>
                  <a:srgbClr val="6E564B"/>
                </a:solidFill>
                <a:latin typeface="Be Vietnam Pro"/>
                <a:ea typeface="Be Vietnam Pro"/>
                <a:cs typeface="Be Vietnam Pro"/>
              </a:rPr>
              <a:t>TS. Hà Triệu Huy, ĐH KHXH&amp;NV – ĐHQG TP.HCM</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0"/>
            <a:ext cx="12191695" cy="6858000"/>
          </a:xfrm>
          <a:prstGeom prst="rect">
            <a:avLst/>
          </a:prstGeom>
        </p:spPr>
      </p:pic>
      <p:pic>
        <p:nvPicPr>
          <p:cNvPr id="3" name="Anh tu lieu" descr="s4.jpg"/>
          <p:cNvPicPr>
            <a:picLocks noChangeAspect="1"/>
          </p:cNvPicPr>
          <p:nvPr/>
        </p:nvPicPr>
        <p:blipFill>
          <a:blip r:embed="rId4"/>
          <a:stretch>
            <a:fillRect/>
          </a:stretch>
        </p:blipFill>
        <p:spPr>
          <a:xfrm>
            <a:off x="0" y="0"/>
            <a:ext cx="4983480" cy="6858000"/>
          </a:xfrm>
          <a:prstGeom prst="rect">
            <a:avLst/>
          </a:prstGeom>
        </p:spPr>
      </p:pic>
      <p:sp>
        <p:nvSpPr>
          <p:cNvPr id="4" name="Toi chan anh"/>
          <p:cNvSpPr/>
          <p:nvPr/>
        </p:nvSpPr>
        <p:spPr>
          <a:xfrm>
            <a:off x="0" y="4937760"/>
            <a:ext cx="4983480" cy="1920240"/>
          </a:xfrm>
          <a:prstGeom prst="rect">
            <a:avLst/>
          </a:prstGeom>
          <a:gradFill rotWithShape="1">
            <a:gsLst>
              <a:gs pos="0">
                <a:srgbClr val="3A0405">
                  <a:alpha val="0"/>
                </a:srgbClr>
              </a:gs>
              <a:gs pos="100000">
                <a:srgbClr val="3A0405">
                  <a:alpha val="88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ption"/>
          <p:cNvSpPr txBox="1"/>
          <p:nvPr/>
        </p:nvSpPr>
        <p:spPr>
          <a:xfrm>
            <a:off x="411480" y="5989320"/>
            <a:ext cx="4297680" cy="640080"/>
          </a:xfrm>
          <a:prstGeom prst="rect">
            <a:avLst/>
          </a:prstGeom>
          <a:noFill/>
        </p:spPr>
        <p:txBody>
          <a:bodyPr wrap="square" lIns="0" tIns="0" rIns="0" bIns="0" anchor="t">
            <a:noAutofit/>
          </a:bodyPr>
          <a:lstStyle/>
          <a:p>
            <a:pPr algn="l"/>
            <a:r>
              <a:rPr sz="950" b="0" i="1">
                <a:solidFill>
                  <a:srgbClr val="EFE3CE"/>
                </a:solidFill>
                <a:latin typeface="Be Vietnam Pro"/>
                <a:ea typeface="Be Vietnam Pro"/>
                <a:cs typeface="Be Vietnam Pro"/>
              </a:rPr>
              <a:t>Lễ đài Quảng trường Ba Đình, Hà Nội, 2/9/1945</a:t>
            </a:r>
            <a:br>
              <a:rPr sz="1000"/>
            </a:br>
            <a:r>
              <a:rPr sz="950" b="0" i="1">
                <a:solidFill>
                  <a:srgbClr val="EFE3CE"/>
                </a:solidFill>
                <a:latin typeface="Be Vietnam Pro"/>
                <a:ea typeface="Be Vietnam Pro"/>
                <a:cs typeface="Be Vietnam Pro"/>
              </a:rPr>
              <a:t>ảnh tư liệu, phạm vi công cộng (Wikimedia Commons)</a:t>
            </a:r>
          </a:p>
        </p:txBody>
      </p:sp>
      <p:sp>
        <p:nvSpPr>
          <p:cNvPr id="6" name="TextBox 5"/>
          <p:cNvSpPr txBox="1"/>
          <p:nvPr/>
        </p:nvSpPr>
        <p:spPr>
          <a:xfrm>
            <a:off x="5532120" y="502920"/>
            <a:ext cx="4572000" cy="365760"/>
          </a:xfrm>
          <a:prstGeom prst="rect">
            <a:avLst/>
          </a:prstGeom>
          <a:noFill/>
        </p:spPr>
        <p:txBody>
          <a:bodyPr wrap="square" lIns="0" tIns="0" rIns="0" bIns="0" anchor="t">
            <a:noAutofit/>
          </a:bodyPr>
          <a:lstStyle/>
          <a:p>
            <a:pPr algn="l"/>
            <a:r>
              <a:rPr sz="1200" b="0" i="0" spc="300">
                <a:solidFill>
                  <a:srgbClr val="9C1214"/>
                </a:solidFill>
                <a:latin typeface="Be Vietnam Pro SemiBold"/>
                <a:ea typeface="Be Vietnam Pro SemiBold"/>
                <a:cs typeface="Be Vietnam Pro SemiBold"/>
              </a:rPr>
              <a:t>1 · VAI TRÒ</a:t>
            </a:r>
          </a:p>
        </p:txBody>
      </p:sp>
      <p:sp>
        <p:nvSpPr>
          <p:cNvPr id="7" name="TextBox 6"/>
          <p:cNvSpPr txBox="1"/>
          <p:nvPr/>
        </p:nvSpPr>
        <p:spPr>
          <a:xfrm>
            <a:off x="5532120" y="932688"/>
            <a:ext cx="6035040" cy="457200"/>
          </a:xfrm>
          <a:prstGeom prst="rect">
            <a:avLst/>
          </a:prstGeom>
          <a:noFill/>
        </p:spPr>
        <p:txBody>
          <a:bodyPr wrap="square" lIns="0" tIns="0" rIns="0" bIns="0" anchor="t">
            <a:noAutofit/>
          </a:bodyPr>
          <a:lstStyle/>
          <a:p>
            <a:pPr algn="l"/>
            <a:r>
              <a:rPr sz="2200" b="0" i="1" strike="sngStrike">
                <a:solidFill>
                  <a:srgbClr val="6E564B"/>
                </a:solidFill>
                <a:latin typeface="Be Vietnam Pro"/>
                <a:ea typeface="Be Vietnam Pro"/>
                <a:cs typeface="Be Vietnam Pro"/>
              </a:rPr>
              <a:t>Một giải pháp tình thế, nhất thời?</a:t>
            </a:r>
          </a:p>
        </p:txBody>
      </p:sp>
      <p:cxnSp>
        <p:nvCxnSpPr>
          <p:cNvPr id="8" name="Connector 7"/>
          <p:cNvCxnSpPr/>
          <p:nvPr/>
        </p:nvCxnSpPr>
        <p:spPr>
          <a:xfrm>
            <a:off x="5715000" y="1481328"/>
            <a:ext cx="0" cy="457200"/>
          </a:xfrm>
          <a:prstGeom prst="line">
            <a:avLst/>
          </a:prstGeom>
          <a:ln w="25400">
            <a:solidFill>
              <a:srgbClr val="B68A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Claim 1"/>
          <p:cNvSpPr txBox="1"/>
          <p:nvPr/>
        </p:nvSpPr>
        <p:spPr>
          <a:xfrm>
            <a:off x="5532120" y="2011680"/>
            <a:ext cx="6217920" cy="1600200"/>
          </a:xfrm>
          <a:prstGeom prst="rect">
            <a:avLst/>
          </a:prstGeom>
          <a:noFill/>
        </p:spPr>
        <p:txBody>
          <a:bodyPr wrap="square" lIns="0" tIns="0" rIns="0" bIns="0" anchor="t">
            <a:noAutofit/>
          </a:bodyPr>
          <a:lstStyle/>
          <a:p>
            <a:pPr algn="l">
              <a:lnSpc>
                <a:spcPct val="98000"/>
              </a:lnSpc>
            </a:pPr>
            <a:r>
              <a:rPr sz="2950" b="0" i="0">
                <a:solidFill>
                  <a:srgbClr val="5B0808"/>
                </a:solidFill>
                <a:latin typeface="Phudu ExtraBold"/>
                <a:ea typeface="Phudu ExtraBold"/>
                <a:cs typeface="Phudu ExtraBold"/>
              </a:rPr>
              <a:t>VẤN ĐỀ CÓ Ý NGHĨA CHIẾN LƯỢC,</a:t>
            </a:r>
          </a:p>
          <a:p>
            <a:pPr algn="l">
              <a:lnSpc>
                <a:spcPct val="98000"/>
              </a:lnSpc>
            </a:pPr>
            <a:r>
              <a:rPr sz="2950" b="0" i="0">
                <a:solidFill>
                  <a:srgbClr val="5B0808"/>
                </a:solidFill>
                <a:latin typeface="Phudu ExtraBold"/>
                <a:ea typeface="Phudu ExtraBold"/>
                <a:cs typeface="Phudu ExtraBold"/>
              </a:rPr>
              <a:t>QUYẾT ĐỊNH THÀNH CÔNG</a:t>
            </a:r>
          </a:p>
          <a:p>
            <a:pPr algn="l">
              <a:lnSpc>
                <a:spcPct val="98000"/>
              </a:lnSpc>
            </a:pPr>
            <a:r>
              <a:rPr sz="2950" b="0" i="0">
                <a:solidFill>
                  <a:srgbClr val="5B0808"/>
                </a:solidFill>
                <a:latin typeface="Phudu ExtraBold"/>
                <a:ea typeface="Phudu ExtraBold"/>
                <a:cs typeface="Phudu ExtraBold"/>
              </a:rPr>
              <a:t>CỦA CÁCH MẠNG</a:t>
            </a:r>
          </a:p>
        </p:txBody>
      </p:sp>
      <p:sp>
        <p:nvSpPr>
          <p:cNvPr id="10" name="Claim 2"/>
          <p:cNvSpPr txBox="1"/>
          <p:nvPr/>
        </p:nvSpPr>
        <p:spPr>
          <a:xfrm>
            <a:off x="5532120" y="3639312"/>
            <a:ext cx="6172200" cy="731520"/>
          </a:xfrm>
          <a:prstGeom prst="rect">
            <a:avLst/>
          </a:prstGeom>
          <a:noFill/>
        </p:spPr>
        <p:txBody>
          <a:bodyPr wrap="square" lIns="0" tIns="0" rIns="0" bIns="0" anchor="t">
            <a:noAutofit/>
          </a:bodyPr>
          <a:lstStyle/>
          <a:p>
            <a:pPr algn="l">
              <a:lnSpc>
                <a:spcPct val="105000"/>
              </a:lnSpc>
            </a:pPr>
            <a:r>
              <a:rPr sz="1750" b="0" i="1">
                <a:solidFill>
                  <a:srgbClr val="6E564B"/>
                </a:solidFill>
                <a:latin typeface="Be Vietnam Pro"/>
                <a:ea typeface="Be Vietnam Pro"/>
                <a:cs typeface="Be Vietnam Pro"/>
              </a:rPr>
              <a:t>và là </a:t>
            </a:r>
            <a:r>
              <a:rPr sz="1750" b="1" i="0">
                <a:solidFill>
                  <a:srgbClr val="9C1214"/>
                </a:solidFill>
                <a:latin typeface="Be Vietnam Pro"/>
                <a:ea typeface="Be Vietnam Pro"/>
                <a:cs typeface="Be Vietnam Pro"/>
              </a:rPr>
              <a:t>mục tiêu, nhiệm vụ hàng đầu</a:t>
            </a:r>
            <a:br>
              <a:rPr sz="1900"/>
            </a:br>
            <a:r>
              <a:rPr sz="1750" b="1" i="0">
                <a:solidFill>
                  <a:srgbClr val="9C1214"/>
                </a:solidFill>
                <a:latin typeface="Be Vietnam Pro"/>
                <a:ea typeface="Be Vietnam Pro"/>
                <a:cs typeface="Be Vietnam Pro"/>
              </a:rPr>
              <a:t>của Đảng, của dân tộc</a:t>
            </a:r>
          </a:p>
        </p:txBody>
      </p:sp>
      <p:sp>
        <p:nvSpPr>
          <p:cNvPr id="11" name="Quote card"/>
          <p:cNvSpPr/>
          <p:nvPr/>
        </p:nvSpPr>
        <p:spPr>
          <a:xfrm>
            <a:off x="5532120" y="4498848"/>
            <a:ext cx="6199632" cy="1517904"/>
          </a:xfrm>
          <a:prstGeom prst="roundRect">
            <a:avLst>
              <a:gd name="adj" fmla="val 6000"/>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5806440" y="4663440"/>
            <a:ext cx="5669280" cy="914400"/>
          </a:xfrm>
          <a:prstGeom prst="rect">
            <a:avLst/>
          </a:prstGeom>
          <a:noFill/>
        </p:spPr>
        <p:txBody>
          <a:bodyPr wrap="square" lIns="0" tIns="0" rIns="0" bIns="0" anchor="t">
            <a:noAutofit/>
          </a:bodyPr>
          <a:lstStyle/>
          <a:p>
            <a:pPr algn="l">
              <a:lnSpc>
                <a:spcPct val="105000"/>
              </a:lnSpc>
            </a:pPr>
            <a:r>
              <a:rPr sz="1550" b="0" i="1">
                <a:solidFill>
                  <a:srgbClr val="FAF5E8"/>
                </a:solidFill>
                <a:latin typeface="Be Vietnam Pro"/>
                <a:ea typeface="Be Vietnam Pro"/>
                <a:cs typeface="Be Vietnam Pro"/>
              </a:rPr>
              <a:t>“Đoàn kết của ta không những rộng rãi mà còn đoàn kết lâu dài. Đoàn kết là một chính sách dân tộc, không phải là một thủ đoạn chính trị.”</a:t>
            </a:r>
          </a:p>
        </p:txBody>
      </p:sp>
      <p:sp>
        <p:nvSpPr>
          <p:cNvPr id="13" name="TextBox 12"/>
          <p:cNvSpPr txBox="1"/>
          <p:nvPr/>
        </p:nvSpPr>
        <p:spPr>
          <a:xfrm>
            <a:off x="5806440" y="5522976"/>
            <a:ext cx="5669280" cy="384048"/>
          </a:xfrm>
          <a:prstGeom prst="rect">
            <a:avLst/>
          </a:prstGeom>
          <a:noFill/>
        </p:spPr>
        <p:txBody>
          <a:bodyPr wrap="square" lIns="0" tIns="0" rIns="0" bIns="0" anchor="t">
            <a:noAutofit/>
          </a:bodyPr>
          <a:lstStyle/>
          <a:p>
            <a:pPr algn="l">
              <a:lnSpc>
                <a:spcPct val="100000"/>
              </a:lnSpc>
            </a:pPr>
            <a:r>
              <a:rPr sz="950" b="0" i="0">
                <a:solidFill>
                  <a:srgbClr val="D2AA50"/>
                </a:solidFill>
                <a:latin typeface="Be Vietnam Pro"/>
                <a:ea typeface="Be Vietnam Pro"/>
                <a:cs typeface="Be Vietnam Pro"/>
              </a:rPr>
              <a:t>Hồ Chí Minh, nói tại Hội nghị đại biểu Mặt trận Liên - Việt toàn quốc, 10-1-1955</a:t>
            </a:r>
            <a:br>
              <a:rPr sz="1000"/>
            </a:br>
            <a:r>
              <a:rPr sz="950" b="0" i="0">
                <a:solidFill>
                  <a:srgbClr val="D2AA50"/>
                </a:solidFill>
                <a:latin typeface="Be Vietnam Pro"/>
                <a:ea typeface="Be Vietnam Pro"/>
                <a:cs typeface="Be Vietnam Pro"/>
              </a:rPr>
              <a:t>Toàn tập, t.9, tr.244</a:t>
            </a:r>
          </a:p>
        </p:txBody>
      </p:sp>
      <p:sp>
        <p:nvSpPr>
          <p:cNvPr id="14" name="Tag LÝ LUẬN CỐT LÕI"/>
          <p:cNvSpPr/>
          <p:nvPr/>
        </p:nvSpPr>
        <p:spPr>
          <a:xfrm>
            <a:off x="9933127"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LÝ LUẬN CỐT LÕI</a:t>
            </a:r>
          </a:p>
        </p:txBody>
      </p:sp>
      <p:sp>
        <p:nvSpPr>
          <p:cNvPr id="15" name="Folio"/>
          <p:cNvSpPr txBox="1"/>
          <p:nvPr/>
        </p:nvSpPr>
        <p:spPr>
          <a:xfrm>
            <a:off x="553212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04</a:t>
            </a:r>
            <a:r>
              <a:rPr sz="950" b="0" i="0" spc="120">
                <a:solidFill>
                  <a:srgbClr val="6E564B"/>
                </a:solidFill>
                <a:latin typeface="Be Vietnam Pro"/>
                <a:ea typeface="Be Vietnam Pro"/>
                <a:cs typeface="Be Vietnam Pro"/>
              </a:rPr>
              <a:t>  /  16    ĐẠI ĐOÀN KẾT DÂN TỘC</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_left.png"/>
          <p:cNvPicPr>
            <a:picLocks noChangeAspect="1"/>
          </p:cNvPicPr>
          <p:nvPr/>
        </p:nvPicPr>
        <p:blipFill>
          <a:blip r:embed="rId3"/>
          <a:stretch>
            <a:fillRect/>
          </a:stretch>
        </p:blipFill>
        <p:spPr>
          <a:xfrm>
            <a:off x="0" y="0"/>
            <a:ext cx="12191695" cy="6858000"/>
          </a:xfrm>
          <a:prstGeom prst="rect">
            <a:avLst/>
          </a:prstGeom>
        </p:spPr>
      </p:pic>
      <p:pic>
        <p:nvPicPr>
          <p:cNvPr id="3" name="Mosaic DAI" descr="mosaic.png"/>
          <p:cNvPicPr>
            <a:picLocks noChangeAspect="1"/>
          </p:cNvPicPr>
          <p:nvPr/>
        </p:nvPicPr>
        <p:blipFill>
          <a:blip r:embed="rId4"/>
          <a:stretch>
            <a:fillRect/>
          </a:stretch>
        </p:blipFill>
        <p:spPr>
          <a:xfrm>
            <a:off x="976877" y="1115568"/>
            <a:ext cx="5270005" cy="3246120"/>
          </a:xfrm>
          <a:prstGeom prst="rect">
            <a:avLst/>
          </a:prstGeom>
        </p:spPr>
      </p:pic>
      <p:sp>
        <p:nvSpPr>
          <p:cNvPr id="4" name="Caption"/>
          <p:cNvSpPr txBox="1"/>
          <p:nvPr/>
        </p:nvSpPr>
        <p:spPr>
          <a:xfrm>
            <a:off x="411480" y="4498848"/>
            <a:ext cx="6400800" cy="274320"/>
          </a:xfrm>
          <a:prstGeom prst="rect">
            <a:avLst/>
          </a:prstGeom>
          <a:noFill/>
        </p:spPr>
        <p:txBody>
          <a:bodyPr wrap="square" lIns="0" tIns="0" rIns="0" bIns="0" anchor="t">
            <a:noAutofit/>
          </a:bodyPr>
          <a:lstStyle/>
          <a:p>
            <a:pPr algn="ctr"/>
            <a:r>
              <a:rPr sz="900" b="0" i="1">
                <a:solidFill>
                  <a:srgbClr val="EFE3CE"/>
                </a:solidFill>
                <a:latin typeface="Be Vietnam Pro"/>
                <a:ea typeface="Be Vietnam Pro"/>
                <a:cs typeface="Be Vietnam Pro"/>
              </a:rPr>
              <a:t>Ghép từ 12 ảnh chụp tại Việt Nam (Unsplash, Pexels) · nguồn từng ảnh ở phụ lục</a:t>
            </a:r>
          </a:p>
        </p:txBody>
      </p:sp>
      <p:pic>
        <p:nvPicPr>
          <p:cNvPr id="5" name="Anh tu lieu Cong giao 1945" descr="s5strip.jpg"/>
          <p:cNvPicPr>
            <a:picLocks noChangeAspect="1"/>
          </p:cNvPicPr>
          <p:nvPr/>
        </p:nvPicPr>
        <p:blipFill>
          <a:blip r:embed="rId5"/>
          <a:srcRect/>
          <a:stretch>
            <a:fillRect/>
          </a:stretch>
        </p:blipFill>
        <p:spPr>
          <a:xfrm>
            <a:off x="411480" y="4846320"/>
            <a:ext cx="6400800" cy="1097280"/>
          </a:xfrm>
          <a:prstGeom prst="rect">
            <a:avLst/>
          </a:prstGeom>
        </p:spPr>
      </p:pic>
      <p:sp>
        <p:nvSpPr>
          <p:cNvPr id="6" name="Caption 2"/>
          <p:cNvSpPr txBox="1"/>
          <p:nvPr/>
        </p:nvSpPr>
        <p:spPr>
          <a:xfrm>
            <a:off x="411480" y="5980176"/>
            <a:ext cx="6400800" cy="274320"/>
          </a:xfrm>
          <a:prstGeom prst="rect">
            <a:avLst/>
          </a:prstGeom>
          <a:noFill/>
        </p:spPr>
        <p:txBody>
          <a:bodyPr wrap="square" lIns="0" tIns="0" rIns="0" bIns="0" anchor="t">
            <a:noAutofit/>
          </a:bodyPr>
          <a:lstStyle/>
          <a:p>
            <a:pPr algn="ctr"/>
            <a:r>
              <a:rPr sz="800" b="0" i="1">
                <a:solidFill>
                  <a:srgbClr val="EFE3CE"/>
                </a:solidFill>
                <a:latin typeface="Be Vietnam Pro"/>
                <a:ea typeface="Be Vietnam Pro"/>
                <a:cs typeface="Be Vietnam Pro"/>
              </a:rPr>
              <a:t>2/9/1945: khối Trường Thần học Công giáo, mít tinh Ngày Độc lập · Bảo tàng Lịch sử Quốc gia (phạm vi công cộng)</a:t>
            </a:r>
          </a:p>
        </p:txBody>
      </p:sp>
      <p:sp>
        <p:nvSpPr>
          <p:cNvPr id="7" name="TextBox 6"/>
          <p:cNvSpPr txBox="1"/>
          <p:nvPr/>
        </p:nvSpPr>
        <p:spPr>
          <a:xfrm>
            <a:off x="7178040" y="566928"/>
            <a:ext cx="4480560" cy="365760"/>
          </a:xfrm>
          <a:prstGeom prst="rect">
            <a:avLst/>
          </a:prstGeom>
          <a:noFill/>
        </p:spPr>
        <p:txBody>
          <a:bodyPr wrap="square" lIns="0" tIns="0" rIns="0" bIns="0" anchor="t">
            <a:noAutofit/>
          </a:bodyPr>
          <a:lstStyle/>
          <a:p>
            <a:pPr algn="l"/>
            <a:r>
              <a:rPr sz="1200" b="0" i="0" spc="300">
                <a:solidFill>
                  <a:srgbClr val="D2AA50"/>
                </a:solidFill>
                <a:latin typeface="Be Vietnam Pro SemiBold"/>
                <a:ea typeface="Be Vietnam Pro SemiBold"/>
                <a:cs typeface="Be Vietnam Pro SemiBold"/>
              </a:rPr>
              <a:t>2a · NỘI DUNG</a:t>
            </a:r>
          </a:p>
        </p:txBody>
      </p:sp>
      <p:sp>
        <p:nvSpPr>
          <p:cNvPr id="8" name="TextBox 7"/>
          <p:cNvSpPr txBox="1"/>
          <p:nvPr/>
        </p:nvSpPr>
        <p:spPr>
          <a:xfrm>
            <a:off x="7178040" y="960120"/>
            <a:ext cx="4572000" cy="1371600"/>
          </a:xfrm>
          <a:prstGeom prst="rect">
            <a:avLst/>
          </a:prstGeom>
          <a:noFill/>
        </p:spPr>
        <p:txBody>
          <a:bodyPr wrap="square" lIns="0" tIns="0" rIns="0" bIns="0" anchor="t">
            <a:noAutofit/>
          </a:bodyPr>
          <a:lstStyle/>
          <a:p>
            <a:pPr algn="l">
              <a:lnSpc>
                <a:spcPct val="95000"/>
              </a:lnSpc>
            </a:pPr>
            <a:r>
              <a:rPr sz="3300" b="0" i="0">
                <a:solidFill>
                  <a:srgbClr val="FAF5E8"/>
                </a:solidFill>
                <a:latin typeface="Phudu ExtraBold"/>
                <a:ea typeface="Phudu ExtraBold"/>
                <a:cs typeface="Phudu ExtraBold"/>
              </a:rPr>
              <a:t>AI NẰM TRONG</a:t>
            </a:r>
          </a:p>
          <a:p>
            <a:pPr algn="l">
              <a:lnSpc>
                <a:spcPct val="95000"/>
              </a:lnSpc>
            </a:pPr>
            <a:r>
              <a:rPr sz="5050" b="0" i="0">
                <a:solidFill>
                  <a:srgbClr val="D2AA50"/>
                </a:solidFill>
                <a:latin typeface="Phudu ExtraBold"/>
                <a:ea typeface="Phudu ExtraBold"/>
                <a:cs typeface="Phudu ExtraBold"/>
              </a:rPr>
              <a:t>CHỮ “ĐẠI”?</a:t>
            </a:r>
          </a:p>
        </p:txBody>
      </p:sp>
      <p:sp>
        <p:nvSpPr>
          <p:cNvPr id="9" name="Answer"/>
          <p:cNvSpPr txBox="1"/>
          <p:nvPr/>
        </p:nvSpPr>
        <p:spPr>
          <a:xfrm>
            <a:off x="7178040" y="2395728"/>
            <a:ext cx="4572000" cy="731520"/>
          </a:xfrm>
          <a:prstGeom prst="rect">
            <a:avLst/>
          </a:prstGeom>
          <a:noFill/>
        </p:spPr>
        <p:txBody>
          <a:bodyPr wrap="square" lIns="0" tIns="0" rIns="0" bIns="0" anchor="t">
            <a:noAutofit/>
          </a:bodyPr>
          <a:lstStyle/>
          <a:p>
            <a:pPr algn="l"/>
            <a:r>
              <a:rPr sz="4850" b="0" i="0">
                <a:solidFill>
                  <a:srgbClr val="FAF5E8"/>
                </a:solidFill>
                <a:latin typeface="Phudu ExtraBold"/>
                <a:ea typeface="Phudu ExtraBold"/>
                <a:cs typeface="Phudu ExtraBold"/>
              </a:rPr>
              <a:t>TOÀN DÂN</a:t>
            </a:r>
          </a:p>
        </p:txBody>
      </p:sp>
      <p:sp>
        <p:nvSpPr>
          <p:cNvPr id="10" name="TextBox 9"/>
          <p:cNvSpPr txBox="1"/>
          <p:nvPr/>
        </p:nvSpPr>
        <p:spPr>
          <a:xfrm>
            <a:off x="7178040" y="3200400"/>
            <a:ext cx="4526280" cy="1188720"/>
          </a:xfrm>
          <a:prstGeom prst="rect">
            <a:avLst/>
          </a:prstGeom>
          <a:noFill/>
        </p:spPr>
        <p:txBody>
          <a:bodyPr wrap="square" lIns="0" tIns="0" rIns="0" bIns="0" anchor="t">
            <a:noAutofit/>
          </a:bodyPr>
          <a:lstStyle/>
          <a:p>
            <a:pPr algn="l">
              <a:lnSpc>
                <a:spcPct val="105000"/>
              </a:lnSpc>
            </a:pPr>
            <a:r>
              <a:rPr sz="1350" b="1" i="0">
                <a:solidFill>
                  <a:srgbClr val="D2AA50"/>
                </a:solidFill>
                <a:latin typeface="Be Vietnam Pro"/>
                <a:ea typeface="Be Vietnam Pro"/>
                <a:cs typeface="Be Vietnam Pro"/>
              </a:rPr>
              <a:t>Chủ thể: </a:t>
            </a:r>
            <a:r>
              <a:rPr sz="1350" b="0" i="0">
                <a:solidFill>
                  <a:srgbClr val="EFE3CE"/>
                </a:solidFill>
                <a:latin typeface="Be Vietnam Pro"/>
                <a:ea typeface="Be Vietnam Pro"/>
                <a:cs typeface="Be Vietnam Pro"/>
              </a:rPr>
              <a:t>toàn thể nhân dân — mọi người</a:t>
            </a:r>
            <a:br>
              <a:rPr sz="1450"/>
            </a:br>
            <a:r>
              <a:rPr sz="1350" b="0" i="0">
                <a:solidFill>
                  <a:srgbClr val="EFE3CE"/>
                </a:solidFill>
                <a:latin typeface="Be Vietnam Pro"/>
                <a:ea typeface="Be Vietnam Pro"/>
                <a:cs typeface="Be Vietnam Pro"/>
              </a:rPr>
              <a:t>Việt Nam yêu nước, không phân biệt dân tộc,</a:t>
            </a:r>
            <a:br>
              <a:rPr sz="1450"/>
            </a:br>
            <a:r>
              <a:rPr sz="1350" b="0" i="0">
                <a:solidFill>
                  <a:srgbClr val="EFE3CE"/>
                </a:solidFill>
                <a:latin typeface="Be Vietnam Pro"/>
                <a:ea typeface="Be Vietnam Pro"/>
                <a:cs typeface="Be Vietnam Pro"/>
              </a:rPr>
              <a:t>tôn giáo, đảng phái, giai cấp, tầng lớp,</a:t>
            </a:r>
            <a:br>
              <a:rPr sz="1450"/>
            </a:br>
            <a:r>
              <a:rPr sz="1350" b="0" i="0">
                <a:solidFill>
                  <a:srgbClr val="EFE3CE"/>
                </a:solidFill>
                <a:latin typeface="Be Vietnam Pro"/>
                <a:ea typeface="Be Vietnam Pro"/>
                <a:cs typeface="Be Vietnam Pro"/>
              </a:rPr>
              <a:t>già trẻ, gái trai, giàu nghèo.</a:t>
            </a:r>
          </a:p>
        </p:txBody>
      </p:sp>
      <p:sp>
        <p:nvSpPr>
          <p:cNvPr id="11" name="TextBox 10"/>
          <p:cNvSpPr txBox="1"/>
          <p:nvPr/>
        </p:nvSpPr>
        <p:spPr>
          <a:xfrm>
            <a:off x="7178040" y="4206240"/>
            <a:ext cx="4526280" cy="548640"/>
          </a:xfrm>
          <a:prstGeom prst="rect">
            <a:avLst/>
          </a:prstGeom>
          <a:noFill/>
        </p:spPr>
        <p:txBody>
          <a:bodyPr wrap="square" lIns="0" tIns="0" rIns="0" bIns="0" anchor="t">
            <a:noAutofit/>
          </a:bodyPr>
          <a:lstStyle/>
          <a:p>
            <a:pPr algn="l">
              <a:lnSpc>
                <a:spcPct val="105000"/>
              </a:lnSpc>
            </a:pPr>
            <a:r>
              <a:rPr sz="1350" b="1" i="0">
                <a:solidFill>
                  <a:srgbClr val="D2AA50"/>
                </a:solidFill>
                <a:latin typeface="Be Vietnam Pro"/>
                <a:ea typeface="Be Vietnam Pro"/>
                <a:cs typeface="Be Vietnam Pro"/>
              </a:rPr>
              <a:t>Nền tảng: </a:t>
            </a:r>
            <a:r>
              <a:rPr sz="1350" b="0" i="0">
                <a:solidFill>
                  <a:srgbClr val="EFE3CE"/>
                </a:solidFill>
                <a:latin typeface="Be Vietnam Pro"/>
                <a:ea typeface="Be Vietnam Pro"/>
                <a:cs typeface="Be Vietnam Pro"/>
              </a:rPr>
              <a:t>công nhân, nông dân và trí thức</a:t>
            </a:r>
            <a:br>
              <a:rPr sz="1450"/>
            </a:br>
            <a:r>
              <a:rPr sz="1350" b="0" i="0">
                <a:solidFill>
                  <a:srgbClr val="EFE3CE"/>
                </a:solidFill>
                <a:latin typeface="Be Vietnam Pro"/>
                <a:ea typeface="Be Vietnam Pro"/>
                <a:cs typeface="Be Vietnam Pro"/>
              </a:rPr>
              <a:t>(liên minh công – nông – trí).</a:t>
            </a:r>
          </a:p>
        </p:txBody>
      </p:sp>
      <p:sp>
        <p:nvSpPr>
          <p:cNvPr id="12" name="Quote box"/>
          <p:cNvSpPr/>
          <p:nvPr/>
        </p:nvSpPr>
        <p:spPr>
          <a:xfrm>
            <a:off x="7178040" y="4718304"/>
            <a:ext cx="4526280" cy="1572768"/>
          </a:xfrm>
          <a:prstGeom prst="roundRect">
            <a:avLst>
              <a:gd name="adj" fmla="val 6000"/>
            </a:avLst>
          </a:prstGeom>
          <a:noFill/>
          <a:ln w="15875">
            <a:solidFill>
              <a:srgbClr val="D2AA5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TextBox 12"/>
          <p:cNvSpPr txBox="1"/>
          <p:nvPr/>
        </p:nvSpPr>
        <p:spPr>
          <a:xfrm>
            <a:off x="7379208" y="4818888"/>
            <a:ext cx="4160520" cy="822960"/>
          </a:xfrm>
          <a:prstGeom prst="rect">
            <a:avLst/>
          </a:prstGeom>
          <a:noFill/>
        </p:spPr>
        <p:txBody>
          <a:bodyPr wrap="square" lIns="0" tIns="0" rIns="0" bIns="0" anchor="t">
            <a:noAutofit/>
          </a:bodyPr>
          <a:lstStyle/>
          <a:p>
            <a:pPr algn="l">
              <a:lnSpc>
                <a:spcPct val="100000"/>
              </a:lnSpc>
            </a:pPr>
            <a:r>
              <a:rPr sz="1200" b="0" i="1">
                <a:solidFill>
                  <a:srgbClr val="FAF5E8"/>
                </a:solidFill>
                <a:latin typeface="Be Vietnam Pro"/>
                <a:ea typeface="Be Vietnam Pro"/>
                <a:cs typeface="Be Vietnam Pro"/>
              </a:rPr>
              <a:t>“Bất kỳ đàn ông, đàn bà, bất kỳ người già, người trẻ, không chia tôn giáo, đảng phái, dân tộc. Hễ là người Việt Nam thì phải đứng lên đánh thực dân Pháp để cứu Tổ quốc.”</a:t>
            </a:r>
          </a:p>
        </p:txBody>
      </p:sp>
      <p:sp>
        <p:nvSpPr>
          <p:cNvPr id="14" name="TextBox 13"/>
          <p:cNvSpPr txBox="1"/>
          <p:nvPr/>
        </p:nvSpPr>
        <p:spPr>
          <a:xfrm>
            <a:off x="7379208" y="5852160"/>
            <a:ext cx="4160520" cy="384048"/>
          </a:xfrm>
          <a:prstGeom prst="rect">
            <a:avLst/>
          </a:prstGeom>
          <a:noFill/>
        </p:spPr>
        <p:txBody>
          <a:bodyPr wrap="square" lIns="0" tIns="0" rIns="0" bIns="0" anchor="t">
            <a:noAutofit/>
          </a:bodyPr>
          <a:lstStyle/>
          <a:p>
            <a:pPr algn="l">
              <a:lnSpc>
                <a:spcPct val="100000"/>
              </a:lnSpc>
            </a:pPr>
            <a:r>
              <a:rPr sz="900" b="0" i="0">
                <a:solidFill>
                  <a:srgbClr val="D2AA50"/>
                </a:solidFill>
                <a:latin typeface="Be Vietnam Pro"/>
                <a:ea typeface="Be Vietnam Pro"/>
                <a:cs typeface="Be Vietnam Pro"/>
              </a:rPr>
              <a:t>Hồ Chí Minh, Lời kêu gọi toàn quốc kháng chiến (Hà Nội, 19-12-1946)</a:t>
            </a:r>
            <a:br>
              <a:rPr sz="950"/>
            </a:br>
            <a:r>
              <a:rPr sz="900" b="0" i="0">
                <a:solidFill>
                  <a:srgbClr val="D2AA50"/>
                </a:solidFill>
                <a:latin typeface="Be Vietnam Pro"/>
                <a:ea typeface="Be Vietnam Pro"/>
                <a:cs typeface="Be Vietnam Pro"/>
              </a:rPr>
              <a:t>Toàn tập, t.4, tr.534</a:t>
            </a:r>
          </a:p>
        </p:txBody>
      </p:sp>
      <p:sp>
        <p:nvSpPr>
          <p:cNvPr id="15" name="Tag LÝ LUẬN CỐT LÕI"/>
          <p:cNvSpPr/>
          <p:nvPr/>
        </p:nvSpPr>
        <p:spPr>
          <a:xfrm>
            <a:off x="9933127"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LÝ LUẬN CỐT LÕI</a:t>
            </a:r>
          </a:p>
        </p:txBody>
      </p:sp>
      <p:sp>
        <p:nvSpPr>
          <p:cNvPr id="16"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D2AA50"/>
                </a:solidFill>
                <a:latin typeface="Be Vietnam Pro"/>
                <a:ea typeface="Be Vietnam Pro"/>
                <a:cs typeface="Be Vietnam Pro"/>
              </a:rPr>
              <a:t>05</a:t>
            </a:r>
            <a:r>
              <a:rPr sz="950" b="0" i="0" spc="120">
                <a:solidFill>
                  <a:srgbClr val="EFE3CE"/>
                </a:solidFill>
                <a:latin typeface="Be Vietnam Pro"/>
                <a:ea typeface="Be Vietnam Pro"/>
                <a:cs typeface="Be Vietnam Pro"/>
              </a:rPr>
              <a:t>  /  16    ĐẠI ĐOÀN KẾT DÂN TỘC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6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6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_center.png"/>
          <p:cNvPicPr>
            <a:picLocks noChangeAspect="1"/>
          </p:cNvPicPr>
          <p:nvPr/>
        </p:nvPicPr>
        <p:blipFill>
          <a:blip r:embed="rId3"/>
          <a:stretch>
            <a:fillRect/>
          </a:stretch>
        </p:blipFill>
        <p:spPr>
          <a:xfrm>
            <a:off x="0" y="0"/>
            <a:ext cx="12191695" cy="6858000"/>
          </a:xfrm>
          <a:prstGeom prst="rect">
            <a:avLst/>
          </a:prstGeom>
        </p:spPr>
      </p:pic>
      <p:sp>
        <p:nvSpPr>
          <p:cNvPr id="3" name="Signature"/>
          <p:cNvSpPr txBox="1"/>
          <p:nvPr/>
        </p:nvSpPr>
        <p:spPr>
          <a:xfrm>
            <a:off x="365760" y="822960"/>
            <a:ext cx="11460175" cy="1463040"/>
          </a:xfrm>
          <a:prstGeom prst="rect">
            <a:avLst/>
          </a:prstGeom>
          <a:noFill/>
        </p:spPr>
        <p:txBody>
          <a:bodyPr wrap="square" lIns="0" tIns="0" rIns="0" bIns="0" anchor="ctr">
            <a:noAutofit/>
          </a:bodyPr>
          <a:lstStyle/>
          <a:p>
            <a:pPr algn="ctr"/>
            <a:r>
              <a:rPr sz="7250" b="0" i="0">
                <a:solidFill>
                  <a:srgbClr val="FAF5E8"/>
                </a:solidFill>
                <a:latin typeface="Phudu ExtraBold"/>
                <a:ea typeface="Phudu ExtraBold"/>
                <a:cs typeface="Phudu ExtraBold"/>
              </a:rPr>
              <a:t>ĐOÀN KẾT </a:t>
            </a:r>
            <a:r>
              <a:rPr sz="8800" b="0" i="0">
                <a:solidFill>
                  <a:srgbClr val="D2AA50"/>
                </a:solidFill>
                <a:latin typeface="Phudu ExtraBold"/>
                <a:ea typeface="Phudu ExtraBold"/>
                <a:cs typeface="Phudu ExtraBold"/>
              </a:rPr>
              <a:t>≠</a:t>
            </a:r>
            <a:r>
              <a:rPr sz="7250" b="0" i="0">
                <a:solidFill>
                  <a:srgbClr val="FAF5E8"/>
                </a:solidFill>
                <a:latin typeface="Phudu ExtraBold"/>
                <a:ea typeface="Phudu ExtraBold"/>
                <a:cs typeface="Phudu ExtraBold"/>
              </a:rPr>
              <a:t> ĐỒNG NHẤT</a:t>
            </a:r>
          </a:p>
        </p:txBody>
      </p:sp>
      <p:sp>
        <p:nvSpPr>
          <p:cNvPr id="4" name="Same"/>
          <p:cNvSpPr/>
          <p:nvPr/>
        </p:nvSpPr>
        <p:spPr>
          <a:xfrm>
            <a:off x="914400"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ame"/>
          <p:cNvSpPr/>
          <p:nvPr/>
        </p:nvSpPr>
        <p:spPr>
          <a:xfrm>
            <a:off x="1481328"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ame"/>
          <p:cNvSpPr/>
          <p:nvPr/>
        </p:nvSpPr>
        <p:spPr>
          <a:xfrm>
            <a:off x="2048256"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ame"/>
          <p:cNvSpPr/>
          <p:nvPr/>
        </p:nvSpPr>
        <p:spPr>
          <a:xfrm>
            <a:off x="2615184"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ame"/>
          <p:cNvSpPr/>
          <p:nvPr/>
        </p:nvSpPr>
        <p:spPr>
          <a:xfrm>
            <a:off x="3182112"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ame"/>
          <p:cNvSpPr/>
          <p:nvPr/>
        </p:nvSpPr>
        <p:spPr>
          <a:xfrm>
            <a:off x="3749039"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ame"/>
          <p:cNvSpPr/>
          <p:nvPr/>
        </p:nvSpPr>
        <p:spPr>
          <a:xfrm>
            <a:off x="4315968"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TextBox 10"/>
          <p:cNvSpPr txBox="1"/>
          <p:nvPr/>
        </p:nvSpPr>
        <p:spPr>
          <a:xfrm>
            <a:off x="914400" y="3154680"/>
            <a:ext cx="4023360" cy="822960"/>
          </a:xfrm>
          <a:prstGeom prst="rect">
            <a:avLst/>
          </a:prstGeom>
          <a:noFill/>
        </p:spPr>
        <p:txBody>
          <a:bodyPr wrap="square" lIns="0" tIns="0" rIns="0" bIns="0" anchor="t">
            <a:noAutofit/>
          </a:bodyPr>
          <a:lstStyle/>
          <a:p>
            <a:pPr algn="l">
              <a:lnSpc>
                <a:spcPct val="110000"/>
              </a:lnSpc>
            </a:pPr>
            <a:r>
              <a:rPr sz="1200" b="1" i="0" spc="300">
                <a:solidFill>
                  <a:srgbClr val="EFE3CE"/>
                </a:solidFill>
                <a:latin typeface="Be Vietnam Pro"/>
                <a:ea typeface="Be Vietnam Pro"/>
                <a:cs typeface="Be Vietnam Pro"/>
              </a:rPr>
              <a:t>ĐỒNG NHẤT</a:t>
            </a:r>
          </a:p>
          <a:p>
            <a:pPr algn="l">
              <a:lnSpc>
                <a:spcPct val="110000"/>
              </a:lnSpc>
            </a:pPr>
            <a:r>
              <a:rPr sz="1750" b="0" i="1">
                <a:solidFill>
                  <a:srgbClr val="EFE3CE"/>
                </a:solidFill>
                <a:latin typeface="Be Vietnam Pro"/>
                <a:ea typeface="Be Vietnam Pro"/>
                <a:cs typeface="Be Vietnam Pro"/>
              </a:rPr>
              <a:t>mọi người phải giống hệt nhau</a:t>
            </a:r>
          </a:p>
        </p:txBody>
      </p:sp>
      <p:cxnSp>
        <p:nvCxnSpPr>
          <p:cNvPr id="12" name="Connector 11"/>
          <p:cNvCxnSpPr/>
          <p:nvPr/>
        </p:nvCxnSpPr>
        <p:spPr>
          <a:xfrm>
            <a:off x="6089904" y="3017520"/>
            <a:ext cx="0" cy="1737360"/>
          </a:xfrm>
          <a:prstGeom prst="line">
            <a:avLst/>
          </a:prstGeom>
          <a:ln w="9525">
            <a:solidFill>
              <a:srgbClr val="D2AA50">
                <a:alpha val="60000"/>
              </a:srgbClr>
            </a:solidFill>
          </a:ln>
        </p:spPr>
        <p:style>
          <a:lnRef idx="2">
            <a:schemeClr val="accent1"/>
          </a:lnRef>
          <a:fillRef idx="0">
            <a:schemeClr val="accent1"/>
          </a:fillRef>
          <a:effectRef idx="1">
            <a:schemeClr val="accent1"/>
          </a:effectRef>
          <a:fontRef idx="minor">
            <a:schemeClr val="tx1"/>
          </a:fontRef>
        </p:style>
      </p:cxnSp>
      <p:pic>
        <p:nvPicPr>
          <p:cNvPr id="13" name="Hoi tu" descr="convergence.png"/>
          <p:cNvPicPr>
            <a:picLocks noChangeAspect="1"/>
          </p:cNvPicPr>
          <p:nvPr/>
        </p:nvPicPr>
        <p:blipFill>
          <a:blip r:embed="rId4"/>
          <a:stretch>
            <a:fillRect/>
          </a:stretch>
        </p:blipFill>
        <p:spPr>
          <a:xfrm>
            <a:off x="6583680" y="2514600"/>
            <a:ext cx="3108960" cy="2072640"/>
          </a:xfrm>
          <a:prstGeom prst="rect">
            <a:avLst/>
          </a:prstGeom>
        </p:spPr>
      </p:pic>
      <p:sp>
        <p:nvSpPr>
          <p:cNvPr id="14" name="TextBox 13"/>
          <p:cNvSpPr txBox="1"/>
          <p:nvPr/>
        </p:nvSpPr>
        <p:spPr>
          <a:xfrm>
            <a:off x="9646920" y="3154680"/>
            <a:ext cx="2194560" cy="1463040"/>
          </a:xfrm>
          <a:prstGeom prst="rect">
            <a:avLst/>
          </a:prstGeom>
          <a:noFill/>
        </p:spPr>
        <p:txBody>
          <a:bodyPr wrap="square" lIns="0" tIns="0" rIns="0" bIns="0" anchor="t">
            <a:noAutofit/>
          </a:bodyPr>
          <a:lstStyle/>
          <a:p>
            <a:pPr algn="l">
              <a:lnSpc>
                <a:spcPct val="110000"/>
              </a:lnSpc>
            </a:pPr>
            <a:r>
              <a:rPr sz="1200" b="1" i="0" spc="300">
                <a:solidFill>
                  <a:srgbClr val="D2AA50"/>
                </a:solidFill>
                <a:latin typeface="Be Vietnam Pro"/>
                <a:ea typeface="Be Vietnam Pro"/>
                <a:cs typeface="Be Vietnam Pro"/>
              </a:rPr>
              <a:t>ĐOÀN KẾT</a:t>
            </a:r>
          </a:p>
          <a:p>
            <a:pPr algn="l">
              <a:lnSpc>
                <a:spcPct val="110000"/>
              </a:lnSpc>
            </a:pPr>
            <a:r>
              <a:rPr sz="1750" b="0" i="1">
                <a:solidFill>
                  <a:srgbClr val="FAF5E8"/>
                </a:solidFill>
                <a:latin typeface="Be Vietnam Pro"/>
                <a:ea typeface="Be Vietnam Pro"/>
                <a:cs typeface="Be Vietnam Pro"/>
              </a:rPr>
              <a:t>khác nhau — nhưng</a:t>
            </a:r>
            <a:br>
              <a:rPr sz="1900"/>
            </a:br>
            <a:r>
              <a:rPr sz="1750" b="0" i="1">
                <a:solidFill>
                  <a:srgbClr val="FAF5E8"/>
                </a:solidFill>
                <a:latin typeface="Be Vietnam Pro"/>
                <a:ea typeface="Be Vietnam Pro"/>
                <a:cs typeface="Be Vietnam Pro"/>
              </a:rPr>
              <a:t>cùng hướng về</a:t>
            </a:r>
            <a:br>
              <a:rPr sz="1900"/>
            </a:br>
            <a:r>
              <a:rPr sz="1750" b="0" i="1">
                <a:solidFill>
                  <a:srgbClr val="FAF5E8"/>
                </a:solidFill>
                <a:latin typeface="Be Vietnam Pro"/>
                <a:ea typeface="Be Vietnam Pro"/>
                <a:cs typeface="Be Vietnam Pro"/>
              </a:rPr>
              <a:t>điểm chung</a:t>
            </a:r>
          </a:p>
        </p:txBody>
      </p:sp>
      <p:sp>
        <p:nvSpPr>
          <p:cNvPr id="15" name="Question"/>
          <p:cNvSpPr txBox="1"/>
          <p:nvPr/>
        </p:nvSpPr>
        <p:spPr>
          <a:xfrm>
            <a:off x="640080" y="5074920"/>
            <a:ext cx="10911535" cy="502920"/>
          </a:xfrm>
          <a:prstGeom prst="rect">
            <a:avLst/>
          </a:prstGeom>
          <a:noFill/>
        </p:spPr>
        <p:txBody>
          <a:bodyPr wrap="square" lIns="0" tIns="0" rIns="0" bIns="0" anchor="t">
            <a:noAutofit/>
          </a:bodyPr>
          <a:lstStyle/>
          <a:p>
            <a:pPr algn="ctr"/>
            <a:r>
              <a:rPr sz="1750" b="0" i="1">
                <a:solidFill>
                  <a:srgbClr val="D2AA50"/>
                </a:solidFill>
                <a:latin typeface="Be Vietnam Pro"/>
                <a:ea typeface="Be Vietnam Pro"/>
                <a:cs typeface="Be Vietnam Pro"/>
              </a:rPr>
              <a:t>Nếu con người vốn khác nhau, điều gì khiến họ vẫn có thể cùng đứng trong một khối đoàn kết?</a:t>
            </a:r>
          </a:p>
        </p:txBody>
      </p:sp>
      <p:sp>
        <p:nvSpPr>
          <p:cNvPr id="16" name="HCM tuy khac"/>
          <p:cNvSpPr txBox="1"/>
          <p:nvPr/>
        </p:nvSpPr>
        <p:spPr>
          <a:xfrm>
            <a:off x="640080" y="5669280"/>
            <a:ext cx="10911535" cy="621792"/>
          </a:xfrm>
          <a:prstGeom prst="rect">
            <a:avLst/>
          </a:prstGeom>
          <a:noFill/>
        </p:spPr>
        <p:txBody>
          <a:bodyPr wrap="square" lIns="0" tIns="0" rIns="0" bIns="0" anchor="t">
            <a:noAutofit/>
          </a:bodyPr>
          <a:lstStyle/>
          <a:p>
            <a:pPr algn="ctr">
              <a:lnSpc>
                <a:spcPct val="105000"/>
              </a:lnSpc>
            </a:pPr>
            <a:r>
              <a:rPr sz="1200" b="1" i="1">
                <a:solidFill>
                  <a:srgbClr val="FAF5E8"/>
                </a:solidFill>
                <a:latin typeface="Be Vietnam Pro"/>
                <a:ea typeface="Be Vietnam Pro"/>
                <a:cs typeface="Be Vietnam Pro"/>
              </a:rPr>
              <a:t>“Tuy khác nhau nhưng cùng chung một mục đích.”</a:t>
            </a:r>
            <a:r>
              <a:rPr sz="1100" b="0" i="0">
                <a:solidFill>
                  <a:srgbClr val="EFE3CE"/>
                </a:solidFill>
                <a:latin typeface="Be Vietnam Pro"/>
                <a:ea typeface="Be Vietnam Pro"/>
                <a:cs typeface="Be Vietnam Pro"/>
              </a:rPr>
              <a:t>  — Hồ Chí Minh</a:t>
            </a:r>
          </a:p>
          <a:p>
            <a:pPr algn="ctr">
              <a:lnSpc>
                <a:spcPct val="105000"/>
              </a:lnSpc>
            </a:pPr>
            <a:r>
              <a:rPr sz="900" b="0" i="0">
                <a:solidFill>
                  <a:srgbClr val="EFE3CE"/>
                </a:solidFill>
                <a:latin typeface="Be Vietnam Pro"/>
                <a:ea typeface="Be Vietnam Pro"/>
                <a:cs typeface="Be Vietnam Pro"/>
              </a:rPr>
              <a:t>nói với cán bộ, công nhân Nhà máy điện Yên Phụ và Nhà máy đèn Bờ Hồ, 12-1954 · Toàn tập, t.9, tr.203</a:t>
            </a:r>
          </a:p>
        </p:txBody>
      </p:sp>
      <p:sp>
        <p:nvSpPr>
          <p:cNvPr id="17" name="Tag DIỄN GIẢI CỦA NHÓM"/>
          <p:cNvSpPr/>
          <p:nvPr/>
        </p:nvSpPr>
        <p:spPr>
          <a:xfrm>
            <a:off x="9625888" y="347472"/>
            <a:ext cx="2154326" cy="310896"/>
          </a:xfrm>
          <a:prstGeom prst="roundRect">
            <a:avLst>
              <a:gd name="adj" fmla="val 50000"/>
            </a:avLst>
          </a:prstGeom>
          <a:noFill/>
          <a:ln w="15875">
            <a:solidFill>
              <a:srgbClr val="FAF5E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AF5E8"/>
                </a:solidFill>
                <a:latin typeface="Be Vietnam Pro"/>
              </a:rPr>
              <a:t>DIỄN GIẢI CỦA NHÓM</a:t>
            </a:r>
          </a:p>
        </p:txBody>
      </p:sp>
      <p:sp>
        <p:nvSpPr>
          <p:cNvPr id="18" name="Tag LÝ LUẬN CỐT LÕI"/>
          <p:cNvSpPr/>
          <p:nvPr/>
        </p:nvSpPr>
        <p:spPr>
          <a:xfrm>
            <a:off x="7669072"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LÝ LUẬN CỐT LÕI</a:t>
            </a:r>
          </a:p>
        </p:txBody>
      </p:sp>
      <p:sp>
        <p:nvSpPr>
          <p:cNvPr id="19"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D2AA50"/>
                </a:solidFill>
                <a:latin typeface="Be Vietnam Pro"/>
                <a:ea typeface="Be Vietnam Pro"/>
                <a:cs typeface="Be Vietnam Pro"/>
              </a:rPr>
              <a:t>06</a:t>
            </a:r>
            <a:r>
              <a:rPr sz="950" b="0" i="0" spc="120">
                <a:solidFill>
                  <a:srgbClr val="EFE3CE"/>
                </a:solidFill>
                <a:latin typeface="Be Vietnam Pro"/>
                <a:ea typeface="Be Vietnam Pro"/>
                <a:cs typeface="Be Vietnam Pro"/>
              </a:rPr>
              <a:t>  /  16    ĐẠI ĐOÀN KẾT DÂN TỘC</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7315200" cy="365760"/>
          </a:xfrm>
          <a:prstGeom prst="rect">
            <a:avLst/>
          </a:prstGeom>
          <a:noFill/>
        </p:spPr>
        <p:txBody>
          <a:bodyPr wrap="square" lIns="0" tIns="0" rIns="0" bIns="0" anchor="t">
            <a:noAutofit/>
          </a:bodyPr>
          <a:lstStyle/>
          <a:p>
            <a:pPr algn="l"/>
            <a:r>
              <a:rPr sz="1200" b="0" i="0" spc="250">
                <a:solidFill>
                  <a:srgbClr val="9C1214"/>
                </a:solidFill>
                <a:latin typeface="Be Vietnam Pro SemiBold"/>
                <a:ea typeface="Be Vietnam Pro SemiBold"/>
                <a:cs typeface="Be Vietnam Pro SemiBold"/>
              </a:rPr>
              <a:t>2b · ĐIỀU KIỆN  |  3 · HÌNH THỨC TỔ CHỨC – NGUYÊN TẮC</a:t>
            </a:r>
          </a:p>
        </p:txBody>
      </p:sp>
      <p:sp>
        <p:nvSpPr>
          <p:cNvPr id="4" name="TextBox 3"/>
          <p:cNvSpPr txBox="1"/>
          <p:nvPr/>
        </p:nvSpPr>
        <p:spPr>
          <a:xfrm>
            <a:off x="548640" y="822960"/>
            <a:ext cx="6949440" cy="1097280"/>
          </a:xfrm>
          <a:prstGeom prst="rect">
            <a:avLst/>
          </a:prstGeom>
          <a:noFill/>
        </p:spPr>
        <p:txBody>
          <a:bodyPr wrap="square" lIns="0" tIns="0" rIns="0" bIns="0" anchor="t">
            <a:noAutofit/>
          </a:bodyPr>
          <a:lstStyle/>
          <a:p>
            <a:pPr algn="l">
              <a:lnSpc>
                <a:spcPct val="98000"/>
              </a:lnSpc>
            </a:pPr>
            <a:r>
              <a:rPr sz="3300" b="0" i="0">
                <a:solidFill>
                  <a:srgbClr val="5B0808"/>
                </a:solidFill>
                <a:latin typeface="Phudu ExtraBold"/>
                <a:ea typeface="Phudu ExtraBold"/>
                <a:cs typeface="Phudu ExtraBold"/>
              </a:rPr>
              <a:t>ĐIỀU GÌ GIỮ NHỮNG KHÁC BIỆT</a:t>
            </a:r>
          </a:p>
          <a:p>
            <a:pPr algn="l">
              <a:lnSpc>
                <a:spcPct val="98000"/>
              </a:lnSpc>
            </a:pPr>
            <a:r>
              <a:rPr sz="3300" b="0" i="0">
                <a:solidFill>
                  <a:srgbClr val="5B0808"/>
                </a:solidFill>
                <a:latin typeface="Phudu ExtraBold"/>
                <a:ea typeface="Phudu ExtraBold"/>
                <a:cs typeface="Phudu ExtraBold"/>
              </a:rPr>
              <a:t>Ở CÙNG NHAU?</a:t>
            </a:r>
          </a:p>
        </p:txBody>
      </p:sp>
      <p:sp>
        <p:nvSpPr>
          <p:cNvPr id="5" name="Finger 1"/>
          <p:cNvSpPr/>
          <p:nvPr/>
        </p:nvSpPr>
        <p:spPr>
          <a:xfrm>
            <a:off x="566928" y="2331720"/>
            <a:ext cx="1207008" cy="3063240"/>
          </a:xfrm>
          <a:prstGeom prst="roundRect">
            <a:avLst>
              <a:gd name="adj" fmla="val 50000"/>
            </a:avLst>
          </a:prstGeom>
          <a:solidFill>
            <a:srgbClr val="9C121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658368" y="2606039"/>
            <a:ext cx="1024128" cy="274320"/>
          </a:xfrm>
          <a:prstGeom prst="rect">
            <a:avLst/>
          </a:prstGeom>
          <a:noFill/>
        </p:spPr>
        <p:txBody>
          <a:bodyPr wrap="square" lIns="0" tIns="0" rIns="0" bIns="0" anchor="t">
            <a:noAutofit/>
          </a:bodyPr>
          <a:lstStyle/>
          <a:p>
            <a:pPr algn="ctr"/>
            <a:r>
              <a:rPr sz="800" b="1" i="0" spc="100">
                <a:solidFill>
                  <a:srgbClr val="D2AA50"/>
                </a:solidFill>
                <a:latin typeface="Be Vietnam Pro"/>
                <a:ea typeface="Be Vietnam Pro"/>
                <a:cs typeface="Be Vietnam Pro"/>
              </a:rPr>
              <a:t>NGUYÊN TẮC 1</a:t>
            </a:r>
          </a:p>
        </p:txBody>
      </p:sp>
      <p:sp>
        <p:nvSpPr>
          <p:cNvPr id="7" name="TextBox 6"/>
          <p:cNvSpPr txBox="1"/>
          <p:nvPr/>
        </p:nvSpPr>
        <p:spPr>
          <a:xfrm>
            <a:off x="612648" y="2862072"/>
            <a:ext cx="1115568" cy="1737360"/>
          </a:xfrm>
          <a:prstGeom prst="rect">
            <a:avLst/>
          </a:prstGeom>
          <a:noFill/>
        </p:spPr>
        <p:txBody>
          <a:bodyPr wrap="square" lIns="0" tIns="0" rIns="0" bIns="0" anchor="t">
            <a:noAutofit/>
          </a:bodyPr>
          <a:lstStyle/>
          <a:p>
            <a:pPr algn="ctr">
              <a:lnSpc>
                <a:spcPct val="100000"/>
              </a:lnSpc>
              <a:spcAft>
                <a:spcPts val="300"/>
              </a:spcAft>
            </a:pPr>
            <a:r>
              <a:rPr sz="1050" b="1" i="0">
                <a:solidFill>
                  <a:srgbClr val="FAF5E8"/>
                </a:solidFill>
                <a:latin typeface="Be Vietnam Pro"/>
                <a:ea typeface="Be Vietnam Pro"/>
                <a:cs typeface="Be Vietnam Pro"/>
              </a:rPr>
              <a:t>MẶT TRẬN</a:t>
            </a:r>
            <a:br>
              <a:rPr sz="1150"/>
            </a:br>
            <a:r>
              <a:rPr sz="1050" b="1" i="0">
                <a:solidFill>
                  <a:srgbClr val="FAF5E8"/>
                </a:solidFill>
                <a:latin typeface="Be Vietnam Pro"/>
                <a:ea typeface="Be Vietnam Pro"/>
                <a:cs typeface="Be Vietnam Pro"/>
              </a:rPr>
              <a:t>DÂN TỘC</a:t>
            </a:r>
            <a:br>
              <a:rPr sz="1150"/>
            </a:br>
            <a:r>
              <a:rPr sz="1050" b="1" i="0">
                <a:solidFill>
                  <a:srgbClr val="FAF5E8"/>
                </a:solidFill>
                <a:latin typeface="Be Vietnam Pro"/>
                <a:ea typeface="Be Vietnam Pro"/>
                <a:cs typeface="Be Vietnam Pro"/>
              </a:rPr>
              <a:t>THỐNG NHẤT</a:t>
            </a:r>
          </a:p>
          <a:p>
            <a:pPr algn="ctr">
              <a:lnSpc>
                <a:spcPct val="100000"/>
              </a:lnSpc>
              <a:spcAft>
                <a:spcPts val="300"/>
              </a:spcAft>
            </a:pPr>
            <a:r>
              <a:rPr sz="1000" b="0" i="0">
                <a:solidFill>
                  <a:srgbClr val="EFE3CE"/>
                </a:solidFill>
                <a:latin typeface="Be Vietnam Pro"/>
                <a:ea typeface="Be Vietnam Pro"/>
                <a:cs typeface="Be Vietnam Pro"/>
              </a:rPr>
              <a:t>nền tảng</a:t>
            </a:r>
            <a:br>
              <a:rPr sz="1050"/>
            </a:br>
            <a:r>
              <a:rPr sz="1000" b="0" i="0">
                <a:solidFill>
                  <a:srgbClr val="EFE3CE"/>
                </a:solidFill>
                <a:latin typeface="Be Vietnam Pro"/>
                <a:ea typeface="Be Vietnam Pro"/>
                <a:cs typeface="Be Vietnam Pro"/>
              </a:rPr>
              <a:t>công – nông – trí;</a:t>
            </a:r>
            <a:br>
              <a:rPr sz="1050"/>
            </a:br>
            <a:r>
              <a:rPr sz="1000" b="0" i="0">
                <a:solidFill>
                  <a:srgbClr val="EFE3CE"/>
                </a:solidFill>
                <a:latin typeface="Be Vietnam Pro"/>
                <a:ea typeface="Be Vietnam Pro"/>
                <a:cs typeface="Be Vietnam Pro"/>
              </a:rPr>
              <a:t>do Đảng lãnh đạo</a:t>
            </a:r>
          </a:p>
        </p:txBody>
      </p:sp>
      <p:sp>
        <p:nvSpPr>
          <p:cNvPr id="8" name="Finger 2"/>
          <p:cNvSpPr/>
          <p:nvPr/>
        </p:nvSpPr>
        <p:spPr>
          <a:xfrm>
            <a:off x="1847088" y="2103120"/>
            <a:ext cx="1207008" cy="3291840"/>
          </a:xfrm>
          <a:prstGeom prst="roundRect">
            <a:avLst>
              <a:gd name="adj" fmla="val 50000"/>
            </a:avLst>
          </a:prstGeom>
          <a:solidFill>
            <a:srgbClr val="7A0B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TextBox 8"/>
          <p:cNvSpPr txBox="1"/>
          <p:nvPr/>
        </p:nvSpPr>
        <p:spPr>
          <a:xfrm>
            <a:off x="1938528" y="2377439"/>
            <a:ext cx="1024128" cy="274320"/>
          </a:xfrm>
          <a:prstGeom prst="rect">
            <a:avLst/>
          </a:prstGeom>
          <a:noFill/>
        </p:spPr>
        <p:txBody>
          <a:bodyPr wrap="square" lIns="0" tIns="0" rIns="0" bIns="0" anchor="t">
            <a:noAutofit/>
          </a:bodyPr>
          <a:lstStyle/>
          <a:p>
            <a:pPr algn="ctr"/>
            <a:r>
              <a:rPr sz="800" b="1" i="0" spc="100">
                <a:solidFill>
                  <a:srgbClr val="D2AA50"/>
                </a:solidFill>
                <a:latin typeface="Be Vietnam Pro"/>
                <a:ea typeface="Be Vietnam Pro"/>
                <a:cs typeface="Be Vietnam Pro"/>
              </a:rPr>
              <a:t>ĐIỀU KIỆN 1</a:t>
            </a:r>
          </a:p>
        </p:txBody>
      </p:sp>
      <p:sp>
        <p:nvSpPr>
          <p:cNvPr id="10" name="TextBox 9"/>
          <p:cNvSpPr txBox="1"/>
          <p:nvPr/>
        </p:nvSpPr>
        <p:spPr>
          <a:xfrm>
            <a:off x="1892807" y="2633472"/>
            <a:ext cx="1115568" cy="1737360"/>
          </a:xfrm>
          <a:prstGeom prst="rect">
            <a:avLst/>
          </a:prstGeom>
          <a:noFill/>
        </p:spPr>
        <p:txBody>
          <a:bodyPr wrap="square" lIns="0" tIns="0" rIns="0" bIns="0" anchor="t">
            <a:noAutofit/>
          </a:bodyPr>
          <a:lstStyle/>
          <a:p>
            <a:pPr algn="ctr">
              <a:lnSpc>
                <a:spcPct val="100000"/>
              </a:lnSpc>
              <a:spcAft>
                <a:spcPts val="300"/>
              </a:spcAft>
            </a:pPr>
            <a:r>
              <a:rPr sz="1050" b="1" i="0">
                <a:solidFill>
                  <a:srgbClr val="FAF5E8"/>
                </a:solidFill>
                <a:latin typeface="Be Vietnam Pro"/>
                <a:ea typeface="Be Vietnam Pro"/>
                <a:cs typeface="Be Vietnam Pro"/>
              </a:rPr>
              <a:t>TRUYỀN</a:t>
            </a:r>
            <a:br>
              <a:rPr sz="1150"/>
            </a:br>
            <a:r>
              <a:rPr sz="1050" b="1" i="0">
                <a:solidFill>
                  <a:srgbClr val="FAF5E8"/>
                </a:solidFill>
                <a:latin typeface="Be Vietnam Pro"/>
                <a:ea typeface="Be Vietnam Pro"/>
                <a:cs typeface="Be Vietnam Pro"/>
              </a:rPr>
              <a:t>THỐNG</a:t>
            </a:r>
          </a:p>
          <a:p>
            <a:pPr algn="ctr">
              <a:lnSpc>
                <a:spcPct val="100000"/>
              </a:lnSpc>
              <a:spcAft>
                <a:spcPts val="300"/>
              </a:spcAft>
            </a:pPr>
            <a:r>
              <a:rPr sz="1000" b="0" i="0">
                <a:solidFill>
                  <a:srgbClr val="EFE3CE"/>
                </a:solidFill>
                <a:latin typeface="Be Vietnam Pro"/>
                <a:ea typeface="Be Vietnam Pro"/>
                <a:cs typeface="Be Vietnam Pro"/>
              </a:rPr>
              <a:t>yêu nước –</a:t>
            </a:r>
            <a:br>
              <a:rPr sz="1050"/>
            </a:br>
            <a:r>
              <a:rPr sz="1000" b="0" i="0">
                <a:solidFill>
                  <a:srgbClr val="EFE3CE"/>
                </a:solidFill>
                <a:latin typeface="Be Vietnam Pro"/>
                <a:ea typeface="Be Vietnam Pro"/>
                <a:cs typeface="Be Vietnam Pro"/>
              </a:rPr>
              <a:t>nhân nghĩa –</a:t>
            </a:r>
            <a:br>
              <a:rPr sz="1050"/>
            </a:br>
            <a:r>
              <a:rPr sz="1000" b="0" i="0">
                <a:solidFill>
                  <a:srgbClr val="EFE3CE"/>
                </a:solidFill>
                <a:latin typeface="Be Vietnam Pro"/>
                <a:ea typeface="Be Vietnam Pro"/>
                <a:cs typeface="Be Vietnam Pro"/>
              </a:rPr>
              <a:t>đoàn kết</a:t>
            </a:r>
          </a:p>
        </p:txBody>
      </p:sp>
      <p:sp>
        <p:nvSpPr>
          <p:cNvPr id="11" name="Finger 3"/>
          <p:cNvSpPr/>
          <p:nvPr/>
        </p:nvSpPr>
        <p:spPr>
          <a:xfrm>
            <a:off x="3127248" y="1901952"/>
            <a:ext cx="1207008" cy="3493008"/>
          </a:xfrm>
          <a:prstGeom prst="roundRect">
            <a:avLst>
              <a:gd name="adj" fmla="val 50000"/>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3218688" y="2176272"/>
            <a:ext cx="1024128" cy="274320"/>
          </a:xfrm>
          <a:prstGeom prst="rect">
            <a:avLst/>
          </a:prstGeom>
          <a:noFill/>
        </p:spPr>
        <p:txBody>
          <a:bodyPr wrap="square" lIns="0" tIns="0" rIns="0" bIns="0" anchor="t">
            <a:noAutofit/>
          </a:bodyPr>
          <a:lstStyle/>
          <a:p>
            <a:pPr algn="ctr"/>
            <a:r>
              <a:rPr sz="800" b="1" i="0" spc="100">
                <a:solidFill>
                  <a:srgbClr val="D2AA50"/>
                </a:solidFill>
                <a:latin typeface="Be Vietnam Pro"/>
                <a:ea typeface="Be Vietnam Pro"/>
                <a:cs typeface="Be Vietnam Pro"/>
              </a:rPr>
              <a:t>ĐIỀU KIỆN 2</a:t>
            </a:r>
          </a:p>
        </p:txBody>
      </p:sp>
      <p:sp>
        <p:nvSpPr>
          <p:cNvPr id="13" name="TextBox 12"/>
          <p:cNvSpPr txBox="1"/>
          <p:nvPr/>
        </p:nvSpPr>
        <p:spPr>
          <a:xfrm>
            <a:off x="3172968" y="2432304"/>
            <a:ext cx="1115568" cy="1737360"/>
          </a:xfrm>
          <a:prstGeom prst="rect">
            <a:avLst/>
          </a:prstGeom>
          <a:noFill/>
        </p:spPr>
        <p:txBody>
          <a:bodyPr wrap="square" lIns="0" tIns="0" rIns="0" bIns="0" anchor="t">
            <a:noAutofit/>
          </a:bodyPr>
          <a:lstStyle/>
          <a:p>
            <a:pPr algn="ctr">
              <a:lnSpc>
                <a:spcPct val="100000"/>
              </a:lnSpc>
              <a:spcAft>
                <a:spcPts val="300"/>
              </a:spcAft>
            </a:pPr>
            <a:r>
              <a:rPr sz="1050" b="1" i="0">
                <a:solidFill>
                  <a:srgbClr val="FAF5E8"/>
                </a:solidFill>
                <a:latin typeface="Be Vietnam Pro"/>
                <a:ea typeface="Be Vietnam Pro"/>
                <a:cs typeface="Be Vietnam Pro"/>
              </a:rPr>
              <a:t>KHOAN DUNG,</a:t>
            </a:r>
            <a:br>
              <a:rPr sz="1150"/>
            </a:br>
            <a:r>
              <a:rPr sz="1050" b="1" i="0">
                <a:solidFill>
                  <a:srgbClr val="FAF5E8"/>
                </a:solidFill>
                <a:latin typeface="Be Vietnam Pro"/>
                <a:ea typeface="Be Vietnam Pro"/>
                <a:cs typeface="Be Vietnam Pro"/>
              </a:rPr>
              <a:t>ĐỘ LƯỢNG</a:t>
            </a:r>
          </a:p>
          <a:p>
            <a:pPr algn="ctr">
              <a:lnSpc>
                <a:spcPct val="100000"/>
              </a:lnSpc>
              <a:spcAft>
                <a:spcPts val="300"/>
              </a:spcAft>
            </a:pPr>
            <a:r>
              <a:rPr sz="1000" b="0" i="0">
                <a:solidFill>
                  <a:srgbClr val="EFE3CE"/>
                </a:solidFill>
                <a:latin typeface="Be Vietnam Pro"/>
                <a:ea typeface="Be Vietnam Pro"/>
                <a:cs typeface="Be Vietnam Pro"/>
              </a:rPr>
              <a:t>với con người</a:t>
            </a:r>
          </a:p>
        </p:txBody>
      </p:sp>
      <p:sp>
        <p:nvSpPr>
          <p:cNvPr id="14" name="Finger 4"/>
          <p:cNvSpPr/>
          <p:nvPr/>
        </p:nvSpPr>
        <p:spPr>
          <a:xfrm>
            <a:off x="4407408" y="2103120"/>
            <a:ext cx="1207008" cy="3291840"/>
          </a:xfrm>
          <a:prstGeom prst="roundRect">
            <a:avLst>
              <a:gd name="adj" fmla="val 50000"/>
            </a:avLst>
          </a:prstGeom>
          <a:solidFill>
            <a:srgbClr val="7A0B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TextBox 14"/>
          <p:cNvSpPr txBox="1"/>
          <p:nvPr/>
        </p:nvSpPr>
        <p:spPr>
          <a:xfrm>
            <a:off x="4498848" y="2377439"/>
            <a:ext cx="1024128" cy="274320"/>
          </a:xfrm>
          <a:prstGeom prst="rect">
            <a:avLst/>
          </a:prstGeom>
          <a:noFill/>
        </p:spPr>
        <p:txBody>
          <a:bodyPr wrap="square" lIns="0" tIns="0" rIns="0" bIns="0" anchor="t">
            <a:noAutofit/>
          </a:bodyPr>
          <a:lstStyle/>
          <a:p>
            <a:pPr algn="ctr"/>
            <a:r>
              <a:rPr sz="800" b="1" i="0" spc="100">
                <a:solidFill>
                  <a:srgbClr val="D2AA50"/>
                </a:solidFill>
                <a:latin typeface="Be Vietnam Pro"/>
                <a:ea typeface="Be Vietnam Pro"/>
                <a:cs typeface="Be Vietnam Pro"/>
              </a:rPr>
              <a:t>ĐIỀU KIỆN 3</a:t>
            </a:r>
          </a:p>
        </p:txBody>
      </p:sp>
      <p:sp>
        <p:nvSpPr>
          <p:cNvPr id="16" name="TextBox 15"/>
          <p:cNvSpPr txBox="1"/>
          <p:nvPr/>
        </p:nvSpPr>
        <p:spPr>
          <a:xfrm>
            <a:off x="4453128" y="2633472"/>
            <a:ext cx="1115568" cy="1737360"/>
          </a:xfrm>
          <a:prstGeom prst="rect">
            <a:avLst/>
          </a:prstGeom>
          <a:noFill/>
        </p:spPr>
        <p:txBody>
          <a:bodyPr wrap="square" lIns="0" tIns="0" rIns="0" bIns="0" anchor="t">
            <a:noAutofit/>
          </a:bodyPr>
          <a:lstStyle/>
          <a:p>
            <a:pPr algn="ctr">
              <a:lnSpc>
                <a:spcPct val="100000"/>
              </a:lnSpc>
              <a:spcAft>
                <a:spcPts val="300"/>
              </a:spcAft>
            </a:pPr>
            <a:r>
              <a:rPr sz="1050" b="1" i="0">
                <a:solidFill>
                  <a:srgbClr val="FAF5E8"/>
                </a:solidFill>
                <a:latin typeface="Be Vietnam Pro"/>
                <a:ea typeface="Be Vietnam Pro"/>
                <a:cs typeface="Be Vietnam Pro"/>
              </a:rPr>
              <a:t>NIỀM TIN</a:t>
            </a:r>
            <a:br>
              <a:rPr sz="1150"/>
            </a:br>
            <a:r>
              <a:rPr sz="1050" b="1" i="0">
                <a:solidFill>
                  <a:srgbClr val="FAF5E8"/>
                </a:solidFill>
                <a:latin typeface="Be Vietnam Pro"/>
                <a:ea typeface="Be Vietnam Pro"/>
                <a:cs typeface="Be Vietnam Pro"/>
              </a:rPr>
              <a:t>VÀO</a:t>
            </a:r>
            <a:br>
              <a:rPr sz="1150"/>
            </a:br>
            <a:r>
              <a:rPr sz="1050" b="1" i="0">
                <a:solidFill>
                  <a:srgbClr val="FAF5E8"/>
                </a:solidFill>
                <a:latin typeface="Be Vietnam Pro"/>
                <a:ea typeface="Be Vietnam Pro"/>
                <a:cs typeface="Be Vietnam Pro"/>
              </a:rPr>
              <a:t>NHÂN DÂN</a:t>
            </a:r>
          </a:p>
          <a:p>
            <a:pPr algn="ctr">
              <a:lnSpc>
                <a:spcPct val="100000"/>
              </a:lnSpc>
              <a:spcAft>
                <a:spcPts val="300"/>
              </a:spcAft>
            </a:pPr>
            <a:endParaRPr sz="1050" b="1" i="0">
              <a:solidFill>
                <a:srgbClr val="FAF5E8"/>
              </a:solidFill>
              <a:latin typeface="Be Vietnam Pro"/>
              <a:ea typeface="Be Vietnam Pro"/>
              <a:cs typeface="Be Vietnam Pro"/>
            </a:endParaRPr>
          </a:p>
        </p:txBody>
      </p:sp>
      <p:sp>
        <p:nvSpPr>
          <p:cNvPr id="17" name="Finger 5"/>
          <p:cNvSpPr/>
          <p:nvPr/>
        </p:nvSpPr>
        <p:spPr>
          <a:xfrm>
            <a:off x="5687568" y="2560320"/>
            <a:ext cx="1207008" cy="2834640"/>
          </a:xfrm>
          <a:prstGeom prst="roundRect">
            <a:avLst>
              <a:gd name="adj" fmla="val 50000"/>
            </a:avLst>
          </a:prstGeom>
          <a:solidFill>
            <a:srgbClr val="9C121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TextBox 17"/>
          <p:cNvSpPr txBox="1"/>
          <p:nvPr/>
        </p:nvSpPr>
        <p:spPr>
          <a:xfrm>
            <a:off x="5779007" y="2834639"/>
            <a:ext cx="1024128" cy="274320"/>
          </a:xfrm>
          <a:prstGeom prst="rect">
            <a:avLst/>
          </a:prstGeom>
          <a:noFill/>
        </p:spPr>
        <p:txBody>
          <a:bodyPr wrap="square" lIns="0" tIns="0" rIns="0" bIns="0" anchor="t">
            <a:noAutofit/>
          </a:bodyPr>
          <a:lstStyle/>
          <a:p>
            <a:pPr algn="ctr"/>
            <a:r>
              <a:rPr sz="800" b="1" i="0" spc="100">
                <a:solidFill>
                  <a:srgbClr val="D2AA50"/>
                </a:solidFill>
                <a:latin typeface="Be Vietnam Pro"/>
                <a:ea typeface="Be Vietnam Pro"/>
                <a:cs typeface="Be Vietnam Pro"/>
              </a:rPr>
              <a:t>NGUYÊN TẮC 3</a:t>
            </a:r>
          </a:p>
        </p:txBody>
      </p:sp>
      <p:sp>
        <p:nvSpPr>
          <p:cNvPr id="19" name="TextBox 18"/>
          <p:cNvSpPr txBox="1"/>
          <p:nvPr/>
        </p:nvSpPr>
        <p:spPr>
          <a:xfrm>
            <a:off x="5733288" y="3090672"/>
            <a:ext cx="1115568" cy="1737360"/>
          </a:xfrm>
          <a:prstGeom prst="rect">
            <a:avLst/>
          </a:prstGeom>
          <a:noFill/>
        </p:spPr>
        <p:txBody>
          <a:bodyPr wrap="square" lIns="0" tIns="0" rIns="0" bIns="0" anchor="t">
            <a:noAutofit/>
          </a:bodyPr>
          <a:lstStyle/>
          <a:p>
            <a:pPr algn="ctr">
              <a:lnSpc>
                <a:spcPct val="100000"/>
              </a:lnSpc>
              <a:spcAft>
                <a:spcPts val="300"/>
              </a:spcAft>
            </a:pPr>
            <a:r>
              <a:rPr sz="1050" b="1" i="0">
                <a:solidFill>
                  <a:srgbClr val="FAF5E8"/>
                </a:solidFill>
                <a:latin typeface="Be Vietnam Pro"/>
                <a:ea typeface="Be Vietnam Pro"/>
                <a:cs typeface="Be Vietnam Pro"/>
              </a:rPr>
              <a:t>HIỆP THƯƠNG</a:t>
            </a:r>
            <a:br>
              <a:rPr sz="1150"/>
            </a:br>
            <a:r>
              <a:rPr sz="1050" b="1" i="0">
                <a:solidFill>
                  <a:srgbClr val="FAF5E8"/>
                </a:solidFill>
                <a:latin typeface="Be Vietnam Pro"/>
                <a:ea typeface="Be Vietnam Pro"/>
                <a:cs typeface="Be Vietnam Pro"/>
              </a:rPr>
              <a:t>DÂN CHỦ</a:t>
            </a:r>
          </a:p>
          <a:p>
            <a:pPr algn="ctr">
              <a:lnSpc>
                <a:spcPct val="100000"/>
              </a:lnSpc>
              <a:spcAft>
                <a:spcPts val="300"/>
              </a:spcAft>
            </a:pPr>
            <a:r>
              <a:rPr sz="1000" b="0" i="0">
                <a:solidFill>
                  <a:srgbClr val="EFE3CE"/>
                </a:solidFill>
                <a:latin typeface="Be Vietnam Pro"/>
                <a:ea typeface="Be Vietnam Pro"/>
                <a:cs typeface="Be Vietnam Pro"/>
              </a:rPr>
              <a:t>bàn bạc để</a:t>
            </a:r>
            <a:br>
              <a:rPr sz="1050"/>
            </a:br>
            <a:r>
              <a:rPr sz="1000" b="0" i="0">
                <a:solidFill>
                  <a:srgbClr val="EFE3CE"/>
                </a:solidFill>
                <a:latin typeface="Be Vietnam Pro"/>
                <a:ea typeface="Be Vietnam Pro"/>
                <a:cs typeface="Be Vietnam Pro"/>
              </a:rPr>
              <a:t>đi đến nhất trí</a:t>
            </a:r>
          </a:p>
        </p:txBody>
      </p:sp>
      <p:sp>
        <p:nvSpPr>
          <p:cNvPr id="20" name="Palm"/>
          <p:cNvSpPr/>
          <p:nvPr/>
        </p:nvSpPr>
        <p:spPr>
          <a:xfrm>
            <a:off x="457200" y="4389120"/>
            <a:ext cx="6583680" cy="1481328"/>
          </a:xfrm>
          <a:prstGeom prst="roundRect">
            <a:avLst>
              <a:gd name="adj" fmla="val 30000"/>
            </a:avLst>
          </a:prstGeom>
          <a:solidFill>
            <a:srgbClr val="5B0808"/>
          </a:solidFill>
          <a:ln>
            <a:noFill/>
          </a:ln>
          <a:effectLst>
            <a:outerShdw blurRad="203200" dist="508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TextBox 20"/>
          <p:cNvSpPr txBox="1"/>
          <p:nvPr/>
        </p:nvSpPr>
        <p:spPr>
          <a:xfrm>
            <a:off x="868680" y="4443984"/>
            <a:ext cx="5806440" cy="1371600"/>
          </a:xfrm>
          <a:prstGeom prst="rect">
            <a:avLst/>
          </a:prstGeom>
          <a:noFill/>
        </p:spPr>
        <p:txBody>
          <a:bodyPr wrap="square" lIns="0" tIns="0" rIns="0" bIns="0" anchor="ctr">
            <a:noAutofit/>
          </a:bodyPr>
          <a:lstStyle/>
          <a:p>
            <a:pPr algn="ctr">
              <a:lnSpc>
                <a:spcPct val="105000"/>
              </a:lnSpc>
            </a:pPr>
            <a:r>
              <a:rPr sz="1000" b="1" i="0" spc="250">
                <a:solidFill>
                  <a:srgbClr val="D2AA50"/>
                </a:solidFill>
                <a:latin typeface="Be Vietnam Pro"/>
                <a:ea typeface="Be Vietnam Pro"/>
                <a:cs typeface="Be Vietnam Pro"/>
              </a:rPr>
              <a:t>NGUYÊN TẮC 2 CỦA MẶT TRẬN</a:t>
            </a:r>
          </a:p>
          <a:p>
            <a:pPr algn="ctr">
              <a:lnSpc>
                <a:spcPct val="105000"/>
              </a:lnSpc>
            </a:pPr>
            <a:r>
              <a:rPr sz="2300" b="0" i="0">
                <a:solidFill>
                  <a:srgbClr val="FAF5E8"/>
                </a:solidFill>
                <a:latin typeface="Phudu ExtraBold"/>
                <a:ea typeface="Phudu ExtraBold"/>
                <a:cs typeface="Phudu ExtraBold"/>
              </a:rPr>
              <a:t>BẢO ĐẢM LỢI ÍCH TỐI CAO CỦA DÂN TỘC</a:t>
            </a:r>
          </a:p>
          <a:p>
            <a:pPr algn="ctr">
              <a:lnSpc>
                <a:spcPct val="105000"/>
              </a:lnSpc>
            </a:pPr>
            <a:r>
              <a:rPr sz="1450" b="0" i="1">
                <a:solidFill>
                  <a:srgbClr val="EFE3CE"/>
                </a:solidFill>
                <a:latin typeface="Be Vietnam Pro"/>
                <a:ea typeface="Be Vietnam Pro"/>
                <a:cs typeface="Be Vietnam Pro"/>
              </a:rPr>
              <a:t>và quyền lợi cơ bản của các tầng lớp nhân dân</a:t>
            </a:r>
          </a:p>
        </p:txBody>
      </p:sp>
      <p:cxnSp>
        <p:nvCxnSpPr>
          <p:cNvPr id="22" name="Connector 21"/>
          <p:cNvCxnSpPr/>
          <p:nvPr/>
        </p:nvCxnSpPr>
        <p:spPr>
          <a:xfrm>
            <a:off x="7178040" y="5120640"/>
            <a:ext cx="640080" cy="0"/>
          </a:xfrm>
          <a:prstGeom prst="line">
            <a:avLst/>
          </a:prstGeom>
          <a:ln w="28575">
            <a:solidFill>
              <a:srgbClr val="B68A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955279" y="4617720"/>
            <a:ext cx="3840480" cy="1005840"/>
          </a:xfrm>
          <a:prstGeom prst="rect">
            <a:avLst/>
          </a:prstGeom>
          <a:noFill/>
        </p:spPr>
        <p:txBody>
          <a:bodyPr wrap="square" lIns="0" tIns="0" rIns="0" bIns="0" anchor="t">
            <a:noAutofit/>
          </a:bodyPr>
          <a:lstStyle/>
          <a:p>
            <a:pPr algn="l">
              <a:lnSpc>
                <a:spcPct val="92000"/>
              </a:lnSpc>
            </a:pPr>
            <a:r>
              <a:rPr sz="3300" b="0" i="0">
                <a:solidFill>
                  <a:srgbClr val="9C1214"/>
                </a:solidFill>
                <a:latin typeface="Phudu ExtraBold"/>
                <a:ea typeface="Phudu ExtraBold"/>
                <a:cs typeface="Phudu ExtraBold"/>
              </a:rPr>
              <a:t>SỨC MẠNH</a:t>
            </a:r>
          </a:p>
          <a:p>
            <a:pPr algn="l">
              <a:lnSpc>
                <a:spcPct val="92000"/>
              </a:lnSpc>
            </a:pPr>
            <a:r>
              <a:rPr sz="3300" b="0" i="0">
                <a:solidFill>
                  <a:srgbClr val="9C1214"/>
                </a:solidFill>
                <a:latin typeface="Phudu ExtraBold"/>
                <a:ea typeface="Phudu ExtraBold"/>
                <a:cs typeface="Phudu ExtraBold"/>
              </a:rPr>
              <a:t>CHUNG</a:t>
            </a:r>
          </a:p>
        </p:txBody>
      </p:sp>
      <p:sp>
        <p:nvSpPr>
          <p:cNvPr id="24" name="Quote ban tay"/>
          <p:cNvSpPr/>
          <p:nvPr/>
        </p:nvSpPr>
        <p:spPr>
          <a:xfrm>
            <a:off x="7955279" y="960120"/>
            <a:ext cx="3794760" cy="3200400"/>
          </a:xfrm>
          <a:prstGeom prst="roundRect">
            <a:avLst>
              <a:gd name="adj" fmla="val 6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5" name="Picture 24" descr="hand_5_burg.png"/>
          <p:cNvPicPr>
            <a:picLocks noChangeAspect="1"/>
          </p:cNvPicPr>
          <p:nvPr/>
        </p:nvPicPr>
        <p:blipFill>
          <a:blip r:embed="rId4"/>
          <a:stretch>
            <a:fillRect/>
          </a:stretch>
        </p:blipFill>
        <p:spPr>
          <a:xfrm>
            <a:off x="8183879" y="1188720"/>
            <a:ext cx="652881" cy="777240"/>
          </a:xfrm>
          <a:prstGeom prst="rect">
            <a:avLst/>
          </a:prstGeom>
        </p:spPr>
      </p:pic>
      <p:sp>
        <p:nvSpPr>
          <p:cNvPr id="26" name="TextBox 25"/>
          <p:cNvSpPr txBox="1"/>
          <p:nvPr/>
        </p:nvSpPr>
        <p:spPr>
          <a:xfrm>
            <a:off x="8183879" y="2057400"/>
            <a:ext cx="3383280" cy="1600200"/>
          </a:xfrm>
          <a:prstGeom prst="rect">
            <a:avLst/>
          </a:prstGeom>
          <a:noFill/>
        </p:spPr>
        <p:txBody>
          <a:bodyPr wrap="square" lIns="0" tIns="0" rIns="0" bIns="0" anchor="t">
            <a:noAutofit/>
          </a:bodyPr>
          <a:lstStyle/>
          <a:p>
            <a:pPr algn="l">
              <a:lnSpc>
                <a:spcPct val="105000"/>
              </a:lnSpc>
            </a:pPr>
            <a:r>
              <a:rPr sz="1450" b="0" i="1">
                <a:solidFill>
                  <a:srgbClr val="5B0808"/>
                </a:solidFill>
                <a:latin typeface="Be Vietnam Pro"/>
                <a:ea typeface="Be Vietnam Pro"/>
                <a:cs typeface="Be Vietnam Pro"/>
              </a:rPr>
              <a:t>“Năm ngón tay cũng có ngón vắn ngón dài. Nhưng vắn dài đều họp nhau lại nơi bàn tay. Trong mấy triệu người cũng có người thế này thế khác…”</a:t>
            </a:r>
          </a:p>
        </p:txBody>
      </p:sp>
      <p:sp>
        <p:nvSpPr>
          <p:cNvPr id="27" name="TextBox 26"/>
          <p:cNvSpPr txBox="1"/>
          <p:nvPr/>
        </p:nvSpPr>
        <p:spPr>
          <a:xfrm>
            <a:off x="8183879" y="3611880"/>
            <a:ext cx="3383280" cy="457200"/>
          </a:xfrm>
          <a:prstGeom prst="rect">
            <a:avLst/>
          </a:prstGeom>
          <a:noFill/>
        </p:spPr>
        <p:txBody>
          <a:bodyPr wrap="square" lIns="0" tIns="0" rIns="0" bIns="0" anchor="t">
            <a:noAutofit/>
          </a:bodyPr>
          <a:lstStyle/>
          <a:p>
            <a:pPr algn="l"/>
            <a:r>
              <a:rPr sz="950" b="0" i="0">
                <a:solidFill>
                  <a:srgbClr val="6E564B"/>
                </a:solidFill>
                <a:latin typeface="Be Vietnam Pro"/>
                <a:ea typeface="Be Vietnam Pro"/>
                <a:cs typeface="Be Vietnam Pro"/>
              </a:rPr>
              <a:t>Hồ Chí Minh, Thư gửi đồng bào Nam Bộ, 1-6-1946</a:t>
            </a:r>
            <a:br>
              <a:rPr sz="1000"/>
            </a:br>
            <a:r>
              <a:rPr sz="950" b="0" i="0">
                <a:solidFill>
                  <a:srgbClr val="6E564B"/>
                </a:solidFill>
                <a:latin typeface="Be Vietnam Pro"/>
                <a:ea typeface="Be Vietnam Pro"/>
                <a:cs typeface="Be Vietnam Pro"/>
              </a:rPr>
              <a:t>Toàn tập, t.4, tr.280</a:t>
            </a:r>
          </a:p>
        </p:txBody>
      </p:sp>
      <p:sp>
        <p:nvSpPr>
          <p:cNvPr id="28" name="TextBox 27"/>
          <p:cNvSpPr txBox="1"/>
          <p:nvPr/>
        </p:nvSpPr>
        <p:spPr>
          <a:xfrm>
            <a:off x="7955279" y="5669280"/>
            <a:ext cx="3840480" cy="640080"/>
          </a:xfrm>
          <a:prstGeom prst="rect">
            <a:avLst/>
          </a:prstGeom>
          <a:noFill/>
        </p:spPr>
        <p:txBody>
          <a:bodyPr wrap="square" lIns="0" tIns="0" rIns="0" bIns="0" anchor="t">
            <a:noAutofit/>
          </a:bodyPr>
          <a:lstStyle/>
          <a:p>
            <a:pPr algn="l">
              <a:lnSpc>
                <a:spcPct val="100000"/>
              </a:lnSpc>
            </a:pPr>
            <a:r>
              <a:rPr sz="900" b="0" i="1">
                <a:solidFill>
                  <a:srgbClr val="6E564B"/>
                </a:solidFill>
                <a:latin typeface="Be Vietnam Pro"/>
                <a:ea typeface="Be Vietnam Pro"/>
                <a:cs typeface="Be Vietnam Pro"/>
              </a:rPr>
              <a:t>Mô hình “bàn tay” là cách nhóm sắp xếp các luận điểm. Khung theo bài giảng Chương 5 của lớp: 3 điều kiện, 4 nguyên tắc của Mặt trận (nguyên tắc 4: đoàn kết chặt chẽ, lâu dài, thật sự, chân thành).</a:t>
            </a:r>
          </a:p>
        </p:txBody>
      </p:sp>
      <p:sp>
        <p:nvSpPr>
          <p:cNvPr id="29" name="Tag DIỄN GIẢI CỦA NHÓM"/>
          <p:cNvSpPr/>
          <p:nvPr/>
        </p:nvSpPr>
        <p:spPr>
          <a:xfrm>
            <a:off x="9625888" y="347472"/>
            <a:ext cx="2154326" cy="310896"/>
          </a:xfrm>
          <a:prstGeom prst="roundRect">
            <a:avLst>
              <a:gd name="adj" fmla="val 50000"/>
            </a:avLst>
          </a:prstGeom>
          <a:noFill/>
          <a:ln w="15875">
            <a:solidFill>
              <a:srgbClr val="5B080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DIỄN GIẢI CỦA NHÓM</a:t>
            </a:r>
          </a:p>
        </p:txBody>
      </p:sp>
      <p:sp>
        <p:nvSpPr>
          <p:cNvPr id="30" name="Tag LÝ LUẬN CỐT LÕI"/>
          <p:cNvSpPr/>
          <p:nvPr/>
        </p:nvSpPr>
        <p:spPr>
          <a:xfrm>
            <a:off x="7669072"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LÝ LUẬN CỐT LÕI</a:t>
            </a:r>
          </a:p>
        </p:txBody>
      </p:sp>
      <p:sp>
        <p:nvSpPr>
          <p:cNvPr id="31"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07</a:t>
            </a:r>
            <a:r>
              <a:rPr sz="950" b="0" i="0" spc="120">
                <a:solidFill>
                  <a:srgbClr val="6E564B"/>
                </a:solidFill>
                <a:latin typeface="Be Vietnam Pro"/>
                <a:ea typeface="Be Vietnam Pro"/>
                <a:cs typeface="Be Vietnam Pro"/>
              </a:rPr>
              <a:t>  /  16    ĐẠI ĐOÀN KẾT DÂN TỘC</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_sof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5486400" cy="365760"/>
          </a:xfrm>
          <a:prstGeom prst="rect">
            <a:avLst/>
          </a:prstGeom>
          <a:noFill/>
        </p:spPr>
        <p:txBody>
          <a:bodyPr wrap="square" lIns="0" tIns="0" rIns="0" bIns="0" anchor="t">
            <a:noAutofit/>
          </a:bodyPr>
          <a:lstStyle/>
          <a:p>
            <a:pPr algn="l"/>
            <a:r>
              <a:rPr sz="1200" b="0" i="0" spc="300">
                <a:solidFill>
                  <a:srgbClr val="9C1214"/>
                </a:solidFill>
                <a:latin typeface="Be Vietnam Pro SemiBold"/>
                <a:ea typeface="Be Vietnam Pro SemiBold"/>
                <a:cs typeface="Be Vietnam Pro SemiBold"/>
              </a:rPr>
              <a:t>THÍ NGHIỆM TRONG LỚP</a:t>
            </a:r>
          </a:p>
        </p:txBody>
      </p:sp>
      <p:sp>
        <p:nvSpPr>
          <p:cNvPr id="4" name="TextBox 3"/>
          <p:cNvSpPr txBox="1"/>
          <p:nvPr/>
        </p:nvSpPr>
        <p:spPr>
          <a:xfrm>
            <a:off x="548640" y="804672"/>
            <a:ext cx="6949440" cy="822960"/>
          </a:xfrm>
          <a:prstGeom prst="rect">
            <a:avLst/>
          </a:prstGeom>
          <a:noFill/>
        </p:spPr>
        <p:txBody>
          <a:bodyPr wrap="square" lIns="0" tIns="0" rIns="0" bIns="0" anchor="t">
            <a:noAutofit/>
          </a:bodyPr>
          <a:lstStyle/>
          <a:p>
            <a:pPr algn="l"/>
            <a:r>
              <a:rPr sz="3950" b="0" i="0">
                <a:solidFill>
                  <a:srgbClr val="5B0808"/>
                </a:solidFill>
                <a:latin typeface="Phudu ExtraBold"/>
                <a:ea typeface="Phudu ExtraBold"/>
                <a:cs typeface="Phudu ExtraBold"/>
              </a:rPr>
              <a:t>KHI BỐN NHÓM ĐỀU CÓ LÝ…</a:t>
            </a:r>
          </a:p>
        </p:txBody>
      </p:sp>
      <p:sp>
        <p:nvSpPr>
          <p:cNvPr id="5" name="TextBox 4"/>
          <p:cNvSpPr txBox="1"/>
          <p:nvPr/>
        </p:nvSpPr>
        <p:spPr>
          <a:xfrm>
            <a:off x="7498079" y="768096"/>
            <a:ext cx="4251960" cy="566928"/>
          </a:xfrm>
          <a:prstGeom prst="rect">
            <a:avLst/>
          </a:prstGeom>
          <a:noFill/>
        </p:spPr>
        <p:txBody>
          <a:bodyPr wrap="square" lIns="0" tIns="0" rIns="0" bIns="0" anchor="t">
            <a:noAutofit/>
          </a:bodyPr>
          <a:lstStyle/>
          <a:p>
            <a:pPr algn="r"/>
            <a:r>
              <a:rPr sz="2900" b="0" i="0">
                <a:solidFill>
                  <a:srgbClr val="9C1214"/>
                </a:solidFill>
                <a:latin typeface="Be Vietnam Pro SemiBold"/>
                <a:ea typeface="Be Vietnam Pro SemiBold"/>
                <a:cs typeface="Be Vietnam Pro SemiBold"/>
              </a:rPr>
              <a:t>20.000.000 VNĐ</a:t>
            </a:r>
          </a:p>
        </p:txBody>
      </p:sp>
      <p:sp>
        <p:nvSpPr>
          <p:cNvPr id="6" name="TextBox 5"/>
          <p:cNvSpPr txBox="1"/>
          <p:nvPr/>
        </p:nvSpPr>
        <p:spPr>
          <a:xfrm>
            <a:off x="7498079" y="1298448"/>
            <a:ext cx="4251960" cy="329184"/>
          </a:xfrm>
          <a:prstGeom prst="rect">
            <a:avLst/>
          </a:prstGeom>
          <a:noFill/>
        </p:spPr>
        <p:txBody>
          <a:bodyPr wrap="square" lIns="0" tIns="0" rIns="0" bIns="0" anchor="t">
            <a:noAutofit/>
          </a:bodyPr>
          <a:lstStyle/>
          <a:p>
            <a:pPr algn="r"/>
            <a:r>
              <a:rPr sz="1200" b="0" i="0">
                <a:solidFill>
                  <a:srgbClr val="6E564B"/>
                </a:solidFill>
                <a:latin typeface="Be Vietnam Pro"/>
                <a:ea typeface="Be Vietnam Pro"/>
                <a:cs typeface="Be Vietnam Pro"/>
              </a:rPr>
              <a:t>quỹ lớp (giả định) · chỉ đủ cho 1 dự án cộng đồng</a:t>
            </a:r>
          </a:p>
        </p:txBody>
      </p:sp>
      <p:pic>
        <p:nvPicPr>
          <p:cNvPr id="7" name="Anh nhom 1" descr="s8_1.jpg"/>
          <p:cNvPicPr>
            <a:picLocks noChangeAspect="1"/>
          </p:cNvPicPr>
          <p:nvPr/>
        </p:nvPicPr>
        <p:blipFill>
          <a:blip r:embed="rId4"/>
          <a:srcRect b="62"/>
          <a:stretch>
            <a:fillRect/>
          </a:stretch>
        </p:blipFill>
        <p:spPr>
          <a:xfrm>
            <a:off x="548640" y="1783080"/>
            <a:ext cx="2670048" cy="2377440"/>
          </a:xfrm>
          <a:prstGeom prst="roundRect">
            <a:avLst>
              <a:gd name="adj" fmla="val 5000"/>
            </a:avLst>
          </a:prstGeom>
        </p:spPr>
      </p:pic>
      <p:sp>
        <p:nvSpPr>
          <p:cNvPr id="8" name="Rectangle 7"/>
          <p:cNvSpPr/>
          <p:nvPr/>
        </p:nvSpPr>
        <p:spPr>
          <a:xfrm>
            <a:off x="548640" y="2560320"/>
            <a:ext cx="2670048" cy="1600200"/>
          </a:xfrm>
          <a:prstGeom prst="rect">
            <a:avLst/>
          </a:prstGeom>
          <a:gradFill rotWithShape="1">
            <a:gsLst>
              <a:gs pos="0">
                <a:srgbClr val="3A0405">
                  <a:alpha val="0"/>
                </a:srgbClr>
              </a:gs>
              <a:gs pos="38000">
                <a:srgbClr val="3A0405">
                  <a:alpha val="78000"/>
                </a:srgbClr>
              </a:gs>
              <a:gs pos="100000">
                <a:srgbClr val="3A0405">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3246120"/>
            <a:ext cx="2340864" cy="274320"/>
          </a:xfrm>
          <a:prstGeom prst="rect">
            <a:avLst/>
          </a:prstGeom>
          <a:noFill/>
        </p:spPr>
        <p:txBody>
          <a:bodyPr wrap="square" lIns="0" tIns="0" rIns="0" bIns="0" anchor="t">
            <a:noAutofit/>
          </a:bodyPr>
          <a:lstStyle/>
          <a:p>
            <a:pPr algn="l"/>
            <a:r>
              <a:rPr sz="1000" b="1" i="0" spc="120">
                <a:solidFill>
                  <a:srgbClr val="D2AA50"/>
                </a:solidFill>
                <a:latin typeface="Be Vietnam Pro"/>
                <a:ea typeface="Be Vietnam Pro"/>
                <a:cs typeface="Be Vietnam Pro"/>
              </a:rPr>
              <a:t>NHÓM 1 · TRẺ EM</a:t>
            </a:r>
          </a:p>
        </p:txBody>
      </p:sp>
      <p:sp>
        <p:nvSpPr>
          <p:cNvPr id="10" name="TextBox 9"/>
          <p:cNvSpPr txBox="1"/>
          <p:nvPr/>
        </p:nvSpPr>
        <p:spPr>
          <a:xfrm>
            <a:off x="713232" y="3520439"/>
            <a:ext cx="2340864" cy="603504"/>
          </a:xfrm>
          <a:prstGeom prst="rect">
            <a:avLst/>
          </a:prstGeom>
          <a:noFill/>
        </p:spPr>
        <p:txBody>
          <a:bodyPr wrap="square" lIns="0" tIns="0" rIns="0" bIns="0" anchor="t">
            <a:noAutofit/>
          </a:bodyPr>
          <a:lstStyle/>
          <a:p>
            <a:pPr algn="l">
              <a:lnSpc>
                <a:spcPct val="100000"/>
              </a:lnSpc>
            </a:pPr>
            <a:r>
              <a:rPr sz="1150" b="0" i="0">
                <a:solidFill>
                  <a:srgbClr val="FAF5E8"/>
                </a:solidFill>
                <a:latin typeface="Be Vietnam Pro"/>
                <a:ea typeface="Be Vietnam Pro"/>
                <a:cs typeface="Be Vietnam Pro"/>
              </a:rPr>
              <a:t>Hỗ trợ trẻ em khó khăn —</a:t>
            </a:r>
            <a:br>
              <a:rPr sz="1250"/>
            </a:br>
            <a:r>
              <a:rPr sz="1150" b="0" i="0">
                <a:solidFill>
                  <a:srgbClr val="FAF5E8"/>
                </a:solidFill>
                <a:latin typeface="Be Vietnam Pro"/>
                <a:ea typeface="Be Vietnam Pro"/>
                <a:cs typeface="Be Vietnam Pro"/>
              </a:rPr>
              <a:t>các em cần nhất.</a:t>
            </a:r>
          </a:p>
        </p:txBody>
      </p:sp>
      <p:pic>
        <p:nvPicPr>
          <p:cNvPr id="11" name="Anh nhom 2" descr="s8_2.jpg"/>
          <p:cNvPicPr>
            <a:picLocks noChangeAspect="1"/>
          </p:cNvPicPr>
          <p:nvPr/>
        </p:nvPicPr>
        <p:blipFill>
          <a:blip r:embed="rId5"/>
          <a:srcRect b="62"/>
          <a:stretch>
            <a:fillRect/>
          </a:stretch>
        </p:blipFill>
        <p:spPr>
          <a:xfrm>
            <a:off x="3392424" y="1783080"/>
            <a:ext cx="2670048" cy="2377440"/>
          </a:xfrm>
          <a:prstGeom prst="roundRect">
            <a:avLst>
              <a:gd name="adj" fmla="val 5000"/>
            </a:avLst>
          </a:prstGeom>
        </p:spPr>
      </p:pic>
      <p:sp>
        <p:nvSpPr>
          <p:cNvPr id="12" name="Rectangle 11"/>
          <p:cNvSpPr/>
          <p:nvPr/>
        </p:nvSpPr>
        <p:spPr>
          <a:xfrm>
            <a:off x="3392424" y="2560320"/>
            <a:ext cx="2670048" cy="1600200"/>
          </a:xfrm>
          <a:prstGeom prst="rect">
            <a:avLst/>
          </a:prstGeom>
          <a:gradFill rotWithShape="1">
            <a:gsLst>
              <a:gs pos="0">
                <a:srgbClr val="3A0405">
                  <a:alpha val="0"/>
                </a:srgbClr>
              </a:gs>
              <a:gs pos="38000">
                <a:srgbClr val="3A0405">
                  <a:alpha val="78000"/>
                </a:srgbClr>
              </a:gs>
              <a:gs pos="100000">
                <a:srgbClr val="3A0405">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57016" y="3246120"/>
            <a:ext cx="2340864" cy="274320"/>
          </a:xfrm>
          <a:prstGeom prst="rect">
            <a:avLst/>
          </a:prstGeom>
          <a:noFill/>
        </p:spPr>
        <p:txBody>
          <a:bodyPr wrap="square" lIns="0" tIns="0" rIns="0" bIns="0" anchor="t">
            <a:noAutofit/>
          </a:bodyPr>
          <a:lstStyle/>
          <a:p>
            <a:pPr algn="l"/>
            <a:r>
              <a:rPr sz="1000" b="1" i="0" spc="120">
                <a:solidFill>
                  <a:srgbClr val="D2AA50"/>
                </a:solidFill>
                <a:latin typeface="Be Vietnam Pro"/>
                <a:ea typeface="Be Vietnam Pro"/>
                <a:cs typeface="Be Vietnam Pro"/>
              </a:rPr>
              <a:t>NHÓM 2 · MÔI TRƯỜNG</a:t>
            </a:r>
          </a:p>
        </p:txBody>
      </p:sp>
      <p:sp>
        <p:nvSpPr>
          <p:cNvPr id="14" name="TextBox 13"/>
          <p:cNvSpPr txBox="1"/>
          <p:nvPr/>
        </p:nvSpPr>
        <p:spPr>
          <a:xfrm>
            <a:off x="3557016" y="3520439"/>
            <a:ext cx="2340864" cy="603504"/>
          </a:xfrm>
          <a:prstGeom prst="rect">
            <a:avLst/>
          </a:prstGeom>
          <a:noFill/>
        </p:spPr>
        <p:txBody>
          <a:bodyPr wrap="square" lIns="0" tIns="0" rIns="0" bIns="0" anchor="t">
            <a:noAutofit/>
          </a:bodyPr>
          <a:lstStyle/>
          <a:p>
            <a:pPr algn="l">
              <a:lnSpc>
                <a:spcPct val="100000"/>
              </a:lnSpc>
            </a:pPr>
            <a:r>
              <a:rPr sz="1150" b="0" i="0">
                <a:solidFill>
                  <a:srgbClr val="FAF5E8"/>
                </a:solidFill>
                <a:latin typeface="Be Vietnam Pro"/>
                <a:ea typeface="Be Vietnam Pro"/>
                <a:cs typeface="Be Vietnam Pro"/>
              </a:rPr>
              <a:t>Làm sạch, trồng cây —</a:t>
            </a:r>
            <a:br>
              <a:rPr sz="1250"/>
            </a:br>
            <a:r>
              <a:rPr sz="1150" b="0" i="0">
                <a:solidFill>
                  <a:srgbClr val="FAF5E8"/>
                </a:solidFill>
                <a:latin typeface="Be Vietnam Pro"/>
                <a:ea typeface="Be Vietnam Pro"/>
                <a:cs typeface="Be Vietnam Pro"/>
              </a:rPr>
              <a:t>lợi cho tất cả.</a:t>
            </a:r>
          </a:p>
        </p:txBody>
      </p:sp>
      <p:pic>
        <p:nvPicPr>
          <p:cNvPr id="15" name="Anh nhom 3" descr="s8_3.jpg"/>
          <p:cNvPicPr>
            <a:picLocks noChangeAspect="1"/>
          </p:cNvPicPr>
          <p:nvPr/>
        </p:nvPicPr>
        <p:blipFill>
          <a:blip r:embed="rId6"/>
          <a:srcRect b="62"/>
          <a:stretch>
            <a:fillRect/>
          </a:stretch>
        </p:blipFill>
        <p:spPr>
          <a:xfrm>
            <a:off x="6236207" y="1783080"/>
            <a:ext cx="2670048" cy="2377440"/>
          </a:xfrm>
          <a:prstGeom prst="roundRect">
            <a:avLst>
              <a:gd name="adj" fmla="val 5000"/>
            </a:avLst>
          </a:prstGeom>
        </p:spPr>
      </p:pic>
      <p:sp>
        <p:nvSpPr>
          <p:cNvPr id="16" name="Rectangle 15"/>
          <p:cNvSpPr/>
          <p:nvPr/>
        </p:nvSpPr>
        <p:spPr>
          <a:xfrm>
            <a:off x="6236207" y="2560320"/>
            <a:ext cx="2670048" cy="1600200"/>
          </a:xfrm>
          <a:prstGeom prst="rect">
            <a:avLst/>
          </a:prstGeom>
          <a:gradFill rotWithShape="1">
            <a:gsLst>
              <a:gs pos="0">
                <a:srgbClr val="3A0405">
                  <a:alpha val="0"/>
                </a:srgbClr>
              </a:gs>
              <a:gs pos="38000">
                <a:srgbClr val="3A0405">
                  <a:alpha val="78000"/>
                </a:srgbClr>
              </a:gs>
              <a:gs pos="100000">
                <a:srgbClr val="3A0405">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799" y="3246120"/>
            <a:ext cx="2340864" cy="274320"/>
          </a:xfrm>
          <a:prstGeom prst="rect">
            <a:avLst/>
          </a:prstGeom>
          <a:noFill/>
        </p:spPr>
        <p:txBody>
          <a:bodyPr wrap="square" lIns="0" tIns="0" rIns="0" bIns="0" anchor="t">
            <a:noAutofit/>
          </a:bodyPr>
          <a:lstStyle/>
          <a:p>
            <a:pPr algn="l"/>
            <a:r>
              <a:rPr sz="1000" b="1" i="0" spc="120">
                <a:solidFill>
                  <a:srgbClr val="D2AA50"/>
                </a:solidFill>
                <a:latin typeface="Be Vietnam Pro"/>
                <a:ea typeface="Be Vietnam Pro"/>
                <a:cs typeface="Be Vietnam Pro"/>
              </a:rPr>
              <a:t>NHÓM 3 · NGƯỜI CAO TUỔI</a:t>
            </a:r>
          </a:p>
        </p:txBody>
      </p:sp>
      <p:sp>
        <p:nvSpPr>
          <p:cNvPr id="18" name="TextBox 17"/>
          <p:cNvSpPr txBox="1"/>
          <p:nvPr/>
        </p:nvSpPr>
        <p:spPr>
          <a:xfrm>
            <a:off x="6400799" y="3520439"/>
            <a:ext cx="2340864" cy="603504"/>
          </a:xfrm>
          <a:prstGeom prst="rect">
            <a:avLst/>
          </a:prstGeom>
          <a:noFill/>
        </p:spPr>
        <p:txBody>
          <a:bodyPr wrap="square" lIns="0" tIns="0" rIns="0" bIns="0" anchor="t">
            <a:noAutofit/>
          </a:bodyPr>
          <a:lstStyle/>
          <a:p>
            <a:pPr algn="l">
              <a:lnSpc>
                <a:spcPct val="100000"/>
              </a:lnSpc>
            </a:pPr>
            <a:r>
              <a:rPr sz="1150" b="0" i="0">
                <a:solidFill>
                  <a:srgbClr val="FAF5E8"/>
                </a:solidFill>
                <a:latin typeface="Be Vietnam Pro"/>
                <a:ea typeface="Be Vietnam Pro"/>
                <a:cs typeface="Be Vietnam Pro"/>
              </a:rPr>
              <a:t>Thăm và chăm sóc</a:t>
            </a:r>
            <a:br>
              <a:rPr sz="1250"/>
            </a:br>
            <a:r>
              <a:rPr sz="1150" b="0" i="0">
                <a:solidFill>
                  <a:srgbClr val="FAF5E8"/>
                </a:solidFill>
                <a:latin typeface="Be Vietnam Pro"/>
                <a:ea typeface="Be Vietnam Pro"/>
                <a:cs typeface="Be Vietnam Pro"/>
              </a:rPr>
              <a:t>người cao tuổi neo đơn.</a:t>
            </a:r>
          </a:p>
        </p:txBody>
      </p:sp>
      <p:pic>
        <p:nvPicPr>
          <p:cNvPr id="19" name="Anh nhom 4" descr="s8_4.jpg"/>
          <p:cNvPicPr>
            <a:picLocks noChangeAspect="1"/>
          </p:cNvPicPr>
          <p:nvPr/>
        </p:nvPicPr>
        <p:blipFill>
          <a:blip r:embed="rId7"/>
          <a:srcRect b="62"/>
          <a:stretch>
            <a:fillRect/>
          </a:stretch>
        </p:blipFill>
        <p:spPr>
          <a:xfrm>
            <a:off x="9079992" y="1783080"/>
            <a:ext cx="2670048" cy="2377440"/>
          </a:xfrm>
          <a:prstGeom prst="roundRect">
            <a:avLst>
              <a:gd name="adj" fmla="val 5000"/>
            </a:avLst>
          </a:prstGeom>
        </p:spPr>
      </p:pic>
      <p:sp>
        <p:nvSpPr>
          <p:cNvPr id="20" name="Rectangle 19"/>
          <p:cNvSpPr/>
          <p:nvPr/>
        </p:nvSpPr>
        <p:spPr>
          <a:xfrm>
            <a:off x="9079992" y="2560320"/>
            <a:ext cx="2670048" cy="1600200"/>
          </a:xfrm>
          <a:prstGeom prst="rect">
            <a:avLst/>
          </a:prstGeom>
          <a:gradFill rotWithShape="1">
            <a:gsLst>
              <a:gs pos="0">
                <a:srgbClr val="3A0405">
                  <a:alpha val="0"/>
                </a:srgbClr>
              </a:gs>
              <a:gs pos="38000">
                <a:srgbClr val="3A0405">
                  <a:alpha val="78000"/>
                </a:srgbClr>
              </a:gs>
              <a:gs pos="100000">
                <a:srgbClr val="3A0405">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44584" y="3246120"/>
            <a:ext cx="2340864" cy="274320"/>
          </a:xfrm>
          <a:prstGeom prst="rect">
            <a:avLst/>
          </a:prstGeom>
          <a:noFill/>
        </p:spPr>
        <p:txBody>
          <a:bodyPr wrap="square" lIns="0" tIns="0" rIns="0" bIns="0" anchor="t">
            <a:noAutofit/>
          </a:bodyPr>
          <a:lstStyle/>
          <a:p>
            <a:pPr algn="l"/>
            <a:r>
              <a:rPr sz="1000" b="1" i="0" spc="120">
                <a:solidFill>
                  <a:srgbClr val="D2AA50"/>
                </a:solidFill>
                <a:latin typeface="Be Vietnam Pro"/>
                <a:ea typeface="Be Vietnam Pro"/>
                <a:cs typeface="Be Vietnam Pro"/>
              </a:rPr>
              <a:t>NHÓM 4 · HỌC LIỆU</a:t>
            </a:r>
          </a:p>
        </p:txBody>
      </p:sp>
      <p:sp>
        <p:nvSpPr>
          <p:cNvPr id="22" name="TextBox 21"/>
          <p:cNvSpPr txBox="1"/>
          <p:nvPr/>
        </p:nvSpPr>
        <p:spPr>
          <a:xfrm>
            <a:off x="9244584" y="3520439"/>
            <a:ext cx="2340864" cy="603504"/>
          </a:xfrm>
          <a:prstGeom prst="rect">
            <a:avLst/>
          </a:prstGeom>
          <a:noFill/>
        </p:spPr>
        <p:txBody>
          <a:bodyPr wrap="square" lIns="0" tIns="0" rIns="0" bIns="0" anchor="t">
            <a:noAutofit/>
          </a:bodyPr>
          <a:lstStyle/>
          <a:p>
            <a:pPr algn="l">
              <a:lnSpc>
                <a:spcPct val="100000"/>
              </a:lnSpc>
            </a:pPr>
            <a:r>
              <a:rPr sz="1150" b="0" i="0">
                <a:solidFill>
                  <a:srgbClr val="FAF5E8"/>
                </a:solidFill>
                <a:latin typeface="Be Vietnam Pro"/>
                <a:ea typeface="Be Vietnam Pro"/>
                <a:cs typeface="Be Vietnam Pro"/>
              </a:rPr>
              <a:t>Sách, tài liệu cho những</a:t>
            </a:r>
            <a:br>
              <a:rPr sz="1250"/>
            </a:br>
            <a:r>
              <a:rPr sz="1150" b="0" i="0">
                <a:solidFill>
                  <a:srgbClr val="FAF5E8"/>
                </a:solidFill>
                <a:latin typeface="Be Vietnam Pro"/>
                <a:ea typeface="Be Vietnam Pro"/>
                <a:cs typeface="Be Vietnam Pro"/>
              </a:rPr>
              <a:t>bạn thiếu điều kiện.</a:t>
            </a:r>
          </a:p>
        </p:txBody>
      </p:sp>
      <p:sp>
        <p:nvSpPr>
          <p:cNvPr id="23" name="TextBox 22"/>
          <p:cNvSpPr txBox="1"/>
          <p:nvPr/>
        </p:nvSpPr>
        <p:spPr>
          <a:xfrm>
            <a:off x="548640" y="4242816"/>
            <a:ext cx="7680960" cy="457200"/>
          </a:xfrm>
          <a:prstGeom prst="rect">
            <a:avLst/>
          </a:prstGeom>
          <a:noFill/>
        </p:spPr>
        <p:txBody>
          <a:bodyPr wrap="square" lIns="0" tIns="0" rIns="0" bIns="0" anchor="t">
            <a:noAutofit/>
          </a:bodyPr>
          <a:lstStyle/>
          <a:p>
            <a:pPr algn="l"/>
            <a:r>
              <a:rPr sz="1650" b="0" i="1">
                <a:solidFill>
                  <a:srgbClr val="5B0808"/>
                </a:solidFill>
                <a:latin typeface="Be Vietnam Pro"/>
                <a:ea typeface="Be Vietnam Pro"/>
                <a:cs typeface="Be Vietnam Pro"/>
              </a:rPr>
              <a:t>Nếu cả bốn đều có lý — </a:t>
            </a:r>
            <a:r>
              <a:rPr sz="1650" b="1" i="1">
                <a:solidFill>
                  <a:srgbClr val="9C1214"/>
                </a:solidFill>
                <a:latin typeface="Be Vietnam Pro"/>
                <a:ea typeface="Be Vietnam Pro"/>
                <a:cs typeface="Be Vietnam Pro"/>
              </a:rPr>
              <a:t>đoàn kết có phải là chọn một nhóm thắng?</a:t>
            </a:r>
          </a:p>
        </p:txBody>
      </p:sp>
      <p:sp>
        <p:nvSpPr>
          <p:cNvPr id="24" name="TextBox 23"/>
          <p:cNvSpPr txBox="1"/>
          <p:nvPr/>
        </p:nvSpPr>
        <p:spPr>
          <a:xfrm>
            <a:off x="8092440" y="4315968"/>
            <a:ext cx="3657600" cy="329184"/>
          </a:xfrm>
          <a:prstGeom prst="rect">
            <a:avLst/>
          </a:prstGeom>
          <a:noFill/>
        </p:spPr>
        <p:txBody>
          <a:bodyPr wrap="square" lIns="0" tIns="0" rIns="0" bIns="0" anchor="t">
            <a:noAutofit/>
          </a:bodyPr>
          <a:lstStyle/>
          <a:p>
            <a:pPr algn="r">
              <a:lnSpc>
                <a:spcPct val="100000"/>
              </a:lnSpc>
            </a:pPr>
            <a:r>
              <a:rPr sz="1050" b="0" i="0">
                <a:solidFill>
                  <a:srgbClr val="4C3026"/>
                </a:solidFill>
                <a:latin typeface="Be Vietnam Pro"/>
                <a:ea typeface="Be Vietnam Pro"/>
                <a:cs typeface="Be Vietnam Pro"/>
              </a:rPr>
              <a:t>30 giây: mỗi dãy bàn chọn 1 nhóm, nêu 1 lý do.</a:t>
            </a:r>
          </a:p>
        </p:txBody>
      </p:sp>
      <p:sp>
        <p:nvSpPr>
          <p:cNvPr id="25" name="Reveal card"/>
          <p:cNvSpPr/>
          <p:nvPr/>
        </p:nvSpPr>
        <p:spPr>
          <a:xfrm>
            <a:off x="548640" y="4773168"/>
            <a:ext cx="11091672" cy="1481328"/>
          </a:xfrm>
          <a:prstGeom prst="roundRect">
            <a:avLst>
              <a:gd name="adj" fmla="val 6000"/>
            </a:avLst>
          </a:prstGeom>
          <a:solidFill>
            <a:srgbClr val="5B0808"/>
          </a:solidFill>
          <a:ln>
            <a:noFill/>
          </a:ln>
          <a:effectLst>
            <a:outerShdw blurRad="228600" dist="50800" dir="5400000" algn="t"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TextBox 25"/>
          <p:cNvSpPr txBox="1"/>
          <p:nvPr/>
        </p:nvSpPr>
        <p:spPr>
          <a:xfrm>
            <a:off x="822960" y="4864608"/>
            <a:ext cx="5120640" cy="274320"/>
          </a:xfrm>
          <a:prstGeom prst="rect">
            <a:avLst/>
          </a:prstGeom>
          <a:noFill/>
        </p:spPr>
        <p:txBody>
          <a:bodyPr wrap="square" lIns="0" tIns="0" rIns="0" bIns="0" anchor="t">
            <a:noAutofit/>
          </a:bodyPr>
          <a:lstStyle/>
          <a:p>
            <a:pPr algn="l"/>
            <a:r>
              <a:rPr sz="1000" b="1" i="0" spc="150">
                <a:solidFill>
                  <a:srgbClr val="D2AA50"/>
                </a:solidFill>
                <a:latin typeface="Be Vietnam Pro"/>
                <a:ea typeface="Be Vietnam Pro"/>
                <a:cs typeface="Be Vietnam Pro"/>
              </a:rPr>
              <a:t>GỢI Ý CỦA NHÓM: MỤC TIÊU Ở TẦM CAO HƠN</a:t>
            </a:r>
          </a:p>
        </p:txBody>
      </p:sp>
      <p:sp>
        <p:nvSpPr>
          <p:cNvPr id="27" name="TextBox 26"/>
          <p:cNvSpPr txBox="1"/>
          <p:nvPr/>
        </p:nvSpPr>
        <p:spPr>
          <a:xfrm>
            <a:off x="822960" y="5120640"/>
            <a:ext cx="5120640" cy="502920"/>
          </a:xfrm>
          <a:prstGeom prst="rect">
            <a:avLst/>
          </a:prstGeom>
          <a:noFill/>
        </p:spPr>
        <p:txBody>
          <a:bodyPr wrap="square" lIns="0" tIns="0" rIns="0" bIns="0" anchor="t">
            <a:noAutofit/>
          </a:bodyPr>
          <a:lstStyle/>
          <a:p>
            <a:pPr algn="l"/>
            <a:r>
              <a:rPr sz="2550" b="0" i="0">
                <a:solidFill>
                  <a:srgbClr val="FAF5E8"/>
                </a:solidFill>
                <a:latin typeface="Phudu ExtraBold"/>
                <a:ea typeface="Phudu ExtraBold"/>
                <a:cs typeface="Phudu ExtraBold"/>
              </a:rPr>
              <a:t>“Góc đọc xanh liên thế hệ” </a:t>
            </a:r>
            <a:r>
              <a:rPr sz="1200" b="0" i="1">
                <a:solidFill>
                  <a:srgbClr val="EFE3CE"/>
                </a:solidFill>
                <a:latin typeface="Be Vietnam Pro"/>
                <a:ea typeface="Be Vietnam Pro"/>
                <a:cs typeface="Be Vietnam Pro"/>
              </a:rPr>
              <a:t>(ví dụ)</a:t>
            </a:r>
          </a:p>
        </p:txBody>
      </p:sp>
      <p:sp>
        <p:nvSpPr>
          <p:cNvPr id="28" name="TextBox 27"/>
          <p:cNvSpPr txBox="1"/>
          <p:nvPr/>
        </p:nvSpPr>
        <p:spPr>
          <a:xfrm>
            <a:off x="822960" y="5605272"/>
            <a:ext cx="5120640" cy="603504"/>
          </a:xfrm>
          <a:prstGeom prst="rect">
            <a:avLst/>
          </a:prstGeom>
          <a:noFill/>
        </p:spPr>
        <p:txBody>
          <a:bodyPr wrap="square" lIns="0" tIns="0" rIns="0" bIns="0" anchor="t">
            <a:noAutofit/>
          </a:bodyPr>
          <a:lstStyle/>
          <a:p>
            <a:pPr algn="l">
              <a:lnSpc>
                <a:spcPct val="100000"/>
              </a:lnSpc>
            </a:pPr>
            <a:r>
              <a:rPr sz="1050" b="0" i="0">
                <a:solidFill>
                  <a:srgbClr val="EFE3CE"/>
                </a:solidFill>
                <a:latin typeface="Be Vietnam Pro"/>
                <a:ea typeface="Be Vietnam Pro"/>
                <a:cs typeface="Be Vietnam Pro"/>
              </a:rPr>
              <a:t>Ông bà neo đơn đọc sách cùng các em nhỏ khó khăn · kệ sách tái chế · bồn cây do lớp trồng · học liệu cho bạn thiếu điều kiện.</a:t>
            </a:r>
          </a:p>
        </p:txBody>
      </p:sp>
      <p:cxnSp>
        <p:nvCxnSpPr>
          <p:cNvPr id="29" name="Connector 28"/>
          <p:cNvCxnSpPr/>
          <p:nvPr/>
        </p:nvCxnSpPr>
        <p:spPr>
          <a:xfrm>
            <a:off x="6053328" y="4956048"/>
            <a:ext cx="0" cy="1115568"/>
          </a:xfrm>
          <a:prstGeom prst="line">
            <a:avLst/>
          </a:prstGeom>
          <a:ln w="9525">
            <a:solidFill>
              <a:srgbClr val="D2AA50">
                <a:alpha val="60000"/>
              </a:srgbClr>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263640" y="4864608"/>
            <a:ext cx="5212080" cy="1353312"/>
          </a:xfrm>
          <a:prstGeom prst="rect">
            <a:avLst/>
          </a:prstGeom>
          <a:noFill/>
        </p:spPr>
        <p:txBody>
          <a:bodyPr wrap="square" lIns="0" tIns="0" rIns="0" bIns="0" anchor="t">
            <a:noAutofit/>
          </a:bodyPr>
          <a:lstStyle/>
          <a:p>
            <a:pPr algn="l">
              <a:lnSpc>
                <a:spcPct val="102000"/>
              </a:lnSpc>
              <a:spcAft>
                <a:spcPts val="300"/>
              </a:spcAft>
            </a:pPr>
            <a:r>
              <a:rPr sz="1150" b="1" i="0">
                <a:solidFill>
                  <a:srgbClr val="D2AA50"/>
                </a:solidFill>
                <a:latin typeface="Be Vietnam Pro"/>
                <a:ea typeface="Be Vietnam Pro"/>
                <a:cs typeface="Be Vietnam Pro"/>
              </a:rPr>
              <a:t>Liên hệ lý luận: </a:t>
            </a:r>
            <a:r>
              <a:rPr sz="1150" b="0" i="0">
                <a:solidFill>
                  <a:srgbClr val="FAF5E8"/>
                </a:solidFill>
                <a:latin typeface="Be Vietnam Pro"/>
                <a:ea typeface="Be Vietnam Pro"/>
                <a:cs typeface="Be Vietnam Pro"/>
              </a:rPr>
              <a:t>thống nhất mục tiêu và lợi ích, giải quyết hài hòa lợi ích chung và lợi ích riêng; bàn bạc công khai theo tinh thần hiệp thương dân chủ để đi đến nhất trí.</a:t>
            </a:r>
          </a:p>
          <a:p>
            <a:pPr algn="l">
              <a:lnSpc>
                <a:spcPct val="102000"/>
              </a:lnSpc>
              <a:spcAft>
                <a:spcPts val="300"/>
              </a:spcAft>
            </a:pPr>
            <a:r>
              <a:rPr sz="1000" b="0" i="1">
                <a:solidFill>
                  <a:srgbClr val="EFE3CE"/>
                </a:solidFill>
                <a:latin typeface="Be Vietnam Pro"/>
                <a:ea typeface="Be Vietnam Pro"/>
                <a:cs typeface="Be Vietnam Pro"/>
              </a:rPr>
              <a:t>Hồ Chí Minh bàn về cách lãnh đạo: “…họ đem các ý kiến khác nhau so sánh. So đi sánh lại, sẽ lòi ra một ý kiến mà mọi người đều tán thành, hoặc số đông người tán thành.” </a:t>
            </a:r>
            <a:r>
              <a:rPr sz="850" b="0" i="0">
                <a:solidFill>
                  <a:srgbClr val="D2AA50"/>
                </a:solidFill>
                <a:latin typeface="Be Vietnam Pro"/>
                <a:ea typeface="Be Vietnam Pro"/>
                <a:cs typeface="Be Vietnam Pro"/>
              </a:rPr>
              <a:t>(Sửa đổi lối làm việc, 10-1947 · Toàn tập, t.5, tr.336)</a:t>
            </a:r>
          </a:p>
        </p:txBody>
      </p:sp>
      <p:sp>
        <p:nvSpPr>
          <p:cNvPr id="31" name="Tag VẬN DỤNG ĐƯƠNG ĐẠI"/>
          <p:cNvSpPr/>
          <p:nvPr/>
        </p:nvSpPr>
        <p:spPr>
          <a:xfrm>
            <a:off x="9625888" y="347472"/>
            <a:ext cx="2154326" cy="310896"/>
          </a:xfrm>
          <a:prstGeom prst="roundRect">
            <a:avLst>
              <a:gd name="adj" fmla="val 50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FFFFF"/>
                </a:solidFill>
                <a:latin typeface="Be Vietnam Pro"/>
              </a:rPr>
              <a:t>VẬN DỤNG ĐƯƠNG ĐẠI</a:t>
            </a:r>
          </a:p>
        </p:txBody>
      </p:sp>
      <p:sp>
        <p:nvSpPr>
          <p:cNvPr id="32" name="Tag DIỄN GIẢI CỦA NHÓM"/>
          <p:cNvSpPr/>
          <p:nvPr/>
        </p:nvSpPr>
        <p:spPr>
          <a:xfrm>
            <a:off x="7361834" y="347472"/>
            <a:ext cx="2154326" cy="310896"/>
          </a:xfrm>
          <a:prstGeom prst="roundRect">
            <a:avLst>
              <a:gd name="adj" fmla="val 50000"/>
            </a:avLst>
          </a:prstGeom>
          <a:noFill/>
          <a:ln w="15875">
            <a:solidFill>
              <a:srgbClr val="5B080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DIỄN GIẢI CỦA NHÓM</a:t>
            </a:r>
          </a:p>
        </p:txBody>
      </p:sp>
      <p:sp>
        <p:nvSpPr>
          <p:cNvPr id="33"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08</a:t>
            </a:r>
            <a:r>
              <a:rPr sz="950" b="0" i="0" spc="120">
                <a:solidFill>
                  <a:srgbClr val="6E564B"/>
                </a:solidFill>
                <a:latin typeface="Be Vietnam Pro"/>
                <a:ea typeface="Be Vietnam Pro"/>
                <a:cs typeface="Be Vietnam Pro"/>
              </a:rPr>
              <a:t>  /  16    ĐẠI ĐOÀN KẾT DÂN TỘC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6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6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6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600"/>
                                        <p:tgtEl>
                                          <p:spTgt spid="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600"/>
                                        <p:tgtEl>
                                          <p:spTgt spid="30"/>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5486400" cy="365760"/>
          </a:xfrm>
          <a:prstGeom prst="rect">
            <a:avLst/>
          </a:prstGeom>
          <a:noFill/>
        </p:spPr>
        <p:txBody>
          <a:bodyPr wrap="square" lIns="0" tIns="0" rIns="0" bIns="0" anchor="t">
            <a:noAutofit/>
          </a:bodyPr>
          <a:lstStyle/>
          <a:p>
            <a:pPr algn="l"/>
            <a:r>
              <a:rPr sz="1200" b="0" i="0" spc="300">
                <a:solidFill>
                  <a:srgbClr val="D2AA50"/>
                </a:solidFill>
                <a:latin typeface="Be Vietnam Pro SemiBold"/>
                <a:ea typeface="Be Vietnam Pro SemiBold"/>
                <a:cs typeface="Be Vietnam Pro SemiBold"/>
              </a:rPr>
              <a:t>PHÓNG TO QUY MÔ</a:t>
            </a:r>
          </a:p>
        </p:txBody>
      </p:sp>
      <p:sp>
        <p:nvSpPr>
          <p:cNvPr id="4" name="TextBox 3"/>
          <p:cNvSpPr txBox="1"/>
          <p:nvPr/>
        </p:nvSpPr>
        <p:spPr>
          <a:xfrm>
            <a:off x="548640" y="777240"/>
            <a:ext cx="8229600" cy="731520"/>
          </a:xfrm>
          <a:prstGeom prst="rect">
            <a:avLst/>
          </a:prstGeom>
          <a:noFill/>
        </p:spPr>
        <p:txBody>
          <a:bodyPr wrap="square" lIns="0" tIns="0" rIns="0" bIns="0" anchor="t">
            <a:noAutofit/>
          </a:bodyPr>
          <a:lstStyle/>
          <a:p>
            <a:pPr algn="l"/>
            <a:r>
              <a:rPr sz="3500" b="0" i="0">
                <a:solidFill>
                  <a:srgbClr val="FAF5E8"/>
                </a:solidFill>
                <a:latin typeface="Phudu ExtraBold"/>
                <a:ea typeface="Phudu ExtraBold"/>
                <a:cs typeface="Phudu ExtraBold"/>
              </a:rPr>
              <a:t>Từ một lớp học đến cả quốc gia</a:t>
            </a:r>
          </a:p>
        </p:txBody>
      </p:sp>
      <p:pic>
        <p:nvPicPr>
          <p:cNvPr id="5" name="Quy mo 1" descr="s9_1.jpg"/>
          <p:cNvPicPr>
            <a:picLocks noChangeAspect="1"/>
          </p:cNvPicPr>
          <p:nvPr/>
        </p:nvPicPr>
        <p:blipFill>
          <a:blip r:embed="rId4"/>
          <a:srcRect l="1136" r="1136"/>
          <a:stretch>
            <a:fillRect/>
          </a:stretch>
        </p:blipFill>
        <p:spPr>
          <a:xfrm>
            <a:off x="548640" y="2331720"/>
            <a:ext cx="1965960" cy="1554480"/>
          </a:xfrm>
          <a:prstGeom prst="rect">
            <a:avLst/>
          </a:prstGeom>
        </p:spPr>
      </p:pic>
      <p:sp>
        <p:nvSpPr>
          <p:cNvPr id="6" name="TextBox 5"/>
          <p:cNvSpPr txBox="1"/>
          <p:nvPr/>
        </p:nvSpPr>
        <p:spPr>
          <a:xfrm>
            <a:off x="548640" y="3959352"/>
            <a:ext cx="1965960" cy="365760"/>
          </a:xfrm>
          <a:prstGeom prst="rect">
            <a:avLst/>
          </a:prstGeom>
          <a:noFill/>
        </p:spPr>
        <p:txBody>
          <a:bodyPr wrap="square" lIns="0" tIns="0" rIns="0" bIns="0" anchor="t">
            <a:noAutofit/>
          </a:bodyPr>
          <a:lstStyle/>
          <a:p>
            <a:pPr algn="l"/>
            <a:r>
              <a:rPr sz="1800" b="0" i="0">
                <a:solidFill>
                  <a:srgbClr val="D2AA50"/>
                </a:solidFill>
                <a:latin typeface="Phudu ExtraBold"/>
                <a:ea typeface="Phudu ExtraBold"/>
                <a:cs typeface="Phudu ExtraBold"/>
              </a:rPr>
              <a:t>LỚP HỌC</a:t>
            </a:r>
          </a:p>
        </p:txBody>
      </p:sp>
      <p:sp>
        <p:nvSpPr>
          <p:cNvPr id="7" name="TextBox 6"/>
          <p:cNvSpPr txBox="1"/>
          <p:nvPr/>
        </p:nvSpPr>
        <p:spPr>
          <a:xfrm>
            <a:off x="548640" y="4297680"/>
            <a:ext cx="1965960" cy="548640"/>
          </a:xfrm>
          <a:prstGeom prst="rect">
            <a:avLst/>
          </a:prstGeom>
          <a:noFill/>
        </p:spPr>
        <p:txBody>
          <a:bodyPr wrap="square" lIns="0" tIns="0" rIns="0" bIns="0" anchor="t">
            <a:noAutofit/>
          </a:bodyPr>
          <a:lstStyle/>
          <a:p>
            <a:pPr algn="l">
              <a:lnSpc>
                <a:spcPct val="100000"/>
              </a:lnSpc>
            </a:pPr>
            <a:r>
              <a:rPr sz="1100" b="0" i="0">
                <a:solidFill>
                  <a:srgbClr val="EFE3CE"/>
                </a:solidFill>
                <a:latin typeface="Be Vietnam Pro"/>
                <a:ea typeface="Be Vietnam Pro"/>
                <a:cs typeface="Be Vietnam Pro"/>
              </a:rPr>
              <a:t>sở thích, cách làm việc</a:t>
            </a:r>
          </a:p>
        </p:txBody>
      </p:sp>
      <p:cxnSp>
        <p:nvCxnSpPr>
          <p:cNvPr id="8" name="Connector 7"/>
          <p:cNvCxnSpPr/>
          <p:nvPr/>
        </p:nvCxnSpPr>
        <p:spPr>
          <a:xfrm>
            <a:off x="2578608" y="3337560"/>
            <a:ext cx="118872" cy="0"/>
          </a:xfrm>
          <a:prstGeom prst="line">
            <a:avLst/>
          </a:prstGeom>
          <a:ln w="31750">
            <a:solidFill>
              <a:srgbClr val="D2AA5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 name="Quy mo 2" descr="s9_2.jpg"/>
          <p:cNvPicPr>
            <a:picLocks noChangeAspect="1"/>
          </p:cNvPicPr>
          <p:nvPr/>
        </p:nvPicPr>
        <p:blipFill>
          <a:blip r:embed="rId5"/>
          <a:srcRect l="943" r="943"/>
          <a:stretch>
            <a:fillRect/>
          </a:stretch>
        </p:blipFill>
        <p:spPr>
          <a:xfrm>
            <a:off x="2761488" y="2103120"/>
            <a:ext cx="2377440" cy="1783080"/>
          </a:xfrm>
          <a:prstGeom prst="rect">
            <a:avLst/>
          </a:prstGeom>
        </p:spPr>
      </p:pic>
      <p:sp>
        <p:nvSpPr>
          <p:cNvPr id="10" name="TextBox 9"/>
          <p:cNvSpPr txBox="1"/>
          <p:nvPr/>
        </p:nvSpPr>
        <p:spPr>
          <a:xfrm>
            <a:off x="2761488" y="3959352"/>
            <a:ext cx="2377440" cy="365760"/>
          </a:xfrm>
          <a:prstGeom prst="rect">
            <a:avLst/>
          </a:prstGeom>
          <a:noFill/>
        </p:spPr>
        <p:txBody>
          <a:bodyPr wrap="square" lIns="0" tIns="0" rIns="0" bIns="0" anchor="t">
            <a:noAutofit/>
          </a:bodyPr>
          <a:lstStyle/>
          <a:p>
            <a:pPr algn="l"/>
            <a:r>
              <a:rPr sz="1800" b="0" i="0">
                <a:solidFill>
                  <a:srgbClr val="D2AA50"/>
                </a:solidFill>
                <a:latin typeface="Phudu ExtraBold"/>
                <a:ea typeface="Phudu ExtraBold"/>
                <a:cs typeface="Phudu ExtraBold"/>
              </a:rPr>
              <a:t>TRƯỜNG</a:t>
            </a:r>
          </a:p>
        </p:txBody>
      </p:sp>
      <p:sp>
        <p:nvSpPr>
          <p:cNvPr id="11" name="TextBox 10"/>
          <p:cNvSpPr txBox="1"/>
          <p:nvPr/>
        </p:nvSpPr>
        <p:spPr>
          <a:xfrm>
            <a:off x="2761488" y="4297680"/>
            <a:ext cx="2377440" cy="548640"/>
          </a:xfrm>
          <a:prstGeom prst="rect">
            <a:avLst/>
          </a:prstGeom>
          <a:noFill/>
        </p:spPr>
        <p:txBody>
          <a:bodyPr wrap="square" lIns="0" tIns="0" rIns="0" bIns="0" anchor="t">
            <a:noAutofit/>
          </a:bodyPr>
          <a:lstStyle/>
          <a:p>
            <a:pPr algn="l">
              <a:lnSpc>
                <a:spcPct val="100000"/>
              </a:lnSpc>
            </a:pPr>
            <a:r>
              <a:rPr sz="1100" b="0" i="0">
                <a:solidFill>
                  <a:srgbClr val="EFE3CE"/>
                </a:solidFill>
                <a:latin typeface="Be Vietnam Pro"/>
                <a:ea typeface="Be Vietnam Pro"/>
                <a:cs typeface="Be Vietnam Pro"/>
              </a:rPr>
              <a:t>ngành học, quê quán, vùng miền</a:t>
            </a:r>
          </a:p>
        </p:txBody>
      </p:sp>
      <p:cxnSp>
        <p:nvCxnSpPr>
          <p:cNvPr id="12" name="Connector 11"/>
          <p:cNvCxnSpPr/>
          <p:nvPr/>
        </p:nvCxnSpPr>
        <p:spPr>
          <a:xfrm>
            <a:off x="5202936" y="3337560"/>
            <a:ext cx="118872" cy="0"/>
          </a:xfrm>
          <a:prstGeom prst="line">
            <a:avLst/>
          </a:prstGeom>
          <a:ln w="31750">
            <a:solidFill>
              <a:srgbClr val="D2AA5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3" name="Quy mo 3" descr="s9_3.jpg"/>
          <p:cNvPicPr>
            <a:picLocks noChangeAspect="1"/>
          </p:cNvPicPr>
          <p:nvPr/>
        </p:nvPicPr>
        <p:blipFill>
          <a:blip r:embed="rId6"/>
          <a:srcRect l="806" r="806"/>
          <a:stretch>
            <a:fillRect/>
          </a:stretch>
        </p:blipFill>
        <p:spPr>
          <a:xfrm>
            <a:off x="5385816" y="1874519"/>
            <a:ext cx="2788920" cy="2011680"/>
          </a:xfrm>
          <a:prstGeom prst="rect">
            <a:avLst/>
          </a:prstGeom>
        </p:spPr>
      </p:pic>
      <p:sp>
        <p:nvSpPr>
          <p:cNvPr id="14" name="TextBox 13"/>
          <p:cNvSpPr txBox="1"/>
          <p:nvPr/>
        </p:nvSpPr>
        <p:spPr>
          <a:xfrm>
            <a:off x="5385816" y="3959352"/>
            <a:ext cx="2788920" cy="365760"/>
          </a:xfrm>
          <a:prstGeom prst="rect">
            <a:avLst/>
          </a:prstGeom>
          <a:noFill/>
        </p:spPr>
        <p:txBody>
          <a:bodyPr wrap="square" lIns="0" tIns="0" rIns="0" bIns="0" anchor="t">
            <a:noAutofit/>
          </a:bodyPr>
          <a:lstStyle/>
          <a:p>
            <a:pPr algn="l"/>
            <a:r>
              <a:rPr sz="1800" b="0" i="0">
                <a:solidFill>
                  <a:srgbClr val="D2AA50"/>
                </a:solidFill>
                <a:latin typeface="Phudu ExtraBold"/>
                <a:ea typeface="Phudu ExtraBold"/>
                <a:cs typeface="Phudu ExtraBold"/>
              </a:rPr>
              <a:t>CỘNG ĐỒNG</a:t>
            </a:r>
          </a:p>
        </p:txBody>
      </p:sp>
      <p:sp>
        <p:nvSpPr>
          <p:cNvPr id="15" name="TextBox 14"/>
          <p:cNvSpPr txBox="1"/>
          <p:nvPr/>
        </p:nvSpPr>
        <p:spPr>
          <a:xfrm>
            <a:off x="5385816" y="4297680"/>
            <a:ext cx="2788920" cy="548640"/>
          </a:xfrm>
          <a:prstGeom prst="rect">
            <a:avLst/>
          </a:prstGeom>
          <a:noFill/>
        </p:spPr>
        <p:txBody>
          <a:bodyPr wrap="square" lIns="0" tIns="0" rIns="0" bIns="0" anchor="t">
            <a:noAutofit/>
          </a:bodyPr>
          <a:lstStyle/>
          <a:p>
            <a:pPr algn="l">
              <a:lnSpc>
                <a:spcPct val="100000"/>
              </a:lnSpc>
            </a:pPr>
            <a:r>
              <a:rPr sz="1100" b="0" i="0">
                <a:solidFill>
                  <a:srgbClr val="EFE3CE"/>
                </a:solidFill>
                <a:latin typeface="Be Vietnam Pro"/>
                <a:ea typeface="Be Vietnam Pro"/>
                <a:cs typeface="Be Vietnam Pro"/>
              </a:rPr>
              <a:t>thế hệ, nghề nghiệp, tín ngưỡng</a:t>
            </a:r>
          </a:p>
        </p:txBody>
      </p:sp>
      <p:cxnSp>
        <p:nvCxnSpPr>
          <p:cNvPr id="16" name="Connector 15"/>
          <p:cNvCxnSpPr/>
          <p:nvPr/>
        </p:nvCxnSpPr>
        <p:spPr>
          <a:xfrm>
            <a:off x="8238744" y="3337560"/>
            <a:ext cx="118872" cy="0"/>
          </a:xfrm>
          <a:prstGeom prst="line">
            <a:avLst/>
          </a:prstGeom>
          <a:ln w="31750">
            <a:solidFill>
              <a:srgbClr val="D2AA5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7" name="Quy mo 4" descr="s9_4.jpg"/>
          <p:cNvPicPr>
            <a:picLocks noChangeAspect="1"/>
          </p:cNvPicPr>
          <p:nvPr/>
        </p:nvPicPr>
        <p:blipFill>
          <a:blip r:embed="rId7"/>
          <a:srcRect l="704" r="704"/>
          <a:stretch>
            <a:fillRect/>
          </a:stretch>
        </p:blipFill>
        <p:spPr>
          <a:xfrm>
            <a:off x="8421624" y="1645920"/>
            <a:ext cx="3200400" cy="2240280"/>
          </a:xfrm>
          <a:prstGeom prst="rect">
            <a:avLst/>
          </a:prstGeom>
        </p:spPr>
      </p:pic>
      <p:sp>
        <p:nvSpPr>
          <p:cNvPr id="18" name="TextBox 17"/>
          <p:cNvSpPr txBox="1"/>
          <p:nvPr/>
        </p:nvSpPr>
        <p:spPr>
          <a:xfrm>
            <a:off x="8421624" y="3959352"/>
            <a:ext cx="3200400" cy="365760"/>
          </a:xfrm>
          <a:prstGeom prst="rect">
            <a:avLst/>
          </a:prstGeom>
          <a:noFill/>
        </p:spPr>
        <p:txBody>
          <a:bodyPr wrap="square" lIns="0" tIns="0" rIns="0" bIns="0" anchor="t">
            <a:noAutofit/>
          </a:bodyPr>
          <a:lstStyle/>
          <a:p>
            <a:pPr algn="l"/>
            <a:r>
              <a:rPr sz="1800" b="0" i="0">
                <a:solidFill>
                  <a:srgbClr val="D2AA50"/>
                </a:solidFill>
                <a:latin typeface="Phudu ExtraBold"/>
                <a:ea typeface="Phudu ExtraBold"/>
                <a:cs typeface="Phudu ExtraBold"/>
              </a:rPr>
              <a:t>QUỐC GIA</a:t>
            </a:r>
          </a:p>
        </p:txBody>
      </p:sp>
      <p:sp>
        <p:nvSpPr>
          <p:cNvPr id="19" name="TextBox 18"/>
          <p:cNvSpPr txBox="1"/>
          <p:nvPr/>
        </p:nvSpPr>
        <p:spPr>
          <a:xfrm>
            <a:off x="8421624" y="4297680"/>
            <a:ext cx="3200400" cy="548640"/>
          </a:xfrm>
          <a:prstGeom prst="rect">
            <a:avLst/>
          </a:prstGeom>
          <a:noFill/>
        </p:spPr>
        <p:txBody>
          <a:bodyPr wrap="square" lIns="0" tIns="0" rIns="0" bIns="0" anchor="t">
            <a:noAutofit/>
          </a:bodyPr>
          <a:lstStyle/>
          <a:p>
            <a:pPr algn="l">
              <a:lnSpc>
                <a:spcPct val="100000"/>
              </a:lnSpc>
            </a:pPr>
            <a:r>
              <a:rPr sz="1100" b="0" i="0">
                <a:solidFill>
                  <a:srgbClr val="EFE3CE"/>
                </a:solidFill>
                <a:latin typeface="Be Vietnam Pro"/>
                <a:ea typeface="Be Vietnam Pro"/>
                <a:cs typeface="Be Vietnam Pro"/>
              </a:rPr>
              <a:t>dân tộc, tôn giáo, giai tầng, lợi ích</a:t>
            </a:r>
          </a:p>
        </p:txBody>
      </p:sp>
      <p:sp>
        <p:nvSpPr>
          <p:cNvPr id="20" name="TextBox 19"/>
          <p:cNvSpPr txBox="1"/>
          <p:nvPr/>
        </p:nvSpPr>
        <p:spPr>
          <a:xfrm>
            <a:off x="548640" y="4846320"/>
            <a:ext cx="4937760" cy="1481328"/>
          </a:xfrm>
          <a:prstGeom prst="rect">
            <a:avLst/>
          </a:prstGeom>
          <a:noFill/>
        </p:spPr>
        <p:txBody>
          <a:bodyPr wrap="square" lIns="0" tIns="0" rIns="0" bIns="0" anchor="t">
            <a:noAutofit/>
          </a:bodyPr>
          <a:lstStyle/>
          <a:p>
            <a:pPr algn="l">
              <a:lnSpc>
                <a:spcPct val="105000"/>
              </a:lnSpc>
              <a:spcAft>
                <a:spcPts val="300"/>
              </a:spcAft>
            </a:pPr>
            <a:r>
              <a:rPr sz="1150" b="1" i="0">
                <a:solidFill>
                  <a:srgbClr val="FAF5E8"/>
                </a:solidFill>
                <a:latin typeface="Be Vietnam Pro"/>
                <a:ea typeface="Be Vietnam Pro"/>
                <a:cs typeface="Be Vietnam Pro"/>
              </a:rPr>
              <a:t>Quy mô càng lớn, khác biệt càng phức tạp.</a:t>
            </a:r>
          </a:p>
          <a:p>
            <a:pPr algn="l">
              <a:lnSpc>
                <a:spcPct val="105000"/>
              </a:lnSpc>
              <a:spcAft>
                <a:spcPts val="300"/>
              </a:spcAft>
            </a:pPr>
            <a:r>
              <a:rPr sz="1150" b="0" i="0">
                <a:solidFill>
                  <a:srgbClr val="EFE3CE"/>
                </a:solidFill>
                <a:latin typeface="Be Vietnam Pro"/>
                <a:ea typeface="Be Vietnam Pro"/>
                <a:cs typeface="Be Vietnam Pro"/>
              </a:rPr>
              <a:t>Vì vậy càng cần điểm tương đồng ở tầm cao hơn và một hình thức</a:t>
            </a:r>
            <a:br>
              <a:rPr sz="1250"/>
            </a:br>
            <a:r>
              <a:rPr sz="1150" b="0" i="0">
                <a:solidFill>
                  <a:srgbClr val="EFE3CE"/>
                </a:solidFill>
                <a:latin typeface="Be Vietnam Pro"/>
                <a:ea typeface="Be Vietnam Pro"/>
                <a:cs typeface="Be Vietnam Pro"/>
              </a:rPr>
              <a:t>tổ chức đủ rộng: Mặt trận dân tộc thống nhất do Đảng lãnh đạo.</a:t>
            </a:r>
          </a:p>
          <a:p>
            <a:pPr algn="l">
              <a:lnSpc>
                <a:spcPct val="105000"/>
              </a:lnSpc>
              <a:spcAft>
                <a:spcPts val="300"/>
              </a:spcAft>
            </a:pPr>
            <a:r>
              <a:rPr sz="1000" b="0" i="1">
                <a:solidFill>
                  <a:srgbClr val="D2AA50"/>
                </a:solidFill>
                <a:latin typeface="Be Vietnam Pro"/>
                <a:ea typeface="Be Vietnam Pro"/>
                <a:cs typeface="Be Vietnam Pro"/>
              </a:rPr>
              <a:t>NQ 23-NQ/TW (2003): “…lấy mục tiêu giữ vững độc lập, thống nhất của Tổ quốc, vì dân giàu, nước mạnh, xã hội công bằng, dân chủ, văn minh làm điểm tương đồng…”</a:t>
            </a:r>
          </a:p>
        </p:txBody>
      </p:sp>
      <p:sp>
        <p:nvSpPr>
          <p:cNvPr id="21" name="Rounded Rectangle 20"/>
          <p:cNvSpPr/>
          <p:nvPr/>
        </p:nvSpPr>
        <p:spPr>
          <a:xfrm>
            <a:off x="5623560" y="4956048"/>
            <a:ext cx="1938528" cy="1298448"/>
          </a:xfrm>
          <a:prstGeom prst="roundRect">
            <a:avLst>
              <a:gd name="adj" fmla="val 6000"/>
            </a:avLst>
          </a:prstGeom>
          <a:solidFill>
            <a:srgbClr val="FAF5E8">
              <a:alpha val="7000"/>
            </a:srgbClr>
          </a:solidFill>
          <a:ln w="9525">
            <a:solidFill>
              <a:srgbClr val="D2AA50">
                <a:alpha val="60000"/>
              </a:srgb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TextBox 21"/>
          <p:cNvSpPr txBox="1"/>
          <p:nvPr/>
        </p:nvSpPr>
        <p:spPr>
          <a:xfrm>
            <a:off x="5760720" y="5029200"/>
            <a:ext cx="1664208" cy="457200"/>
          </a:xfrm>
          <a:prstGeom prst="rect">
            <a:avLst/>
          </a:prstGeom>
          <a:noFill/>
        </p:spPr>
        <p:txBody>
          <a:bodyPr wrap="square" lIns="0" tIns="0" rIns="0" bIns="0" anchor="t">
            <a:noAutofit/>
          </a:bodyPr>
          <a:lstStyle/>
          <a:p>
            <a:pPr algn="l"/>
            <a:r>
              <a:rPr sz="1750" b="0" i="0">
                <a:solidFill>
                  <a:srgbClr val="D2AA50"/>
                </a:solidFill>
                <a:latin typeface="Be Vietnam Pro SemiBold"/>
                <a:ea typeface="Be Vietnam Pro SemiBold"/>
                <a:cs typeface="Be Vietnam Pro SemiBold"/>
              </a:rPr>
              <a:t>334.234</a:t>
            </a:r>
          </a:p>
        </p:txBody>
      </p:sp>
      <p:sp>
        <p:nvSpPr>
          <p:cNvPr id="23" name="TextBox 22"/>
          <p:cNvSpPr txBox="1"/>
          <p:nvPr/>
        </p:nvSpPr>
        <p:spPr>
          <a:xfrm>
            <a:off x="5760720" y="5468112"/>
            <a:ext cx="1664208" cy="768096"/>
          </a:xfrm>
          <a:prstGeom prst="rect">
            <a:avLst/>
          </a:prstGeom>
          <a:noFill/>
        </p:spPr>
        <p:txBody>
          <a:bodyPr wrap="square" lIns="0" tIns="0" rIns="0" bIns="0" anchor="t">
            <a:noAutofit/>
          </a:bodyPr>
          <a:lstStyle/>
          <a:p>
            <a:pPr algn="l">
              <a:lnSpc>
                <a:spcPct val="100000"/>
              </a:lnSpc>
            </a:pPr>
            <a:r>
              <a:rPr sz="950" b="0" i="0">
                <a:solidFill>
                  <a:srgbClr val="EFE3CE"/>
                </a:solidFill>
                <a:latin typeface="Be Vietnam Pro"/>
                <a:ea typeface="Be Vietnam Pro"/>
                <a:cs typeface="Be Vietnam Pro"/>
              </a:rPr>
              <a:t>căn nhà xây mới, sửa chữa; cả nước hoàn thành xóa nhà tạm, nhà dột nát (9/2025)</a:t>
            </a:r>
          </a:p>
        </p:txBody>
      </p:sp>
      <p:sp>
        <p:nvSpPr>
          <p:cNvPr id="24" name="Rounded Rectangle 23"/>
          <p:cNvSpPr/>
          <p:nvPr/>
        </p:nvSpPr>
        <p:spPr>
          <a:xfrm>
            <a:off x="7662672" y="4956048"/>
            <a:ext cx="1938528" cy="1298448"/>
          </a:xfrm>
          <a:prstGeom prst="roundRect">
            <a:avLst>
              <a:gd name="adj" fmla="val 6000"/>
            </a:avLst>
          </a:prstGeom>
          <a:solidFill>
            <a:srgbClr val="FAF5E8">
              <a:alpha val="7000"/>
            </a:srgbClr>
          </a:solidFill>
          <a:ln w="9525">
            <a:solidFill>
              <a:srgbClr val="D2AA50">
                <a:alpha val="60000"/>
              </a:srgb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TextBox 24"/>
          <p:cNvSpPr txBox="1"/>
          <p:nvPr/>
        </p:nvSpPr>
        <p:spPr>
          <a:xfrm>
            <a:off x="7799832" y="5029200"/>
            <a:ext cx="1664208" cy="457200"/>
          </a:xfrm>
          <a:prstGeom prst="rect">
            <a:avLst/>
          </a:prstGeom>
          <a:noFill/>
        </p:spPr>
        <p:txBody>
          <a:bodyPr wrap="square" lIns="0" tIns="0" rIns="0" bIns="0" anchor="t">
            <a:noAutofit/>
          </a:bodyPr>
          <a:lstStyle/>
          <a:p>
            <a:pPr algn="l"/>
            <a:r>
              <a:rPr sz="1750" b="0" i="0">
                <a:solidFill>
                  <a:srgbClr val="D2AA50"/>
                </a:solidFill>
                <a:latin typeface="Be Vietnam Pro SemiBold"/>
                <a:ea typeface="Be Vietnam Pro SemiBold"/>
                <a:cs typeface="Be Vietnam Pro SemiBold"/>
              </a:rPr>
              <a:t>&gt; 2.200 tỷ</a:t>
            </a:r>
          </a:p>
        </p:txBody>
      </p:sp>
      <p:sp>
        <p:nvSpPr>
          <p:cNvPr id="26" name="TextBox 25"/>
          <p:cNvSpPr txBox="1"/>
          <p:nvPr/>
        </p:nvSpPr>
        <p:spPr>
          <a:xfrm>
            <a:off x="7799832" y="5468112"/>
            <a:ext cx="1664208" cy="768096"/>
          </a:xfrm>
          <a:prstGeom prst="rect">
            <a:avLst/>
          </a:prstGeom>
          <a:noFill/>
        </p:spPr>
        <p:txBody>
          <a:bodyPr wrap="square" lIns="0" tIns="0" rIns="0" bIns="0" anchor="t">
            <a:noAutofit/>
          </a:bodyPr>
          <a:lstStyle/>
          <a:p>
            <a:pPr algn="l">
              <a:lnSpc>
                <a:spcPct val="100000"/>
              </a:lnSpc>
            </a:pPr>
            <a:r>
              <a:rPr sz="950" b="0" i="0">
                <a:solidFill>
                  <a:srgbClr val="EFE3CE"/>
                </a:solidFill>
                <a:latin typeface="Be Vietnam Pro"/>
                <a:ea typeface="Be Vietnam Pro"/>
                <a:cs typeface="Be Vietnam Pro"/>
              </a:rPr>
              <a:t>đồng ủng hộ vùng bão Yagi qua Ban Vận động Cứu trợ Trung ương (29/11/2024)</a:t>
            </a:r>
          </a:p>
        </p:txBody>
      </p:sp>
      <p:sp>
        <p:nvSpPr>
          <p:cNvPr id="27" name="Rounded Rectangle 26"/>
          <p:cNvSpPr/>
          <p:nvPr/>
        </p:nvSpPr>
        <p:spPr>
          <a:xfrm>
            <a:off x="9701784" y="4956048"/>
            <a:ext cx="1938528" cy="1298448"/>
          </a:xfrm>
          <a:prstGeom prst="roundRect">
            <a:avLst>
              <a:gd name="adj" fmla="val 6000"/>
            </a:avLst>
          </a:prstGeom>
          <a:solidFill>
            <a:srgbClr val="FAF5E8">
              <a:alpha val="7000"/>
            </a:srgbClr>
          </a:solidFill>
          <a:ln w="9525">
            <a:solidFill>
              <a:srgbClr val="D2AA50">
                <a:alpha val="60000"/>
              </a:srgb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TextBox 27"/>
          <p:cNvSpPr txBox="1"/>
          <p:nvPr/>
        </p:nvSpPr>
        <p:spPr>
          <a:xfrm>
            <a:off x="9838944" y="5029200"/>
            <a:ext cx="1664208" cy="457200"/>
          </a:xfrm>
          <a:prstGeom prst="rect">
            <a:avLst/>
          </a:prstGeom>
          <a:noFill/>
        </p:spPr>
        <p:txBody>
          <a:bodyPr wrap="square" lIns="0" tIns="0" rIns="0" bIns="0" anchor="t">
            <a:noAutofit/>
          </a:bodyPr>
          <a:lstStyle/>
          <a:p>
            <a:pPr algn="l"/>
            <a:r>
              <a:rPr sz="1750" b="0" i="0">
                <a:solidFill>
                  <a:srgbClr val="D2AA50"/>
                </a:solidFill>
                <a:latin typeface="Be Vietnam Pro SemiBold"/>
                <a:ea typeface="Be Vietnam Pro SemiBold"/>
                <a:cs typeface="Be Vietnam Pro SemiBold"/>
              </a:rPr>
              <a:t>2035</a:t>
            </a:r>
          </a:p>
        </p:txBody>
      </p:sp>
      <p:sp>
        <p:nvSpPr>
          <p:cNvPr id="29" name="TextBox 28"/>
          <p:cNvSpPr txBox="1"/>
          <p:nvPr/>
        </p:nvSpPr>
        <p:spPr>
          <a:xfrm>
            <a:off x="9838944" y="5468112"/>
            <a:ext cx="1664208" cy="768096"/>
          </a:xfrm>
          <a:prstGeom prst="rect">
            <a:avLst/>
          </a:prstGeom>
          <a:noFill/>
        </p:spPr>
        <p:txBody>
          <a:bodyPr wrap="square" lIns="0" tIns="0" rIns="0" bIns="0" anchor="t">
            <a:noAutofit/>
          </a:bodyPr>
          <a:lstStyle/>
          <a:p>
            <a:pPr algn="l">
              <a:lnSpc>
                <a:spcPct val="100000"/>
              </a:lnSpc>
            </a:pPr>
            <a:r>
              <a:rPr sz="950" b="0" i="0">
                <a:solidFill>
                  <a:srgbClr val="EFE3CE"/>
                </a:solidFill>
                <a:latin typeface="Be Vietnam Pro"/>
                <a:ea typeface="Be Vietnam Pro"/>
                <a:cs typeface="Be Vietnam Pro"/>
              </a:rPr>
              <a:t>Đại hội XIV (1/2026):</a:t>
            </a:r>
            <a:br>
              <a:rPr sz="1000"/>
            </a:br>
            <a:r>
              <a:rPr sz="950" b="0" i="0">
                <a:solidFill>
                  <a:srgbClr val="EFE3CE"/>
                </a:solidFill>
                <a:latin typeface="Be Vietnam Pro"/>
                <a:ea typeface="Be Vietnam Pro"/>
                <a:cs typeface="Be Vietnam Pro"/>
              </a:rPr>
              <a:t>xây dựng, triển khai</a:t>
            </a:r>
            <a:br>
              <a:rPr sz="1000"/>
            </a:br>
            <a:r>
              <a:rPr sz="950" b="0" i="0">
                <a:solidFill>
                  <a:srgbClr val="EFE3CE"/>
                </a:solidFill>
                <a:latin typeface="Be Vietnam Pro"/>
                <a:ea typeface="Be Vietnam Pro"/>
                <a:cs typeface="Be Vietnam Pro"/>
              </a:rPr>
              <a:t>Chiến lược đại đoàn kết</a:t>
            </a:r>
            <a:br>
              <a:rPr sz="1000"/>
            </a:br>
            <a:r>
              <a:rPr sz="950" b="0" i="0">
                <a:solidFill>
                  <a:srgbClr val="EFE3CE"/>
                </a:solidFill>
                <a:latin typeface="Be Vietnam Pro"/>
                <a:ea typeface="Be Vietnam Pro"/>
                <a:cs typeface="Be Vietnam Pro"/>
              </a:rPr>
              <a:t>toàn dân tộc đến 2035</a:t>
            </a:r>
          </a:p>
        </p:txBody>
      </p:sp>
      <p:sp>
        <p:nvSpPr>
          <p:cNvPr id="30" name="Tag VẬN DỤNG ĐƯƠNG ĐẠI"/>
          <p:cNvSpPr/>
          <p:nvPr/>
        </p:nvSpPr>
        <p:spPr>
          <a:xfrm>
            <a:off x="9625888" y="347472"/>
            <a:ext cx="2154326" cy="310896"/>
          </a:xfrm>
          <a:prstGeom prst="roundRect">
            <a:avLst>
              <a:gd name="adj" fmla="val 50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FFFFF"/>
                </a:solidFill>
                <a:latin typeface="Be Vietnam Pro"/>
              </a:rPr>
              <a:t>VẬN DỤNG ĐƯƠNG ĐẠI</a:t>
            </a:r>
          </a:p>
        </p:txBody>
      </p:sp>
      <p:sp>
        <p:nvSpPr>
          <p:cNvPr id="31" name="Tag DIỄN GIẢI CỦA NHÓM"/>
          <p:cNvSpPr/>
          <p:nvPr/>
        </p:nvSpPr>
        <p:spPr>
          <a:xfrm>
            <a:off x="7361834" y="347472"/>
            <a:ext cx="2154326" cy="310896"/>
          </a:xfrm>
          <a:prstGeom prst="roundRect">
            <a:avLst>
              <a:gd name="adj" fmla="val 50000"/>
            </a:avLst>
          </a:prstGeom>
          <a:noFill/>
          <a:ln w="15875">
            <a:solidFill>
              <a:srgbClr val="FAF5E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AF5E8"/>
                </a:solidFill>
                <a:latin typeface="Be Vietnam Pro"/>
              </a:rPr>
              <a:t>DIỄN GIẢI CỦA NHÓM</a:t>
            </a:r>
          </a:p>
        </p:txBody>
      </p:sp>
      <p:sp>
        <p:nvSpPr>
          <p:cNvPr id="32"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D2AA50"/>
                </a:solidFill>
                <a:latin typeface="Be Vietnam Pro"/>
                <a:ea typeface="Be Vietnam Pro"/>
                <a:cs typeface="Be Vietnam Pro"/>
              </a:rPr>
              <a:t>09</a:t>
            </a:r>
            <a:r>
              <a:rPr sz="950" b="0" i="0" spc="120">
                <a:solidFill>
                  <a:srgbClr val="EFE3CE"/>
                </a:solidFill>
                <a:latin typeface="Be Vietnam Pro"/>
                <a:ea typeface="Be Vietnam Pro"/>
                <a:cs typeface="Be Vietnam Pro"/>
              </a:rPr>
              <a:t>  /  16    ĐẠI ĐOÀN KẾT DÂN TỘC</a:t>
            </a:r>
          </a:p>
        </p:txBody>
      </p:sp>
      <p:sp>
        <p:nvSpPr>
          <p:cNvPr id="33" name="Source"/>
          <p:cNvSpPr txBox="1"/>
          <p:nvPr/>
        </p:nvSpPr>
        <p:spPr>
          <a:xfrm>
            <a:off x="4419295" y="6355080"/>
            <a:ext cx="7315200" cy="310896"/>
          </a:xfrm>
          <a:prstGeom prst="rect">
            <a:avLst/>
          </a:prstGeom>
          <a:noFill/>
        </p:spPr>
        <p:txBody>
          <a:bodyPr wrap="square" lIns="0" tIns="0" rIns="0" bIns="0" anchor="t">
            <a:noAutofit/>
          </a:bodyPr>
          <a:lstStyle/>
          <a:p>
            <a:pPr algn="r"/>
            <a:r>
              <a:rPr sz="950" b="0" i="1">
                <a:solidFill>
                  <a:srgbClr val="EFE3CE"/>
                </a:solidFill>
                <a:latin typeface="Be Vietnam Pro"/>
                <a:ea typeface="Be Vietnam Pro"/>
                <a:cs typeface="Be Vietnam Pro"/>
              </a:rPr>
              <a:t>Nguồn: mattran.org.vn (29/11/2024; 31/12/2025) · Báo cáo chính trị ĐH XIV, NQ 23-NQ/TW — tulieuvankien.dangcongsan.vn</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5852160" cy="365760"/>
          </a:xfrm>
          <a:prstGeom prst="rect">
            <a:avLst/>
          </a:prstGeom>
          <a:noFill/>
        </p:spPr>
        <p:txBody>
          <a:bodyPr wrap="square" lIns="0" tIns="0" rIns="0" bIns="0" anchor="t">
            <a:noAutofit/>
          </a:bodyPr>
          <a:lstStyle/>
          <a:p>
            <a:pPr algn="l"/>
            <a:r>
              <a:rPr sz="1200" b="0" i="0" spc="300">
                <a:solidFill>
                  <a:srgbClr val="9C1214"/>
                </a:solidFill>
                <a:latin typeface="Be Vietnam Pro SemiBold"/>
                <a:ea typeface="Be Vietnam Pro SemiBold"/>
                <a:cs typeface="Be Vietnam Pro SemiBold"/>
              </a:rPr>
              <a:t>THÍ NGHIỆM TƯ DUY</a:t>
            </a:r>
          </a:p>
        </p:txBody>
      </p:sp>
      <p:sp>
        <p:nvSpPr>
          <p:cNvPr id="4" name="TextBox 3"/>
          <p:cNvSpPr txBox="1"/>
          <p:nvPr/>
        </p:nvSpPr>
        <p:spPr>
          <a:xfrm>
            <a:off x="548640" y="804672"/>
            <a:ext cx="6035040" cy="1463040"/>
          </a:xfrm>
          <a:prstGeom prst="rect">
            <a:avLst/>
          </a:prstGeom>
          <a:noFill/>
        </p:spPr>
        <p:txBody>
          <a:bodyPr wrap="square" lIns="0" tIns="0" rIns="0" bIns="0" anchor="t">
            <a:noAutofit/>
          </a:bodyPr>
          <a:lstStyle/>
          <a:p>
            <a:pPr algn="l">
              <a:lnSpc>
                <a:spcPct val="98000"/>
              </a:lnSpc>
            </a:pPr>
            <a:r>
              <a:rPr sz="3200" b="0" i="0">
                <a:solidFill>
                  <a:srgbClr val="5B0808"/>
                </a:solidFill>
                <a:latin typeface="Phudu ExtraBold"/>
                <a:ea typeface="Phudu ExtraBold"/>
                <a:cs typeface="Phudu ExtraBold"/>
              </a:rPr>
              <a:t>ĐẠI ĐOÀN KẾT</a:t>
            </a:r>
          </a:p>
          <a:p>
            <a:pPr algn="l">
              <a:lnSpc>
                <a:spcPct val="98000"/>
              </a:lnSpc>
            </a:pPr>
            <a:r>
              <a:rPr sz="3200" b="0" i="0">
                <a:solidFill>
                  <a:srgbClr val="5B0808"/>
                </a:solidFill>
                <a:latin typeface="Phudu ExtraBold"/>
                <a:ea typeface="Phudu ExtraBold"/>
                <a:cs typeface="Phudu ExtraBold"/>
              </a:rPr>
              <a:t>KHI MỖI NGƯỜI MỘT “FEED”?</a:t>
            </a:r>
          </a:p>
        </p:txBody>
      </p:sp>
      <p:sp>
        <p:nvSpPr>
          <p:cNvPr id="5" name="TextBox 4"/>
          <p:cNvSpPr txBox="1"/>
          <p:nvPr/>
        </p:nvSpPr>
        <p:spPr>
          <a:xfrm>
            <a:off x="548640" y="2011680"/>
            <a:ext cx="6080760" cy="1188720"/>
          </a:xfrm>
          <a:prstGeom prst="rect">
            <a:avLst/>
          </a:prstGeom>
          <a:noFill/>
        </p:spPr>
        <p:txBody>
          <a:bodyPr wrap="square" lIns="0" tIns="0" rIns="0" bIns="0" anchor="t">
            <a:noAutofit/>
          </a:bodyPr>
          <a:lstStyle/>
          <a:p>
            <a:pPr algn="l">
              <a:lnSpc>
                <a:spcPct val="105000"/>
              </a:lnSpc>
            </a:pPr>
            <a:r>
              <a:rPr sz="1750" b="0" i="1">
                <a:solidFill>
                  <a:srgbClr val="4C3026"/>
                </a:solidFill>
                <a:latin typeface="Be Vietnam Pro"/>
                <a:ea typeface="Be Vietnam Pro"/>
                <a:cs typeface="Be Vietnam Pro"/>
              </a:rPr>
              <a:t>Nếu mỗi người tiếp nhận một luồng thông tin khác nhau,</a:t>
            </a:r>
            <a:br>
              <a:rPr sz="1900"/>
            </a:br>
            <a:r>
              <a:rPr sz="1750" b="0" i="1">
                <a:solidFill>
                  <a:srgbClr val="4C3026"/>
                </a:solidFill>
                <a:latin typeface="Be Vietnam Pro"/>
                <a:ea typeface="Be Vietnam Pro"/>
                <a:cs typeface="Be Vietnam Pro"/>
              </a:rPr>
              <a:t>việc nhận ra “điểm chung” có khó hơn không?</a:t>
            </a:r>
          </a:p>
        </p:txBody>
      </p:sp>
      <p:sp>
        <p:nvSpPr>
          <p:cNvPr id="6" name="Oval 5"/>
          <p:cNvSpPr/>
          <p:nvPr/>
        </p:nvSpPr>
        <p:spPr>
          <a:xfrm>
            <a:off x="548640" y="3310128"/>
            <a:ext cx="420624" cy="420624"/>
          </a:xfrm>
          <a:prstGeom prst="ellipse">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TextBox 6"/>
          <p:cNvSpPr txBox="1"/>
          <p:nvPr/>
        </p:nvSpPr>
        <p:spPr>
          <a:xfrm>
            <a:off x="548640" y="3310128"/>
            <a:ext cx="420624" cy="420624"/>
          </a:xfrm>
          <a:prstGeom prst="rect">
            <a:avLst/>
          </a:prstGeom>
          <a:noFill/>
        </p:spPr>
        <p:txBody>
          <a:bodyPr wrap="square" lIns="0" tIns="0" rIns="0" bIns="0" anchor="ctr">
            <a:noAutofit/>
          </a:bodyPr>
          <a:lstStyle/>
          <a:p>
            <a:pPr algn="ctr"/>
            <a:r>
              <a:rPr sz="1500" b="0" i="0">
                <a:solidFill>
                  <a:srgbClr val="D2AA50"/>
                </a:solidFill>
                <a:latin typeface="Be Vietnam Pro SemiBold"/>
                <a:ea typeface="Be Vietnam Pro SemiBold"/>
                <a:cs typeface="Be Vietnam Pro SemiBold"/>
              </a:rPr>
              <a:t>1</a:t>
            </a:r>
          </a:p>
        </p:txBody>
      </p:sp>
      <p:sp>
        <p:nvSpPr>
          <p:cNvPr id="8" name="TextBox 7"/>
          <p:cNvSpPr txBox="1"/>
          <p:nvPr/>
        </p:nvSpPr>
        <p:spPr>
          <a:xfrm>
            <a:off x="1143000" y="3273552"/>
            <a:ext cx="5120640" cy="685800"/>
          </a:xfrm>
          <a:prstGeom prst="rect">
            <a:avLst/>
          </a:prstGeom>
          <a:noFill/>
        </p:spPr>
        <p:txBody>
          <a:bodyPr wrap="square" lIns="0" tIns="0" rIns="0" bIns="0" anchor="t">
            <a:noAutofit/>
          </a:bodyPr>
          <a:lstStyle/>
          <a:p>
            <a:pPr algn="l">
              <a:lnSpc>
                <a:spcPct val="100000"/>
              </a:lnSpc>
            </a:pPr>
            <a:r>
              <a:rPr sz="1550" b="1" i="0">
                <a:solidFill>
                  <a:srgbClr val="2A1712"/>
                </a:solidFill>
                <a:latin typeface="Be Vietnam Pro"/>
                <a:ea typeface="Be Vietnam Pro"/>
                <a:cs typeface="Be Vietnam Pro"/>
              </a:rPr>
              <a:t>Lắng nghe trước khi phản hồi</a:t>
            </a:r>
          </a:p>
          <a:p>
            <a:pPr algn="l">
              <a:lnSpc>
                <a:spcPct val="100000"/>
              </a:lnSpc>
            </a:pPr>
            <a:r>
              <a:rPr sz="1250" b="0" i="0">
                <a:solidFill>
                  <a:srgbClr val="6E564B"/>
                </a:solidFill>
                <a:latin typeface="Segoe UI"/>
                <a:ea typeface="Segoe UI"/>
                <a:cs typeface="Segoe UI"/>
              </a:rPr>
              <a:t>↔</a:t>
            </a:r>
            <a:r>
              <a:rPr sz="1150" b="0" i="0">
                <a:solidFill>
                  <a:srgbClr val="6E564B"/>
                </a:solidFill>
                <a:latin typeface="Be Vietnam Pro"/>
                <a:ea typeface="Be Vietnam Pro"/>
                <a:cs typeface="Be Vietnam Pro"/>
              </a:rPr>
              <a:t> khoan dung, độ lượng với con người</a:t>
            </a:r>
          </a:p>
        </p:txBody>
      </p:sp>
      <p:sp>
        <p:nvSpPr>
          <p:cNvPr id="9" name="Oval 8"/>
          <p:cNvSpPr/>
          <p:nvPr/>
        </p:nvSpPr>
        <p:spPr>
          <a:xfrm>
            <a:off x="548640" y="4059936"/>
            <a:ext cx="420624" cy="420624"/>
          </a:xfrm>
          <a:prstGeom prst="ellipse">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TextBox 9"/>
          <p:cNvSpPr txBox="1"/>
          <p:nvPr/>
        </p:nvSpPr>
        <p:spPr>
          <a:xfrm>
            <a:off x="548640" y="4059936"/>
            <a:ext cx="420624" cy="420624"/>
          </a:xfrm>
          <a:prstGeom prst="rect">
            <a:avLst/>
          </a:prstGeom>
          <a:noFill/>
        </p:spPr>
        <p:txBody>
          <a:bodyPr wrap="square" lIns="0" tIns="0" rIns="0" bIns="0" anchor="ctr">
            <a:noAutofit/>
          </a:bodyPr>
          <a:lstStyle/>
          <a:p>
            <a:pPr algn="ctr"/>
            <a:r>
              <a:rPr sz="1500" b="0" i="0">
                <a:solidFill>
                  <a:srgbClr val="D2AA50"/>
                </a:solidFill>
                <a:latin typeface="Be Vietnam Pro SemiBold"/>
                <a:ea typeface="Be Vietnam Pro SemiBold"/>
                <a:cs typeface="Be Vietnam Pro SemiBold"/>
              </a:rPr>
              <a:t>2</a:t>
            </a:r>
          </a:p>
        </p:txBody>
      </p:sp>
      <p:sp>
        <p:nvSpPr>
          <p:cNvPr id="11" name="TextBox 10"/>
          <p:cNvSpPr txBox="1"/>
          <p:nvPr/>
        </p:nvSpPr>
        <p:spPr>
          <a:xfrm>
            <a:off x="1143000" y="4023360"/>
            <a:ext cx="5120640" cy="685800"/>
          </a:xfrm>
          <a:prstGeom prst="rect">
            <a:avLst/>
          </a:prstGeom>
          <a:noFill/>
        </p:spPr>
        <p:txBody>
          <a:bodyPr wrap="square" lIns="0" tIns="0" rIns="0" bIns="0" anchor="t">
            <a:noAutofit/>
          </a:bodyPr>
          <a:lstStyle/>
          <a:p>
            <a:pPr algn="l">
              <a:lnSpc>
                <a:spcPct val="100000"/>
              </a:lnSpc>
            </a:pPr>
            <a:r>
              <a:rPr sz="1550" b="1" i="0">
                <a:solidFill>
                  <a:srgbClr val="2A1712"/>
                </a:solidFill>
                <a:latin typeface="Be Vietnam Pro"/>
                <a:ea typeface="Be Vietnam Pro"/>
                <a:cs typeface="Be Vietnam Pro"/>
              </a:rPr>
              <a:t>Tranh luận có văn hóa, để tìm điểm chung</a:t>
            </a:r>
          </a:p>
          <a:p>
            <a:pPr algn="l">
              <a:lnSpc>
                <a:spcPct val="100000"/>
              </a:lnSpc>
            </a:pPr>
            <a:r>
              <a:rPr sz="1250" b="0" i="0">
                <a:solidFill>
                  <a:srgbClr val="6E564B"/>
                </a:solidFill>
                <a:latin typeface="Segoe UI"/>
                <a:ea typeface="Segoe UI"/>
                <a:cs typeface="Segoe UI"/>
              </a:rPr>
              <a:t>↔</a:t>
            </a:r>
            <a:r>
              <a:rPr sz="1150" b="0" i="0">
                <a:solidFill>
                  <a:srgbClr val="6E564B"/>
                </a:solidFill>
                <a:latin typeface="Be Vietnam Pro"/>
                <a:ea typeface="Be Vietnam Pro"/>
                <a:cs typeface="Be Vietnam Pro"/>
              </a:rPr>
              <a:t> tinh thần hiệp thương dân chủ: bàn bạc để đi đến nhất trí</a:t>
            </a:r>
          </a:p>
        </p:txBody>
      </p:sp>
      <p:sp>
        <p:nvSpPr>
          <p:cNvPr id="12" name="Oval 11"/>
          <p:cNvSpPr/>
          <p:nvPr/>
        </p:nvSpPr>
        <p:spPr>
          <a:xfrm>
            <a:off x="548640" y="4809744"/>
            <a:ext cx="420624" cy="420624"/>
          </a:xfrm>
          <a:prstGeom prst="ellipse">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TextBox 12"/>
          <p:cNvSpPr txBox="1"/>
          <p:nvPr/>
        </p:nvSpPr>
        <p:spPr>
          <a:xfrm>
            <a:off x="548640" y="4809744"/>
            <a:ext cx="420624" cy="420624"/>
          </a:xfrm>
          <a:prstGeom prst="rect">
            <a:avLst/>
          </a:prstGeom>
          <a:noFill/>
        </p:spPr>
        <p:txBody>
          <a:bodyPr wrap="square" lIns="0" tIns="0" rIns="0" bIns="0" anchor="ctr">
            <a:noAutofit/>
          </a:bodyPr>
          <a:lstStyle/>
          <a:p>
            <a:pPr algn="ctr"/>
            <a:r>
              <a:rPr sz="1500" b="0" i="0">
                <a:solidFill>
                  <a:srgbClr val="D2AA50"/>
                </a:solidFill>
                <a:latin typeface="Be Vietnam Pro SemiBold"/>
                <a:ea typeface="Be Vietnam Pro SemiBold"/>
                <a:cs typeface="Be Vietnam Pro SemiBold"/>
              </a:rPr>
              <a:t>3</a:t>
            </a:r>
          </a:p>
        </p:txBody>
      </p:sp>
      <p:sp>
        <p:nvSpPr>
          <p:cNvPr id="14" name="TextBox 13"/>
          <p:cNvSpPr txBox="1"/>
          <p:nvPr/>
        </p:nvSpPr>
        <p:spPr>
          <a:xfrm>
            <a:off x="1143000" y="4773168"/>
            <a:ext cx="5120640" cy="685800"/>
          </a:xfrm>
          <a:prstGeom prst="rect">
            <a:avLst/>
          </a:prstGeom>
          <a:noFill/>
        </p:spPr>
        <p:txBody>
          <a:bodyPr wrap="square" lIns="0" tIns="0" rIns="0" bIns="0" anchor="t">
            <a:noAutofit/>
          </a:bodyPr>
          <a:lstStyle/>
          <a:p>
            <a:pPr algn="l">
              <a:lnSpc>
                <a:spcPct val="100000"/>
              </a:lnSpc>
            </a:pPr>
            <a:r>
              <a:rPr sz="1550" b="1" i="0">
                <a:solidFill>
                  <a:srgbClr val="2A1712"/>
                </a:solidFill>
                <a:latin typeface="Be Vietnam Pro"/>
                <a:ea typeface="Be Vietnam Pro"/>
                <a:cs typeface="Be Vietnam Pro"/>
              </a:rPr>
              <a:t>Nhắc lại mục tiêu chung</a:t>
            </a:r>
          </a:p>
          <a:p>
            <a:pPr algn="l">
              <a:lnSpc>
                <a:spcPct val="100000"/>
              </a:lnSpc>
            </a:pPr>
            <a:r>
              <a:rPr sz="1250" b="0" i="0">
                <a:solidFill>
                  <a:srgbClr val="6E564B"/>
                </a:solidFill>
                <a:latin typeface="Segoe UI"/>
                <a:ea typeface="Segoe UI"/>
                <a:cs typeface="Segoe UI"/>
              </a:rPr>
              <a:t>↔</a:t>
            </a:r>
            <a:r>
              <a:rPr sz="1150" b="0" i="0">
                <a:solidFill>
                  <a:srgbClr val="6E564B"/>
                </a:solidFill>
                <a:latin typeface="Be Vietnam Pro"/>
                <a:ea typeface="Be Vietnam Pro"/>
                <a:cs typeface="Be Vietnam Pro"/>
              </a:rPr>
              <a:t> thống nhất mục tiêu và lợi ích</a:t>
            </a:r>
          </a:p>
        </p:txBody>
      </p:sp>
      <p:sp>
        <p:nvSpPr>
          <p:cNvPr id="15" name="Stat"/>
          <p:cNvSpPr txBox="1"/>
          <p:nvPr/>
        </p:nvSpPr>
        <p:spPr>
          <a:xfrm>
            <a:off x="548640" y="5596128"/>
            <a:ext cx="5760720" cy="640080"/>
          </a:xfrm>
          <a:prstGeom prst="rect">
            <a:avLst/>
          </a:prstGeom>
          <a:noFill/>
        </p:spPr>
        <p:txBody>
          <a:bodyPr wrap="square" lIns="0" tIns="0" rIns="0" bIns="0" anchor="t">
            <a:noAutofit/>
          </a:bodyPr>
          <a:lstStyle/>
          <a:p>
            <a:pPr algn="l">
              <a:lnSpc>
                <a:spcPct val="100000"/>
              </a:lnSpc>
            </a:pPr>
            <a:r>
              <a:rPr sz="1000" b="0" i="0">
                <a:solidFill>
                  <a:srgbClr val="4C3026"/>
                </a:solidFill>
                <a:latin typeface="Be Vietnam Pro"/>
                <a:ea typeface="Be Vietnam Pro"/>
                <a:cs typeface="Be Vietnam Pro"/>
              </a:rPr>
              <a:t>Bộ TT&amp;TT (báo cáo 28/11/2024; số liệu trong nước tính đến 30/6/2024): khoảng 110 triệu tài khoản người Việt trên mạng xã hội trong nước, khoảng 203 triệu trên mạng xã hội nước ngoài — một người có thể có nhiều tài khoản. Nguồn: TTXVN, đăng trên mst.gov.vn (29/12/2024).</a:t>
            </a:r>
          </a:p>
        </p:txBody>
      </p:sp>
      <p:sp>
        <p:nvSpPr>
          <p:cNvPr id="16" name="Phone 1"/>
          <p:cNvSpPr/>
          <p:nvPr/>
        </p:nvSpPr>
        <p:spPr>
          <a:xfrm>
            <a:off x="6720840" y="914400"/>
            <a:ext cx="1536192" cy="2834640"/>
          </a:xfrm>
          <a:prstGeom prst="roundRect">
            <a:avLst>
              <a:gd name="adj" fmla="val 12000"/>
            </a:avLst>
          </a:prstGeom>
          <a:solidFill>
            <a:srgbClr val="1A1213"/>
          </a:solidFill>
          <a:ln>
            <a:noFill/>
          </a:ln>
          <a:effectLst>
            <a:outerShdw blurRad="228600" dist="63500" dir="5400000" algn="t"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Rounded Rectangle 16"/>
          <p:cNvSpPr/>
          <p:nvPr/>
        </p:nvSpPr>
        <p:spPr>
          <a:xfrm>
            <a:off x="6803136" y="1024128"/>
            <a:ext cx="1371600" cy="2615184"/>
          </a:xfrm>
          <a:prstGeom prst="roundRect">
            <a:avLst>
              <a:gd name="adj" fmla="val 9000"/>
            </a:avLst>
          </a:prstGeom>
          <a:solidFill>
            <a:srgbClr val="FAF5E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Rounded Rectangle 17"/>
          <p:cNvSpPr/>
          <p:nvPr/>
        </p:nvSpPr>
        <p:spPr>
          <a:xfrm>
            <a:off x="6894576" y="1207008"/>
            <a:ext cx="1188719" cy="329184"/>
          </a:xfrm>
          <a:prstGeom prst="roundRect">
            <a:avLst>
              <a:gd name="adj" fmla="val 12000"/>
            </a:avLst>
          </a:prstGeom>
          <a:solidFill>
            <a:srgbClr val="9C121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Rounded Rectangle 18"/>
          <p:cNvSpPr/>
          <p:nvPr/>
        </p:nvSpPr>
        <p:spPr>
          <a:xfrm>
            <a:off x="6894576" y="1618488"/>
            <a:ext cx="1188719" cy="566928"/>
          </a:xfrm>
          <a:prstGeom prst="roundRect">
            <a:avLst>
              <a:gd name="adj" fmla="val 12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Rounded Rectangle 19"/>
          <p:cNvSpPr/>
          <p:nvPr/>
        </p:nvSpPr>
        <p:spPr>
          <a:xfrm>
            <a:off x="6894576" y="2267712"/>
            <a:ext cx="1188719" cy="329184"/>
          </a:xfrm>
          <a:prstGeom prst="roundRect">
            <a:avLst>
              <a:gd name="adj" fmla="val 12000"/>
            </a:avLst>
          </a:prstGeom>
          <a:solidFill>
            <a:srgbClr val="E6A49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Rounded Rectangle 20"/>
          <p:cNvSpPr/>
          <p:nvPr/>
        </p:nvSpPr>
        <p:spPr>
          <a:xfrm>
            <a:off x="6894576" y="2679191"/>
            <a:ext cx="1188719" cy="566928"/>
          </a:xfrm>
          <a:prstGeom prst="roundRect">
            <a:avLst>
              <a:gd name="adj" fmla="val 12000"/>
            </a:avLst>
          </a:prstGeom>
          <a:solidFill>
            <a:srgbClr val="7A0B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Rounded Rectangle 21"/>
          <p:cNvSpPr/>
          <p:nvPr/>
        </p:nvSpPr>
        <p:spPr>
          <a:xfrm>
            <a:off x="6894576" y="3328415"/>
            <a:ext cx="1188719" cy="329184"/>
          </a:xfrm>
          <a:prstGeom prst="roundRect">
            <a:avLst>
              <a:gd name="adj" fmla="val 12000"/>
            </a:avLst>
          </a:prstGeom>
          <a:solidFill>
            <a:srgbClr val="9C121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TextBox 22"/>
          <p:cNvSpPr txBox="1"/>
          <p:nvPr/>
        </p:nvSpPr>
        <p:spPr>
          <a:xfrm>
            <a:off x="6720840" y="3840479"/>
            <a:ext cx="1536192" cy="274320"/>
          </a:xfrm>
          <a:prstGeom prst="rect">
            <a:avLst/>
          </a:prstGeom>
          <a:noFill/>
        </p:spPr>
        <p:txBody>
          <a:bodyPr wrap="square" lIns="0" tIns="0" rIns="0" bIns="0" anchor="t">
            <a:noAutofit/>
          </a:bodyPr>
          <a:lstStyle/>
          <a:p>
            <a:pPr algn="ctr"/>
            <a:r>
              <a:rPr sz="1000" b="1" i="0" spc="150">
                <a:solidFill>
                  <a:srgbClr val="6E564B"/>
                </a:solidFill>
                <a:latin typeface="Be Vietnam Pro"/>
                <a:ea typeface="Be Vietnam Pro"/>
                <a:cs typeface="Be Vietnam Pro"/>
              </a:rPr>
              <a:t>Feed A</a:t>
            </a:r>
          </a:p>
        </p:txBody>
      </p:sp>
      <p:sp>
        <p:nvSpPr>
          <p:cNvPr id="24" name="Phone 2"/>
          <p:cNvSpPr/>
          <p:nvPr/>
        </p:nvSpPr>
        <p:spPr>
          <a:xfrm>
            <a:off x="8439912" y="1188720"/>
            <a:ext cx="1536192" cy="2834640"/>
          </a:xfrm>
          <a:prstGeom prst="roundRect">
            <a:avLst>
              <a:gd name="adj" fmla="val 12000"/>
            </a:avLst>
          </a:prstGeom>
          <a:solidFill>
            <a:srgbClr val="1A1213"/>
          </a:solidFill>
          <a:ln>
            <a:noFill/>
          </a:ln>
          <a:effectLst>
            <a:outerShdw blurRad="228600" dist="63500" dir="5400000" algn="t"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Rounded Rectangle 24"/>
          <p:cNvSpPr/>
          <p:nvPr/>
        </p:nvSpPr>
        <p:spPr>
          <a:xfrm>
            <a:off x="8522208" y="1298448"/>
            <a:ext cx="1371600" cy="2615184"/>
          </a:xfrm>
          <a:prstGeom prst="roundRect">
            <a:avLst>
              <a:gd name="adj" fmla="val 9000"/>
            </a:avLst>
          </a:prstGeom>
          <a:solidFill>
            <a:srgbClr val="FAF5E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Rounded Rectangle 25"/>
          <p:cNvSpPr/>
          <p:nvPr/>
        </p:nvSpPr>
        <p:spPr>
          <a:xfrm>
            <a:off x="8613648" y="1481328"/>
            <a:ext cx="1188719" cy="329184"/>
          </a:xfrm>
          <a:prstGeom prst="roundRect">
            <a:avLst>
              <a:gd name="adj" fmla="val 12000"/>
            </a:avLst>
          </a:prstGeom>
          <a:solidFill>
            <a:srgbClr val="B68A4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Rounded Rectangle 26"/>
          <p:cNvSpPr/>
          <p:nvPr/>
        </p:nvSpPr>
        <p:spPr>
          <a:xfrm>
            <a:off x="8613648" y="1892808"/>
            <a:ext cx="1188719" cy="566928"/>
          </a:xfrm>
          <a:prstGeom prst="roundRect">
            <a:avLst>
              <a:gd name="adj" fmla="val 12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Rounded Rectangle 27"/>
          <p:cNvSpPr/>
          <p:nvPr/>
        </p:nvSpPr>
        <p:spPr>
          <a:xfrm>
            <a:off x="8613648" y="2542032"/>
            <a:ext cx="1188719" cy="329184"/>
          </a:xfrm>
          <a:prstGeom prst="roundRect">
            <a:avLst>
              <a:gd name="adj" fmla="val 12000"/>
            </a:avLst>
          </a:prstGeom>
          <a:solidFill>
            <a:srgbClr val="E8D3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Rounded Rectangle 28"/>
          <p:cNvSpPr/>
          <p:nvPr/>
        </p:nvSpPr>
        <p:spPr>
          <a:xfrm>
            <a:off x="8613648" y="2953512"/>
            <a:ext cx="1188719" cy="566928"/>
          </a:xfrm>
          <a:prstGeom prst="roundRect">
            <a:avLst>
              <a:gd name="adj" fmla="val 12000"/>
            </a:avLst>
          </a:prstGeom>
          <a:solidFill>
            <a:srgbClr val="4C30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Rounded Rectangle 29"/>
          <p:cNvSpPr/>
          <p:nvPr/>
        </p:nvSpPr>
        <p:spPr>
          <a:xfrm>
            <a:off x="8613648" y="3602736"/>
            <a:ext cx="1188719" cy="329184"/>
          </a:xfrm>
          <a:prstGeom prst="roundRect">
            <a:avLst>
              <a:gd name="adj" fmla="val 12000"/>
            </a:avLst>
          </a:prstGeom>
          <a:solidFill>
            <a:srgbClr val="B68A4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TextBox 30"/>
          <p:cNvSpPr txBox="1"/>
          <p:nvPr/>
        </p:nvSpPr>
        <p:spPr>
          <a:xfrm>
            <a:off x="8439912" y="4114800"/>
            <a:ext cx="1536192" cy="274320"/>
          </a:xfrm>
          <a:prstGeom prst="rect">
            <a:avLst/>
          </a:prstGeom>
          <a:noFill/>
        </p:spPr>
        <p:txBody>
          <a:bodyPr wrap="square" lIns="0" tIns="0" rIns="0" bIns="0" anchor="t">
            <a:noAutofit/>
          </a:bodyPr>
          <a:lstStyle/>
          <a:p>
            <a:pPr algn="ctr"/>
            <a:r>
              <a:rPr sz="1000" b="1" i="0" spc="150">
                <a:solidFill>
                  <a:srgbClr val="6E564B"/>
                </a:solidFill>
                <a:latin typeface="Be Vietnam Pro"/>
                <a:ea typeface="Be Vietnam Pro"/>
                <a:cs typeface="Be Vietnam Pro"/>
              </a:rPr>
              <a:t>Feed B</a:t>
            </a:r>
          </a:p>
        </p:txBody>
      </p:sp>
      <p:sp>
        <p:nvSpPr>
          <p:cNvPr id="32" name="Phone 3"/>
          <p:cNvSpPr/>
          <p:nvPr/>
        </p:nvSpPr>
        <p:spPr>
          <a:xfrm>
            <a:off x="10158984" y="914400"/>
            <a:ext cx="1536192" cy="2834640"/>
          </a:xfrm>
          <a:prstGeom prst="roundRect">
            <a:avLst>
              <a:gd name="adj" fmla="val 12000"/>
            </a:avLst>
          </a:prstGeom>
          <a:solidFill>
            <a:srgbClr val="1A1213"/>
          </a:solidFill>
          <a:ln>
            <a:noFill/>
          </a:ln>
          <a:effectLst>
            <a:outerShdw blurRad="228600" dist="63500" dir="5400000" algn="t"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Rounded Rectangle 32"/>
          <p:cNvSpPr/>
          <p:nvPr/>
        </p:nvSpPr>
        <p:spPr>
          <a:xfrm>
            <a:off x="10241280" y="1024128"/>
            <a:ext cx="1371600" cy="2615184"/>
          </a:xfrm>
          <a:prstGeom prst="roundRect">
            <a:avLst>
              <a:gd name="adj" fmla="val 9000"/>
            </a:avLst>
          </a:prstGeom>
          <a:solidFill>
            <a:srgbClr val="FAF5E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Rounded Rectangle 33"/>
          <p:cNvSpPr/>
          <p:nvPr/>
        </p:nvSpPr>
        <p:spPr>
          <a:xfrm>
            <a:off x="10332719" y="1207008"/>
            <a:ext cx="1188719" cy="329184"/>
          </a:xfrm>
          <a:prstGeom prst="roundRect">
            <a:avLst>
              <a:gd name="adj" fmla="val 12000"/>
            </a:avLst>
          </a:prstGeom>
          <a:solidFill>
            <a:srgbClr val="4C30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Rounded Rectangle 34"/>
          <p:cNvSpPr/>
          <p:nvPr/>
        </p:nvSpPr>
        <p:spPr>
          <a:xfrm>
            <a:off x="10332719" y="1618488"/>
            <a:ext cx="1188719" cy="566928"/>
          </a:xfrm>
          <a:prstGeom prst="roundRect">
            <a:avLst>
              <a:gd name="adj" fmla="val 12000"/>
            </a:avLst>
          </a:prstGeom>
          <a:solidFill>
            <a:srgbClr val="8C6F6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Rounded Rectangle 35"/>
          <p:cNvSpPr/>
          <p:nvPr/>
        </p:nvSpPr>
        <p:spPr>
          <a:xfrm>
            <a:off x="10332719" y="2267712"/>
            <a:ext cx="1188719" cy="329184"/>
          </a:xfrm>
          <a:prstGeom prst="roundRect">
            <a:avLst>
              <a:gd name="adj" fmla="val 12000"/>
            </a:avLst>
          </a:prstGeom>
          <a:solidFill>
            <a:srgbClr val="C9B3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Rounded Rectangle 36"/>
          <p:cNvSpPr/>
          <p:nvPr/>
        </p:nvSpPr>
        <p:spPr>
          <a:xfrm>
            <a:off x="10332719" y="2679191"/>
            <a:ext cx="1188719" cy="566928"/>
          </a:xfrm>
          <a:prstGeom prst="roundRect">
            <a:avLst>
              <a:gd name="adj" fmla="val 12000"/>
            </a:avLst>
          </a:prstGeom>
          <a:solidFill>
            <a:srgbClr val="6E564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Rounded Rectangle 37"/>
          <p:cNvSpPr/>
          <p:nvPr/>
        </p:nvSpPr>
        <p:spPr>
          <a:xfrm>
            <a:off x="10332719" y="3328415"/>
            <a:ext cx="1188719" cy="329184"/>
          </a:xfrm>
          <a:prstGeom prst="roundRect">
            <a:avLst>
              <a:gd name="adj" fmla="val 12000"/>
            </a:avLst>
          </a:prstGeom>
          <a:solidFill>
            <a:srgbClr val="4C30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TextBox 38"/>
          <p:cNvSpPr txBox="1"/>
          <p:nvPr/>
        </p:nvSpPr>
        <p:spPr>
          <a:xfrm>
            <a:off x="10158984" y="3840479"/>
            <a:ext cx="1536192" cy="274320"/>
          </a:xfrm>
          <a:prstGeom prst="rect">
            <a:avLst/>
          </a:prstGeom>
          <a:noFill/>
        </p:spPr>
        <p:txBody>
          <a:bodyPr wrap="square" lIns="0" tIns="0" rIns="0" bIns="0" anchor="t">
            <a:noAutofit/>
          </a:bodyPr>
          <a:lstStyle/>
          <a:p>
            <a:pPr algn="ctr"/>
            <a:r>
              <a:rPr sz="1000" b="1" i="0" spc="150">
                <a:solidFill>
                  <a:srgbClr val="6E564B"/>
                </a:solidFill>
                <a:latin typeface="Be Vietnam Pro"/>
                <a:ea typeface="Be Vietnam Pro"/>
                <a:cs typeface="Be Vietnam Pro"/>
              </a:rPr>
              <a:t>Feed C</a:t>
            </a:r>
          </a:p>
        </p:txBody>
      </p:sp>
      <p:sp>
        <p:nvSpPr>
          <p:cNvPr id="40" name="TextBox 39"/>
          <p:cNvSpPr txBox="1"/>
          <p:nvPr/>
        </p:nvSpPr>
        <p:spPr>
          <a:xfrm>
            <a:off x="6720840" y="4553712"/>
            <a:ext cx="5029200" cy="914400"/>
          </a:xfrm>
          <a:prstGeom prst="rect">
            <a:avLst/>
          </a:prstGeom>
          <a:noFill/>
        </p:spPr>
        <p:txBody>
          <a:bodyPr wrap="square" lIns="0" tIns="0" rIns="0" bIns="0" anchor="t">
            <a:noAutofit/>
          </a:bodyPr>
          <a:lstStyle/>
          <a:p>
            <a:pPr algn="l">
              <a:lnSpc>
                <a:spcPct val="103000"/>
              </a:lnSpc>
            </a:pPr>
            <a:r>
              <a:rPr sz="1150" b="0" i="1">
                <a:solidFill>
                  <a:srgbClr val="5B0808"/>
                </a:solidFill>
                <a:latin typeface="Be Vietnam Pro"/>
                <a:ea typeface="Be Vietnam Pro"/>
                <a:cs typeface="Be Vietnam Pro"/>
              </a:rPr>
              <a:t>“Trên không gian mạng, hãy là người truyền tin có trách nhiệm,</a:t>
            </a:r>
            <a:br>
              <a:rPr sz="1250"/>
            </a:br>
            <a:r>
              <a:rPr sz="1150" b="0" i="1">
                <a:solidFill>
                  <a:srgbClr val="5B0808"/>
                </a:solidFill>
                <a:latin typeface="Be Vietnam Pro"/>
                <a:ea typeface="Be Vietnam Pro"/>
                <a:cs typeface="Be Vietnam Pro"/>
              </a:rPr>
              <a:t>trung thực, không bịa đặt, không phát tán tin giả,</a:t>
            </a:r>
            <a:br>
              <a:rPr sz="1250"/>
            </a:br>
            <a:r>
              <a:rPr sz="1150" b="0" i="1">
                <a:solidFill>
                  <a:srgbClr val="5B0808"/>
                </a:solidFill>
                <a:latin typeface="Be Vietnam Pro"/>
                <a:ea typeface="Be Vietnam Pro"/>
                <a:cs typeface="Be Vietnam Pro"/>
              </a:rPr>
              <a:t>không gieo mầm chia rẽ, thay vào đó là lan tỏa hiểu biết,</a:t>
            </a:r>
            <a:br>
              <a:rPr sz="1250"/>
            </a:br>
            <a:r>
              <a:rPr sz="1150" b="0" i="1">
                <a:solidFill>
                  <a:srgbClr val="5B0808"/>
                </a:solidFill>
                <a:latin typeface="Be Vietnam Pro"/>
                <a:ea typeface="Be Vietnam Pro"/>
                <a:cs typeface="Be Vietnam Pro"/>
              </a:rPr>
              <a:t>tinh thần cầu thị, tranh luận có văn hóa.”</a:t>
            </a:r>
          </a:p>
        </p:txBody>
      </p:sp>
      <p:sp>
        <p:nvSpPr>
          <p:cNvPr id="41" name="TextBox 40"/>
          <p:cNvSpPr txBox="1"/>
          <p:nvPr/>
        </p:nvSpPr>
        <p:spPr>
          <a:xfrm>
            <a:off x="6720840" y="5468112"/>
            <a:ext cx="5029200" cy="274320"/>
          </a:xfrm>
          <a:prstGeom prst="rect">
            <a:avLst/>
          </a:prstGeom>
          <a:noFill/>
        </p:spPr>
        <p:txBody>
          <a:bodyPr wrap="square" lIns="0" tIns="0" rIns="0" bIns="0" anchor="t">
            <a:noAutofit/>
          </a:bodyPr>
          <a:lstStyle/>
          <a:p>
            <a:pPr algn="l"/>
            <a:r>
              <a:rPr sz="900" b="0" i="0">
                <a:solidFill>
                  <a:srgbClr val="6E564B"/>
                </a:solidFill>
                <a:latin typeface="Be Vietnam Pro"/>
                <a:ea typeface="Be Vietnam Pro"/>
                <a:cs typeface="Be Vietnam Pro"/>
              </a:rPr>
              <a:t>Tổng Bí thư Tô Lâm, Ngày hội Đại đoàn kết toàn dân tộc, 14/11/2025 · mattran.org.vn</a:t>
            </a:r>
          </a:p>
        </p:txBody>
      </p:sp>
      <p:sp>
        <p:nvSpPr>
          <p:cNvPr id="42" name="TextBox 41"/>
          <p:cNvSpPr txBox="1"/>
          <p:nvPr/>
        </p:nvSpPr>
        <p:spPr>
          <a:xfrm>
            <a:off x="6720840" y="5888736"/>
            <a:ext cx="5029200" cy="411480"/>
          </a:xfrm>
          <a:prstGeom prst="rect">
            <a:avLst/>
          </a:prstGeom>
          <a:noFill/>
        </p:spPr>
        <p:txBody>
          <a:bodyPr wrap="square" lIns="0" tIns="0" rIns="0" bIns="0" anchor="t">
            <a:noAutofit/>
          </a:bodyPr>
          <a:lstStyle/>
          <a:p>
            <a:pPr algn="l"/>
            <a:r>
              <a:rPr sz="1000" b="0" i="1">
                <a:solidFill>
                  <a:srgbClr val="6E564B"/>
                </a:solidFill>
                <a:latin typeface="Be Vietnam Pro"/>
                <a:ea typeface="Be Vietnam Pro"/>
                <a:cs typeface="Be Vietnam Pro"/>
              </a:rPr>
              <a:t>Thí nghiệm tư duy của nhóm — không khẳng định thuật toán gây ra chia rẽ.</a:t>
            </a:r>
          </a:p>
        </p:txBody>
      </p:sp>
      <p:sp>
        <p:nvSpPr>
          <p:cNvPr id="43" name="Tag VẬN DỤNG ĐƯƠNG ĐẠI"/>
          <p:cNvSpPr/>
          <p:nvPr/>
        </p:nvSpPr>
        <p:spPr>
          <a:xfrm>
            <a:off x="9625888" y="347472"/>
            <a:ext cx="2154326" cy="310896"/>
          </a:xfrm>
          <a:prstGeom prst="roundRect">
            <a:avLst>
              <a:gd name="adj" fmla="val 50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FFFFF"/>
                </a:solidFill>
                <a:latin typeface="Be Vietnam Pro"/>
              </a:rPr>
              <a:t>VẬN DỤNG ĐƯƠNG ĐẠI</a:t>
            </a:r>
          </a:p>
        </p:txBody>
      </p:sp>
      <p:sp>
        <p:nvSpPr>
          <p:cNvPr id="44" name="Tag DIỄN GIẢI CỦA NHÓM"/>
          <p:cNvSpPr/>
          <p:nvPr/>
        </p:nvSpPr>
        <p:spPr>
          <a:xfrm>
            <a:off x="7361834" y="347472"/>
            <a:ext cx="2154326" cy="310896"/>
          </a:xfrm>
          <a:prstGeom prst="roundRect">
            <a:avLst>
              <a:gd name="adj" fmla="val 50000"/>
            </a:avLst>
          </a:prstGeom>
          <a:noFill/>
          <a:ln w="15875">
            <a:solidFill>
              <a:srgbClr val="5B080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DIỄN GIẢI CỦA NHÓM</a:t>
            </a:r>
          </a:p>
        </p:txBody>
      </p:sp>
      <p:sp>
        <p:nvSpPr>
          <p:cNvPr id="45"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10</a:t>
            </a:r>
            <a:r>
              <a:rPr sz="950" b="0" i="0" spc="120">
                <a:solidFill>
                  <a:srgbClr val="6E564B"/>
                </a:solidFill>
                <a:latin typeface="Be Vietnam Pro"/>
                <a:ea typeface="Be Vietnam Pro"/>
                <a:cs typeface="Be Vietnam Pro"/>
              </a:rPr>
              <a:t>  /  16    ĐẠI ĐOÀN KẾT DÂN TỘC</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_center.png"/>
          <p:cNvPicPr>
            <a:picLocks noChangeAspect="1"/>
          </p:cNvPicPr>
          <p:nvPr/>
        </p:nvPicPr>
        <p:blipFill>
          <a:blip r:embed="rId3"/>
          <a:stretch>
            <a:fillRect/>
          </a:stretch>
        </p:blipFill>
        <p:spPr>
          <a:xfrm>
            <a:off x="0" y="0"/>
            <a:ext cx="12191695" cy="6858000"/>
          </a:xfrm>
          <a:prstGeom prst="rect">
            <a:avLst/>
          </a:prstGeom>
        </p:spPr>
      </p:pic>
      <p:pic>
        <p:nvPicPr>
          <p:cNvPr id="3" name="Motif" descr="drum_gold_14.png"/>
          <p:cNvPicPr>
            <a:picLocks noChangeAspect="1"/>
          </p:cNvPicPr>
          <p:nvPr/>
        </p:nvPicPr>
        <p:blipFill>
          <a:blip r:embed="rId4"/>
          <a:stretch>
            <a:fillRect/>
          </a:stretch>
        </p:blipFill>
        <p:spPr>
          <a:xfrm>
            <a:off x="4251960" y="411480"/>
            <a:ext cx="6035040" cy="6035040"/>
          </a:xfrm>
          <a:prstGeom prst="rect">
            <a:avLst/>
          </a:prstGeom>
        </p:spPr>
      </p:pic>
      <p:sp>
        <p:nvSpPr>
          <p:cNvPr id="4" name="TextBox 3"/>
          <p:cNvSpPr txBox="1"/>
          <p:nvPr/>
        </p:nvSpPr>
        <p:spPr>
          <a:xfrm>
            <a:off x="548640" y="457200"/>
            <a:ext cx="4572000" cy="365760"/>
          </a:xfrm>
          <a:prstGeom prst="rect">
            <a:avLst/>
          </a:prstGeom>
          <a:noFill/>
        </p:spPr>
        <p:txBody>
          <a:bodyPr wrap="square" lIns="0" tIns="0" rIns="0" bIns="0" anchor="t">
            <a:noAutofit/>
          </a:bodyPr>
          <a:lstStyle/>
          <a:p>
            <a:pPr algn="l"/>
            <a:r>
              <a:rPr sz="1200" b="0" i="0" spc="400">
                <a:solidFill>
                  <a:srgbClr val="D2AA50"/>
                </a:solidFill>
                <a:latin typeface="Be Vietnam Pro SemiBold"/>
                <a:ea typeface="Be Vietnam Pro SemiBold"/>
                <a:cs typeface="Be Vietnam Pro SemiBold"/>
              </a:rPr>
              <a:t>TRẢI NGHIỆM BẤT NGỜ</a:t>
            </a:r>
          </a:p>
        </p:txBody>
      </p:sp>
      <p:sp>
        <p:nvSpPr>
          <p:cNvPr id="5" name="Wordmark"/>
          <p:cNvSpPr txBox="1"/>
          <p:nvPr/>
        </p:nvSpPr>
        <p:spPr>
          <a:xfrm>
            <a:off x="548640" y="960120"/>
            <a:ext cx="4937760" cy="2377440"/>
          </a:xfrm>
          <a:prstGeom prst="rect">
            <a:avLst/>
          </a:prstGeom>
          <a:noFill/>
        </p:spPr>
        <p:txBody>
          <a:bodyPr wrap="square" lIns="0" tIns="0" rIns="0" bIns="0" anchor="t">
            <a:noAutofit/>
          </a:bodyPr>
          <a:lstStyle/>
          <a:p>
            <a:pPr algn="l">
              <a:lnSpc>
                <a:spcPct val="80000"/>
              </a:lnSpc>
            </a:pPr>
            <a:r>
              <a:rPr sz="9000" b="0" i="0">
                <a:solidFill>
                  <a:srgbClr val="FAF5E8"/>
                </a:solidFill>
                <a:latin typeface="Phudu ExtraBold"/>
                <a:ea typeface="Phudu ExtraBold"/>
                <a:cs typeface="Phudu ExtraBold"/>
              </a:rPr>
              <a:t>UNITY</a:t>
            </a:r>
          </a:p>
          <a:p>
            <a:pPr algn="l">
              <a:lnSpc>
                <a:spcPct val="80000"/>
              </a:lnSpc>
            </a:pPr>
            <a:r>
              <a:rPr sz="9000" b="0" i="0">
                <a:solidFill>
                  <a:srgbClr val="D2AA50"/>
                </a:solidFill>
                <a:latin typeface="Phudu ExtraBold"/>
                <a:ea typeface="Phudu ExtraBold"/>
                <a:cs typeface="Phudu ExtraBold"/>
              </a:rPr>
              <a:t>LAB</a:t>
            </a:r>
          </a:p>
        </p:txBody>
      </p:sp>
      <p:sp>
        <p:nvSpPr>
          <p:cNvPr id="6" name="TextBox 5"/>
          <p:cNvSpPr txBox="1"/>
          <p:nvPr/>
        </p:nvSpPr>
        <p:spPr>
          <a:xfrm>
            <a:off x="548640" y="3246120"/>
            <a:ext cx="4480560" cy="868680"/>
          </a:xfrm>
          <a:prstGeom prst="rect">
            <a:avLst/>
          </a:prstGeom>
          <a:noFill/>
        </p:spPr>
        <p:txBody>
          <a:bodyPr wrap="square" lIns="0" tIns="0" rIns="0" bIns="0" anchor="t">
            <a:noAutofit/>
          </a:bodyPr>
          <a:lstStyle/>
          <a:p>
            <a:pPr algn="l">
              <a:lnSpc>
                <a:spcPct val="100000"/>
              </a:lnSpc>
            </a:pPr>
            <a:r>
              <a:rPr sz="2200" b="0" i="1">
                <a:solidFill>
                  <a:srgbClr val="FAF5E8"/>
                </a:solidFill>
                <a:latin typeface="Be Vietnam Pro"/>
                <a:ea typeface="Be Vietnam Pro"/>
                <a:cs typeface="Be Vietnam Pro"/>
              </a:rPr>
              <a:t>Bạn xử lý khác biệt như thế nào?</a:t>
            </a:r>
          </a:p>
        </p:txBody>
      </p:sp>
      <p:sp>
        <p:nvSpPr>
          <p:cNvPr id="7" name="TextBox 6"/>
          <p:cNvSpPr txBox="1"/>
          <p:nvPr/>
        </p:nvSpPr>
        <p:spPr>
          <a:xfrm>
            <a:off x="548640" y="4187952"/>
            <a:ext cx="4480560" cy="365760"/>
          </a:xfrm>
          <a:prstGeom prst="rect">
            <a:avLst/>
          </a:prstGeom>
          <a:noFill/>
        </p:spPr>
        <p:txBody>
          <a:bodyPr wrap="square" lIns="0" tIns="0" rIns="0" bIns="0" anchor="t">
            <a:noAutofit/>
          </a:bodyPr>
          <a:lstStyle/>
          <a:p>
            <a:pPr algn="l"/>
            <a:r>
              <a:rPr sz="1300" b="1" i="0">
                <a:solidFill>
                  <a:srgbClr val="D2AA50"/>
                </a:solidFill>
                <a:latin typeface="Be Vietnam Pro"/>
                <a:ea typeface="Be Vietnam Pro"/>
                <a:cs typeface="Be Vietnam Pro"/>
              </a:rPr>
              <a:t>3 tình huống  ·  ~2 phút  ·  không chấm đúng / sai</a:t>
            </a:r>
          </a:p>
        </p:txBody>
      </p:sp>
      <p:sp>
        <p:nvSpPr>
          <p:cNvPr id="8" name="CTA"/>
          <p:cNvSpPr/>
          <p:nvPr/>
        </p:nvSpPr>
        <p:spPr>
          <a:xfrm>
            <a:off x="548640" y="4800600"/>
            <a:ext cx="3291840" cy="658368"/>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TextBox 8"/>
          <p:cNvSpPr txBox="1"/>
          <p:nvPr/>
        </p:nvSpPr>
        <p:spPr>
          <a:xfrm>
            <a:off x="548640" y="4800600"/>
            <a:ext cx="3291840" cy="658368"/>
          </a:xfrm>
          <a:prstGeom prst="rect">
            <a:avLst/>
          </a:prstGeom>
          <a:noFill/>
        </p:spPr>
        <p:txBody>
          <a:bodyPr wrap="square" lIns="0" tIns="0" rIns="0" bIns="0" anchor="ctr">
            <a:noAutofit/>
          </a:bodyPr>
          <a:lstStyle/>
          <a:p>
            <a:pPr algn="ctr"/>
            <a:r>
              <a:rPr sz="1600" b="1" i="0" spc="150">
                <a:solidFill>
                  <a:srgbClr val="5B0808"/>
                </a:solidFill>
                <a:latin typeface="Be Vietnam Pro"/>
                <a:ea typeface="Be Vietnam Pro"/>
                <a:cs typeface="Be Vietnam Pro"/>
              </a:rPr>
              <a:t>QUÉT MÃ BÊN PHẢI  </a:t>
            </a:r>
            <a:r>
              <a:rPr sz="1700" b="1" i="0" spc="150">
                <a:solidFill>
                  <a:srgbClr val="5B0808"/>
                </a:solidFill>
                <a:latin typeface="Segoe UI"/>
                <a:ea typeface="Segoe UI"/>
                <a:cs typeface="Segoe UI"/>
              </a:rPr>
              <a:t>→</a:t>
            </a:r>
          </a:p>
        </p:txBody>
      </p:sp>
      <p:sp>
        <p:nvSpPr>
          <p:cNvPr id="10" name="TextBox 9"/>
          <p:cNvSpPr txBox="1"/>
          <p:nvPr/>
        </p:nvSpPr>
        <p:spPr>
          <a:xfrm>
            <a:off x="548640" y="5577840"/>
            <a:ext cx="4572000" cy="548640"/>
          </a:xfrm>
          <a:prstGeom prst="rect">
            <a:avLst/>
          </a:prstGeom>
          <a:noFill/>
        </p:spPr>
        <p:txBody>
          <a:bodyPr wrap="square" lIns="0" tIns="0" rIns="0" bIns="0" anchor="t">
            <a:noAutofit/>
          </a:bodyPr>
          <a:lstStyle/>
          <a:p>
            <a:pPr algn="l"/>
            <a:r>
              <a:rPr sz="1100" b="0" i="0">
                <a:solidFill>
                  <a:srgbClr val="EFE3CE"/>
                </a:solidFill>
                <a:latin typeface="Be Vietnam Pro"/>
                <a:ea typeface="Be Vietnam Pro"/>
                <a:cs typeface="Be Vietnam Pro"/>
              </a:rPr>
              <a:t>Cuối game, mỗi bạn nhận một “thẻ màu” —</a:t>
            </a:r>
            <a:br>
              <a:rPr sz="1200"/>
            </a:br>
            <a:r>
              <a:rPr sz="1100" b="0" i="0">
                <a:solidFill>
                  <a:srgbClr val="EFE3CE"/>
                </a:solidFill>
                <a:latin typeface="Be Vietnam Pro"/>
                <a:ea typeface="Be Vietnam Pro"/>
                <a:cs typeface="Be Vietnam Pro"/>
              </a:rPr>
              <a:t>cả lớp giơ tay theo màu.</a:t>
            </a:r>
          </a:p>
        </p:txBody>
      </p:sp>
      <p:pic>
        <p:nvPicPr>
          <p:cNvPr id="11" name="Phone mockup" descr="s11_phone.png"/>
          <p:cNvPicPr>
            <a:picLocks noChangeAspect="1"/>
          </p:cNvPicPr>
          <p:nvPr/>
        </p:nvPicPr>
        <p:blipFill>
          <a:blip r:embed="rId5"/>
          <a:stretch>
            <a:fillRect/>
          </a:stretch>
        </p:blipFill>
        <p:spPr>
          <a:xfrm>
            <a:off x="5120640" y="384048"/>
            <a:ext cx="3189001" cy="6080760"/>
          </a:xfrm>
          <a:prstGeom prst="rect">
            <a:avLst/>
          </a:prstGeom>
        </p:spPr>
      </p:pic>
      <p:pic>
        <p:nvPicPr>
          <p:cNvPr id="12" name="QR_UNITYLAB" descr="qr_unitylab.png"/>
          <p:cNvPicPr>
            <a:picLocks noChangeAspect="1"/>
          </p:cNvPicPr>
          <p:nvPr/>
        </p:nvPicPr>
        <p:blipFill>
          <a:blip r:embed="rId6"/>
          <a:stretch>
            <a:fillRect/>
          </a:stretch>
        </p:blipFill>
        <p:spPr>
          <a:xfrm>
            <a:off x="8915400" y="1417320"/>
            <a:ext cx="2697480" cy="2697480"/>
          </a:xfrm>
          <a:prstGeom prst="rect">
            <a:avLst/>
          </a:prstGeom>
        </p:spPr>
      </p:pic>
      <p:sp>
        <p:nvSpPr>
          <p:cNvPr id="13" name="TextBox 12"/>
          <p:cNvSpPr txBox="1"/>
          <p:nvPr/>
        </p:nvSpPr>
        <p:spPr>
          <a:xfrm>
            <a:off x="8915400" y="4224528"/>
            <a:ext cx="2697480" cy="365760"/>
          </a:xfrm>
          <a:prstGeom prst="rect">
            <a:avLst/>
          </a:prstGeom>
          <a:noFill/>
        </p:spPr>
        <p:txBody>
          <a:bodyPr wrap="square" lIns="0" tIns="0" rIns="0" bIns="0" anchor="t">
            <a:noAutofit/>
          </a:bodyPr>
          <a:lstStyle/>
          <a:p>
            <a:pPr algn="ctr"/>
            <a:r>
              <a:rPr sz="1200" b="0" i="0">
                <a:solidFill>
                  <a:srgbClr val="D2AA50"/>
                </a:solidFill>
                <a:latin typeface="Be Vietnam Pro"/>
                <a:ea typeface="Be Vietnam Pro"/>
                <a:cs typeface="Be Vietnam Pro"/>
              </a:rPr>
              <a:t>Mở camera điện thoại để quét</a:t>
            </a:r>
          </a:p>
        </p:txBody>
      </p:sp>
      <p:sp>
        <p:nvSpPr>
          <p:cNvPr id="14" name="URL caption"/>
          <p:cNvSpPr txBox="1"/>
          <p:nvPr/>
        </p:nvSpPr>
        <p:spPr>
          <a:xfrm>
            <a:off x="8686800" y="4590288"/>
            <a:ext cx="3154680" cy="457200"/>
          </a:xfrm>
          <a:prstGeom prst="rect">
            <a:avLst/>
          </a:prstGeom>
          <a:noFill/>
        </p:spPr>
        <p:txBody>
          <a:bodyPr wrap="square" lIns="0" tIns="0" rIns="0" bIns="0" anchor="t">
            <a:noAutofit/>
          </a:bodyPr>
          <a:lstStyle/>
          <a:p>
            <a:pPr algn="ctr"/>
            <a:r>
              <a:rPr sz="1000" b="0" i="0">
                <a:solidFill>
                  <a:srgbClr val="EFE3CE"/>
                </a:solidFill>
                <a:latin typeface="Be Vietnam Pro"/>
                <a:ea typeface="Be Vietnam Pro"/>
                <a:cs typeface="Be Vietnam Pro"/>
              </a:rPr>
              <a:t>unitylab-hcm202.netlify.app</a:t>
            </a:r>
          </a:p>
        </p:txBody>
      </p:sp>
      <p:sp>
        <p:nvSpPr>
          <p:cNvPr id="15" name="Tag VẬN DỤNG ĐƯƠNG ĐẠI"/>
          <p:cNvSpPr/>
          <p:nvPr/>
        </p:nvSpPr>
        <p:spPr>
          <a:xfrm>
            <a:off x="9625888" y="347472"/>
            <a:ext cx="2154326" cy="310896"/>
          </a:xfrm>
          <a:prstGeom prst="roundRect">
            <a:avLst>
              <a:gd name="adj" fmla="val 50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FFFFF"/>
                </a:solidFill>
                <a:latin typeface="Be Vietnam Pro"/>
              </a:rPr>
              <a:t>VẬN DỤNG ĐƯƠNG ĐẠI</a:t>
            </a:r>
          </a:p>
        </p:txBody>
      </p:sp>
      <p:sp>
        <p:nvSpPr>
          <p:cNvPr id="16"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D2AA50"/>
                </a:solidFill>
                <a:latin typeface="Be Vietnam Pro"/>
                <a:ea typeface="Be Vietnam Pro"/>
                <a:cs typeface="Be Vietnam Pro"/>
              </a:rPr>
              <a:t>11</a:t>
            </a:r>
            <a:r>
              <a:rPr sz="950" b="0" i="0" spc="120">
                <a:solidFill>
                  <a:srgbClr val="EFE3CE"/>
                </a:solidFill>
                <a:latin typeface="Be Vietnam Pro"/>
                <a:ea typeface="Be Vietnam Pro"/>
                <a:cs typeface="Be Vietnam Pro"/>
              </a:rPr>
              <a:t>  /  16    ĐẠI ĐOÀN KẾT DÂN TỘC</a:t>
            </a: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5542"/>
            <a:ext cx="12191695" cy="6858000"/>
          </a:xfrm>
          <a:prstGeom prst="rect">
            <a:avLst/>
          </a:prstGeom>
        </p:spPr>
      </p:pic>
      <p:pic>
        <p:nvPicPr>
          <p:cNvPr id="3" name="Chan dung" descr="s12.jpg"/>
          <p:cNvPicPr>
            <a:picLocks noChangeAspect="1"/>
          </p:cNvPicPr>
          <p:nvPr/>
        </p:nvPicPr>
        <p:blipFill>
          <a:blip r:embed="rId4"/>
          <a:srcRect b="125"/>
          <a:stretch>
            <a:fillRect/>
          </a:stretch>
        </p:blipFill>
        <p:spPr>
          <a:xfrm>
            <a:off x="8001000" y="0"/>
            <a:ext cx="4190695" cy="6858000"/>
          </a:xfrm>
          <a:prstGeom prst="rect">
            <a:avLst/>
          </a:prstGeom>
        </p:spPr>
      </p:pic>
      <p:sp>
        <p:nvSpPr>
          <p:cNvPr id="4" name="Rectangle 3"/>
          <p:cNvSpPr/>
          <p:nvPr/>
        </p:nvSpPr>
        <p:spPr>
          <a:xfrm>
            <a:off x="8001000" y="3017520"/>
            <a:ext cx="4190695" cy="3840480"/>
          </a:xfrm>
          <a:prstGeom prst="rect">
            <a:avLst/>
          </a:prstGeom>
          <a:gradFill rotWithShape="1">
            <a:gsLst>
              <a:gs pos="0">
                <a:srgbClr val="3A0405">
                  <a:alpha val="0"/>
                </a:srgbClr>
              </a:gs>
              <a:gs pos="45000">
                <a:srgbClr val="3A0405">
                  <a:alpha val="80000"/>
                </a:srgbClr>
              </a:gs>
              <a:gs pos="100000">
                <a:srgbClr val="3A0405">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75320" y="4224528"/>
            <a:ext cx="3657600" cy="1417320"/>
          </a:xfrm>
          <a:prstGeom prst="rect">
            <a:avLst/>
          </a:prstGeom>
          <a:noFill/>
        </p:spPr>
        <p:txBody>
          <a:bodyPr wrap="square" lIns="0" tIns="0" rIns="0" bIns="0" anchor="t">
            <a:noAutofit/>
          </a:bodyPr>
          <a:lstStyle/>
          <a:p>
            <a:pPr algn="l">
              <a:lnSpc>
                <a:spcPct val="100000"/>
              </a:lnSpc>
            </a:pPr>
            <a:r>
              <a:rPr sz="1550" b="1" i="1">
                <a:solidFill>
                  <a:srgbClr val="D2AA50"/>
                </a:solidFill>
                <a:latin typeface="Be Vietnam Pro"/>
                <a:ea typeface="Be Vietnam Pro"/>
                <a:cs typeface="Be Vietnam Pro"/>
              </a:rPr>
              <a:t>“Đoàn kết, đoàn kết,</a:t>
            </a:r>
            <a:br>
              <a:rPr sz="1700"/>
            </a:br>
            <a:r>
              <a:rPr sz="1550" b="1" i="1">
                <a:solidFill>
                  <a:srgbClr val="D2AA50"/>
                </a:solidFill>
                <a:latin typeface="Be Vietnam Pro"/>
                <a:ea typeface="Be Vietnam Pro"/>
                <a:cs typeface="Be Vietnam Pro"/>
              </a:rPr>
              <a:t>đại đoàn kết,</a:t>
            </a:r>
            <a:br>
              <a:rPr sz="1700"/>
            </a:br>
            <a:r>
              <a:rPr sz="1550" b="1" i="1">
                <a:solidFill>
                  <a:srgbClr val="D2AA50"/>
                </a:solidFill>
                <a:latin typeface="Be Vietnam Pro"/>
                <a:ea typeface="Be Vietnam Pro"/>
                <a:cs typeface="Be Vietnam Pro"/>
              </a:rPr>
              <a:t>Thành công, thành công,</a:t>
            </a:r>
            <a:br>
              <a:rPr sz="1700"/>
            </a:br>
            <a:r>
              <a:rPr sz="1550" b="1" i="1">
                <a:solidFill>
                  <a:srgbClr val="D2AA50"/>
                </a:solidFill>
                <a:latin typeface="Be Vietnam Pro"/>
                <a:ea typeface="Be Vietnam Pro"/>
                <a:cs typeface="Be Vietnam Pro"/>
              </a:rPr>
              <a:t>đại thành công.”</a:t>
            </a:r>
          </a:p>
        </p:txBody>
      </p:sp>
      <p:sp>
        <p:nvSpPr>
          <p:cNvPr id="6" name="TextBox 5"/>
          <p:cNvSpPr txBox="1"/>
          <p:nvPr/>
        </p:nvSpPr>
        <p:spPr>
          <a:xfrm>
            <a:off x="8275320" y="5669280"/>
            <a:ext cx="3657600" cy="566928"/>
          </a:xfrm>
          <a:prstGeom prst="rect">
            <a:avLst/>
          </a:prstGeom>
          <a:noFill/>
        </p:spPr>
        <p:txBody>
          <a:bodyPr wrap="square" lIns="0" tIns="0" rIns="0" bIns="0" anchor="t">
            <a:noAutofit/>
          </a:bodyPr>
          <a:lstStyle/>
          <a:p>
            <a:pPr algn="l">
              <a:lnSpc>
                <a:spcPct val="100000"/>
              </a:lnSpc>
            </a:pPr>
            <a:r>
              <a:rPr sz="900" b="0" i="0">
                <a:solidFill>
                  <a:srgbClr val="EFE3CE"/>
                </a:solidFill>
                <a:latin typeface="Be Vietnam Pro"/>
                <a:ea typeface="Be Vietnam Pro"/>
                <a:cs typeface="Be Vietnam Pro"/>
              </a:rPr>
              <a:t>Hồ Chí Minh, Đại hội đại biểu Mặt trận Tổ quốc Việt Nam lần thứ II, 25-4-1961 · Toàn tập, t.13, tr.120</a:t>
            </a:r>
          </a:p>
        </p:txBody>
      </p:sp>
      <p:sp>
        <p:nvSpPr>
          <p:cNvPr id="7" name="TextBox 6"/>
          <p:cNvSpPr txBox="1"/>
          <p:nvPr/>
        </p:nvSpPr>
        <p:spPr>
          <a:xfrm>
            <a:off x="548640" y="457200"/>
            <a:ext cx="6949440" cy="365760"/>
          </a:xfrm>
          <a:prstGeom prst="rect">
            <a:avLst/>
          </a:prstGeom>
          <a:noFill/>
        </p:spPr>
        <p:txBody>
          <a:bodyPr wrap="square" lIns="0" tIns="0" rIns="0" bIns="0" anchor="t">
            <a:noAutofit/>
          </a:bodyPr>
          <a:lstStyle/>
          <a:p>
            <a:pPr algn="l"/>
            <a:r>
              <a:rPr sz="1200" b="0" i="0" spc="300">
                <a:solidFill>
                  <a:srgbClr val="9C1214"/>
                </a:solidFill>
                <a:latin typeface="Be Vietnam Pro SemiBold"/>
                <a:ea typeface="Be Vietnam Pro SemiBold"/>
                <a:cs typeface="Be Vietnam Pro SemiBold"/>
              </a:rPr>
              <a:t>QUAY LẠI CÂU HỎI BAN ĐẦU</a:t>
            </a:r>
          </a:p>
        </p:txBody>
      </p:sp>
      <p:sp>
        <p:nvSpPr>
          <p:cNvPr id="8" name="TextBox 7"/>
          <p:cNvSpPr txBox="1"/>
          <p:nvPr/>
        </p:nvSpPr>
        <p:spPr>
          <a:xfrm>
            <a:off x="548640" y="786384"/>
            <a:ext cx="7223760" cy="457200"/>
          </a:xfrm>
          <a:prstGeom prst="rect">
            <a:avLst/>
          </a:prstGeom>
          <a:noFill/>
        </p:spPr>
        <p:txBody>
          <a:bodyPr wrap="square" lIns="0" tIns="0" rIns="0" bIns="0" anchor="t">
            <a:noAutofit/>
          </a:bodyPr>
          <a:lstStyle/>
          <a:p>
            <a:pPr algn="l"/>
            <a:r>
              <a:rPr sz="1800" b="0" i="1">
                <a:solidFill>
                  <a:srgbClr val="6E564B"/>
                </a:solidFill>
                <a:latin typeface="Be Vietnam Pro"/>
                <a:ea typeface="Be Vietnam Pro"/>
                <a:cs typeface="Be Vietnam Pro"/>
              </a:rPr>
              <a:t>Đoàn kết có phải là tất cả mọi người phải giống nhau?</a:t>
            </a:r>
          </a:p>
        </p:txBody>
      </p:sp>
      <p:sp>
        <p:nvSpPr>
          <p:cNvPr id="9" name="Reveal 1"/>
          <p:cNvSpPr txBox="1"/>
          <p:nvPr/>
        </p:nvSpPr>
        <p:spPr>
          <a:xfrm>
            <a:off x="548640" y="1280160"/>
            <a:ext cx="7315200" cy="548640"/>
          </a:xfrm>
          <a:prstGeom prst="rect">
            <a:avLst/>
          </a:prstGeom>
          <a:noFill/>
        </p:spPr>
        <p:txBody>
          <a:bodyPr wrap="square" lIns="0" tIns="0" rIns="0" bIns="0" anchor="t">
            <a:noAutofit/>
          </a:bodyPr>
          <a:lstStyle/>
          <a:p>
            <a:pPr algn="l"/>
            <a:r>
              <a:rPr sz="2750" b="0" i="0">
                <a:solidFill>
                  <a:srgbClr val="5B0808"/>
                </a:solidFill>
                <a:latin typeface="Phudu ExtraBold"/>
                <a:ea typeface="Phudu ExtraBold"/>
                <a:cs typeface="Phudu ExtraBold"/>
              </a:rPr>
              <a:t>KHÔNG PHẢI GIỐNG NHAU VỀ MỌI MẶT.</a:t>
            </a:r>
          </a:p>
        </p:txBody>
      </p:sp>
      <p:sp>
        <p:nvSpPr>
          <p:cNvPr id="10" name="Can nhat tri"/>
          <p:cNvSpPr/>
          <p:nvPr/>
        </p:nvSpPr>
        <p:spPr>
          <a:xfrm>
            <a:off x="548640" y="2006600"/>
            <a:ext cx="3520440" cy="2286000"/>
          </a:xfrm>
          <a:prstGeom prst="roundRect">
            <a:avLst>
              <a:gd name="adj" fmla="val 6000"/>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TextBox 10"/>
          <p:cNvSpPr txBox="1"/>
          <p:nvPr/>
        </p:nvSpPr>
        <p:spPr>
          <a:xfrm>
            <a:off x="777240" y="2079752"/>
            <a:ext cx="3108960" cy="2139696"/>
          </a:xfrm>
          <a:prstGeom prst="rect">
            <a:avLst/>
          </a:prstGeom>
          <a:noFill/>
        </p:spPr>
        <p:txBody>
          <a:bodyPr wrap="square" lIns="0" tIns="0" rIns="0" bIns="0" anchor="ctr">
            <a:noAutofit/>
          </a:bodyPr>
          <a:lstStyle/>
          <a:p>
            <a:pPr algn="l">
              <a:lnSpc>
                <a:spcPct val="103000"/>
              </a:lnSpc>
              <a:spcAft>
                <a:spcPts val="400"/>
              </a:spcAft>
            </a:pPr>
            <a:r>
              <a:rPr sz="1100" b="1" i="0" spc="200">
                <a:solidFill>
                  <a:srgbClr val="D2AA50"/>
                </a:solidFill>
                <a:latin typeface="Be Vietnam Pro"/>
                <a:ea typeface="Be Vietnam Pro"/>
                <a:cs typeface="Be Vietnam Pro"/>
              </a:rPr>
              <a:t>CẦN NHẤT TRÍ</a:t>
            </a:r>
          </a:p>
          <a:p>
            <a:pPr algn="l">
              <a:lnSpc>
                <a:spcPct val="103000"/>
              </a:lnSpc>
              <a:spcAft>
                <a:spcPts val="400"/>
              </a:spcAft>
            </a:pPr>
            <a:r>
              <a:rPr sz="1700" b="0" i="0">
                <a:solidFill>
                  <a:srgbClr val="FAF5E8"/>
                </a:solidFill>
                <a:latin typeface="Phudu ExtraBold"/>
                <a:ea typeface="Phudu ExtraBold"/>
                <a:cs typeface="Phudu ExtraBold"/>
              </a:rPr>
              <a:t>Mục đích và lập trường.</a:t>
            </a:r>
          </a:p>
          <a:p>
            <a:pPr algn="l">
              <a:lnSpc>
                <a:spcPct val="103000"/>
              </a:lnSpc>
              <a:spcAft>
                <a:spcPts val="400"/>
              </a:spcAft>
            </a:pPr>
            <a:r>
              <a:rPr sz="1150" b="0" i="1">
                <a:solidFill>
                  <a:srgbClr val="EFE3CE"/>
                </a:solidFill>
                <a:latin typeface="Be Vietnam Pro"/>
                <a:ea typeface="Be Vietnam Pro"/>
                <a:cs typeface="Be Vietnam Pro"/>
              </a:rPr>
              <a:t>“Đoàn kết thực sự nghĩa là mục đích phải nhất trí và lập trường cũng phải nhất trí.”</a:t>
            </a:r>
          </a:p>
          <a:p>
            <a:pPr algn="l">
              <a:lnSpc>
                <a:spcPct val="103000"/>
              </a:lnSpc>
              <a:spcAft>
                <a:spcPts val="400"/>
              </a:spcAft>
            </a:pPr>
            <a:r>
              <a:rPr sz="850" b="0" i="0">
                <a:solidFill>
                  <a:srgbClr val="D2AA50"/>
                </a:solidFill>
                <a:latin typeface="Be Vietnam Pro"/>
                <a:ea typeface="Be Vietnam Pro"/>
                <a:cs typeface="Be Vietnam Pro"/>
              </a:rPr>
              <a:t>Hồ Chí Minh, 19-3-1958 · Toàn tập, t.11, tr.362</a:t>
            </a:r>
          </a:p>
        </p:txBody>
      </p:sp>
      <p:sp>
        <p:nvSpPr>
          <p:cNvPr id="12" name="Co the khac"/>
          <p:cNvSpPr/>
          <p:nvPr/>
        </p:nvSpPr>
        <p:spPr>
          <a:xfrm>
            <a:off x="4251960" y="2006600"/>
            <a:ext cx="3520440" cy="2286000"/>
          </a:xfrm>
          <a:prstGeom prst="roundRect">
            <a:avLst>
              <a:gd name="adj" fmla="val 6000"/>
            </a:avLst>
          </a:prstGeom>
          <a:solidFill>
            <a:srgbClr val="FFFFFF"/>
          </a:solidFill>
          <a:ln>
            <a:noFill/>
          </a:ln>
          <a:effectLst>
            <a:outerShdw blurRad="152400" dist="38100" dir="5400000" algn="t"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TextBox 12"/>
          <p:cNvSpPr txBox="1"/>
          <p:nvPr/>
        </p:nvSpPr>
        <p:spPr>
          <a:xfrm>
            <a:off x="4480560" y="2079752"/>
            <a:ext cx="3108960" cy="2139696"/>
          </a:xfrm>
          <a:prstGeom prst="rect">
            <a:avLst/>
          </a:prstGeom>
          <a:noFill/>
        </p:spPr>
        <p:txBody>
          <a:bodyPr wrap="square" lIns="0" tIns="0" rIns="0" bIns="0" anchor="ctr">
            <a:noAutofit/>
          </a:bodyPr>
          <a:lstStyle/>
          <a:p>
            <a:pPr algn="l">
              <a:lnSpc>
                <a:spcPct val="103000"/>
              </a:lnSpc>
              <a:spcAft>
                <a:spcPts val="300"/>
              </a:spcAft>
            </a:pPr>
            <a:r>
              <a:rPr sz="1100" b="1" i="0" spc="200">
                <a:solidFill>
                  <a:srgbClr val="9C1214"/>
                </a:solidFill>
                <a:latin typeface="Be Vietnam Pro"/>
                <a:ea typeface="Be Vietnam Pro"/>
                <a:cs typeface="Be Vietnam Pro"/>
              </a:rPr>
              <a:t>CÓ THỂ KHÁC NHAU</a:t>
            </a:r>
          </a:p>
          <a:p>
            <a:pPr algn="l">
              <a:lnSpc>
                <a:spcPct val="103000"/>
              </a:lnSpc>
              <a:spcAft>
                <a:spcPts val="300"/>
              </a:spcAft>
            </a:pPr>
            <a:r>
              <a:rPr sz="1300" b="1" i="0">
                <a:solidFill>
                  <a:srgbClr val="5B0808"/>
                </a:solidFill>
                <a:latin typeface="Be Vietnam Pro"/>
                <a:ea typeface="Be Vietnam Pro"/>
                <a:cs typeface="Be Vietnam Pro"/>
              </a:rPr>
              <a:t>Dân tộc, tôn giáo, tuổi tác, nghề nghiệp, cá tính — kể cả quá khứ, nếu nay thật thà tán thành mục tiêu chung.</a:t>
            </a:r>
          </a:p>
          <a:p>
            <a:pPr algn="l">
              <a:lnSpc>
                <a:spcPct val="103000"/>
              </a:lnSpc>
              <a:spcAft>
                <a:spcPts val="300"/>
              </a:spcAft>
            </a:pPr>
            <a:r>
              <a:rPr sz="1000" b="0" i="1">
                <a:solidFill>
                  <a:srgbClr val="4C3026"/>
                </a:solidFill>
                <a:latin typeface="Be Vietnam Pro"/>
                <a:ea typeface="Be Vietnam Pro"/>
                <a:cs typeface="Be Vietnam Pro"/>
              </a:rPr>
              <a:t>“Trong mấy triệu người cũng có người thế này thế khác…” · “không chia tôn giáo, đảng phái, dân tộc” (1946)</a:t>
            </a:r>
          </a:p>
          <a:p>
            <a:pPr algn="l">
              <a:lnSpc>
                <a:spcPct val="103000"/>
              </a:lnSpc>
              <a:spcAft>
                <a:spcPts val="300"/>
              </a:spcAft>
            </a:pPr>
            <a:r>
              <a:rPr sz="850" b="0" i="0">
                <a:solidFill>
                  <a:srgbClr val="9C1214"/>
                </a:solidFill>
                <a:latin typeface="Be Vietnam Pro"/>
                <a:ea typeface="Be Vietnam Pro"/>
                <a:cs typeface="Be Vietnam Pro"/>
              </a:rPr>
              <a:t>Toàn tập, t.4, tr.280 &amp; 534 · t.9, tr.203 &amp; 244</a:t>
            </a:r>
          </a:p>
        </p:txBody>
      </p:sp>
      <p:sp>
        <p:nvSpPr>
          <p:cNvPr id="14" name="Reveal 3"/>
          <p:cNvSpPr txBox="1"/>
          <p:nvPr/>
        </p:nvSpPr>
        <p:spPr>
          <a:xfrm>
            <a:off x="548640" y="4597400"/>
            <a:ext cx="7223760" cy="603504"/>
          </a:xfrm>
          <a:prstGeom prst="rect">
            <a:avLst/>
          </a:prstGeom>
          <a:noFill/>
        </p:spPr>
        <p:txBody>
          <a:bodyPr wrap="square" lIns="0" tIns="0" rIns="0" bIns="0" anchor="t">
            <a:noAutofit/>
          </a:bodyPr>
          <a:lstStyle/>
          <a:p>
            <a:pPr algn="l">
              <a:lnSpc>
                <a:spcPct val="100000"/>
              </a:lnSpc>
            </a:pPr>
            <a:r>
              <a:rPr sz="1550" b="0" i="0">
                <a:solidFill>
                  <a:srgbClr val="B68A45"/>
                </a:solidFill>
                <a:latin typeface="Segoe UI"/>
                <a:ea typeface="Segoe UI"/>
                <a:cs typeface="Segoe UI"/>
              </a:rPr>
              <a:t>→</a:t>
            </a:r>
            <a:r>
              <a:rPr sz="1450" b="0" i="0">
                <a:solidFill>
                  <a:srgbClr val="B68A45"/>
                </a:solidFill>
                <a:latin typeface="Be Vietnam Pro"/>
                <a:ea typeface="Be Vietnam Pro"/>
                <a:cs typeface="Be Vietnam Pro"/>
              </a:rPr>
              <a:t> </a:t>
            </a:r>
            <a:r>
              <a:rPr sz="1450" b="0" i="0">
                <a:solidFill>
                  <a:srgbClr val="2A1712"/>
                </a:solidFill>
                <a:latin typeface="Be Vietnam Pro"/>
                <a:ea typeface="Be Vietnam Pro"/>
                <a:cs typeface="Be Vietnam Pro"/>
              </a:rPr>
              <a:t>Đoàn kết là </a:t>
            </a:r>
            <a:r>
              <a:rPr sz="1450" b="1" i="0">
                <a:solidFill>
                  <a:srgbClr val="9C1214"/>
                </a:solidFill>
                <a:latin typeface="Be Vietnam Pro"/>
                <a:ea typeface="Be Vietnam Pro"/>
                <a:cs typeface="Be Vietnam Pro"/>
              </a:rPr>
              <a:t>nhất trí về mục đích, lập trường và cùng hướng tới điểm chung</a:t>
            </a:r>
            <a:r>
              <a:rPr sz="1450" b="0" i="0">
                <a:solidFill>
                  <a:srgbClr val="2A1712"/>
                </a:solidFill>
                <a:latin typeface="Be Vietnam Pro"/>
                <a:ea typeface="Be Vietnam Pro"/>
                <a:cs typeface="Be Vietnam Pro"/>
              </a:rPr>
              <a:t>; tôn trọng khác biệt chính đáng — nhưng không vô nguyên tắc.</a:t>
            </a:r>
          </a:p>
        </p:txBody>
      </p:sp>
      <p:sp>
        <p:nvSpPr>
          <p:cNvPr id="15" name="Rounded Rectangle 14"/>
          <p:cNvSpPr/>
          <p:nvPr/>
        </p:nvSpPr>
        <p:spPr>
          <a:xfrm>
            <a:off x="548640" y="5334000"/>
            <a:ext cx="1874519" cy="310896"/>
          </a:xfrm>
          <a:prstGeom prst="roundRect">
            <a:avLst>
              <a:gd name="adj" fmla="val 50000"/>
            </a:avLst>
          </a:prstGeom>
          <a:noFill/>
          <a:ln w="15875">
            <a:solidFill>
              <a:srgbClr val="5B080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spc="150">
                <a:solidFill>
                  <a:srgbClr val="5B0808"/>
                </a:solidFill>
                <a:latin typeface="Be Vietnam Pro"/>
              </a:rPr>
              <a:t>DIỄN GIẢI CỦA NHÓM</a:t>
            </a:r>
          </a:p>
        </p:txBody>
      </p:sp>
      <p:sp>
        <p:nvSpPr>
          <p:cNvPr id="35" name="Tag LÝ LUẬN CỐT LÕI"/>
          <p:cNvSpPr/>
          <p:nvPr/>
        </p:nvSpPr>
        <p:spPr>
          <a:xfrm>
            <a:off x="9933127"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LÝ LUẬN CỐT LÕI</a:t>
            </a:r>
          </a:p>
        </p:txBody>
      </p:sp>
      <p:sp>
        <p:nvSpPr>
          <p:cNvPr id="36"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12</a:t>
            </a:r>
            <a:r>
              <a:rPr sz="950" b="0" i="0" spc="120">
                <a:solidFill>
                  <a:srgbClr val="6E564B"/>
                </a:solidFill>
                <a:latin typeface="Be Vietnam Pro"/>
                <a:ea typeface="Be Vietnam Pro"/>
                <a:cs typeface="Be Vietnam Pro"/>
              </a:rPr>
              <a:t>  /  16    ĐẠI ĐOÀN KẾT DÂN TỘC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6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6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6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000" name="Background" descr="paper_cream.png"/>
          <p:cNvPicPr>
            <a:picLocks noChangeAspect="1"/>
          </p:cNvPicPr>
          <p:nvPr/>
        </p:nvPicPr>
        <p:blipFill>
          <a:blip r:embed="rId3"/>
          <a:stretch>
            <a:fillRect/>
          </a:stretch>
        </p:blipFill>
        <p:spPr>
          <a:xfrm>
            <a:off x="0" y="0"/>
            <a:ext cx="12191695" cy="6858000"/>
          </a:xfrm>
          <a:prstGeom prst="rect">
            <a:avLst/>
          </a:prstGeom>
        </p:spPr>
      </p:pic>
      <p:sp>
        <p:nvSpPr>
          <p:cNvPr id="100001" name="TextBox 2"/>
          <p:cNvSpPr txBox="1"/>
          <p:nvPr/>
        </p:nvSpPr>
        <p:spPr>
          <a:xfrm>
            <a:off x="548640" y="502920"/>
            <a:ext cx="5120640" cy="365760"/>
          </a:xfrm>
          <a:prstGeom prst="rect">
            <a:avLst/>
          </a:prstGeom>
          <a:noFill/>
        </p:spPr>
        <p:txBody>
          <a:bodyPr wrap="square" lIns="0" tIns="0" rIns="0" bIns="0" anchor="t">
            <a:noAutofit/>
          </a:bodyPr>
          <a:lstStyle/>
          <a:p>
            <a:pPr algn="l"/>
            <a:r>
              <a:rPr sz="1200" b="0" i="0" spc="300">
                <a:solidFill>
                  <a:srgbClr val="9C1214"/>
                </a:solidFill>
                <a:latin typeface="Be Vietnam Pro SemiBold"/>
                <a:ea typeface="Be Vietnam Pro SemiBold"/>
                <a:cs typeface="Be Vietnam Pro SemiBold"/>
              </a:rPr>
              <a:t>QUAY LẠI 4 ĐÁP ÁN  ·  SLIDE 2</a:t>
            </a:r>
          </a:p>
        </p:txBody>
      </p:sp>
      <p:sp>
        <p:nvSpPr>
          <p:cNvPr id="100002" name="TextBox 3"/>
          <p:cNvSpPr txBox="1"/>
          <p:nvPr/>
        </p:nvSpPr>
        <p:spPr>
          <a:xfrm>
            <a:off x="548640" y="914400"/>
            <a:ext cx="5120640" cy="2011680"/>
          </a:xfrm>
          <a:prstGeom prst="rect">
            <a:avLst/>
          </a:prstGeom>
          <a:noFill/>
        </p:spPr>
        <p:txBody>
          <a:bodyPr wrap="square" lIns="0" tIns="0" rIns="0" bIns="0" anchor="t">
            <a:noAutofit/>
          </a:bodyPr>
          <a:lstStyle/>
          <a:p>
            <a:pPr algn="l">
              <a:lnSpc>
                <a:spcPct val="92000"/>
              </a:lnSpc>
            </a:pPr>
            <a:r>
              <a:rPr sz="7250" b="0" i="0">
                <a:solidFill>
                  <a:srgbClr val="5B0808"/>
                </a:solidFill>
                <a:latin typeface="Phudu ExtraBold"/>
                <a:ea typeface="Phudu ExtraBold"/>
                <a:cs typeface="Phudu ExtraBold"/>
              </a:rPr>
              <a:t>ĐOÀN KẾT</a:t>
            </a:r>
          </a:p>
          <a:p>
            <a:pPr algn="l">
              <a:lnSpc>
                <a:spcPct val="92000"/>
              </a:lnSpc>
            </a:pPr>
            <a:r>
              <a:rPr sz="7250" b="0" i="0">
                <a:solidFill>
                  <a:srgbClr val="5B0808"/>
                </a:solidFill>
                <a:latin typeface="Phudu ExtraBold"/>
                <a:ea typeface="Phudu ExtraBold"/>
                <a:cs typeface="Phudu ExtraBold"/>
              </a:rPr>
              <a:t>LÀ GÌ?</a:t>
            </a:r>
          </a:p>
        </p:txBody>
      </p:sp>
      <p:sp>
        <p:nvSpPr>
          <p:cNvPr id="100003" name="TextBox 4"/>
          <p:cNvSpPr txBox="1"/>
          <p:nvPr/>
        </p:nvSpPr>
        <p:spPr>
          <a:xfrm>
            <a:off x="548640" y="3154680"/>
            <a:ext cx="4846320" cy="609600"/>
          </a:xfrm>
          <a:prstGeom prst="rect">
            <a:avLst/>
          </a:prstGeom>
          <a:noFill/>
        </p:spPr>
        <p:txBody>
          <a:bodyPr wrap="square" lIns="0" tIns="0" rIns="0" bIns="0" anchor="t">
            <a:noAutofit/>
          </a:bodyPr>
          <a:lstStyle/>
          <a:p>
            <a:pPr algn="l">
              <a:lnSpc>
                <a:spcPct val="110000"/>
              </a:lnSpc>
            </a:pPr>
            <a:endParaRPr sz="1750" b="1" i="0" dirty="0">
              <a:solidFill>
                <a:srgbClr val="4C3026"/>
              </a:solidFill>
              <a:latin typeface="Be Vietnam Pro"/>
              <a:ea typeface="Be Vietnam Pro"/>
              <a:cs typeface="Be Vietnam Pro"/>
            </a:endParaRPr>
          </a:p>
        </p:txBody>
      </p:sp>
      <p:sp>
        <p:nvSpPr>
          <p:cNvPr id="100004" name="TextBox 5"/>
          <p:cNvSpPr txBox="1"/>
          <p:nvPr/>
        </p:nvSpPr>
        <p:spPr>
          <a:xfrm>
            <a:off x="548640" y="3810000"/>
            <a:ext cx="4754880" cy="914400"/>
          </a:xfrm>
          <a:prstGeom prst="rect">
            <a:avLst/>
          </a:prstGeom>
          <a:noFill/>
        </p:spPr>
        <p:txBody>
          <a:bodyPr wrap="square" lIns="0" tIns="0" rIns="0" bIns="0" anchor="t">
            <a:noAutofit/>
          </a:bodyPr>
          <a:lstStyle/>
          <a:p>
            <a:pPr algn="l"/>
            <a:r>
              <a:rPr sz="1750" b="0" i="1">
                <a:solidFill>
                  <a:srgbClr val="6E564B"/>
                </a:solidFill>
                <a:latin typeface="Be Vietnam Pro"/>
                <a:ea typeface="Be Vietnam Pro"/>
                <a:cs typeface="Be Vietnam Pro"/>
              </a:rPr>
              <a:t>Đánh giá đáp án là diễn giải của nhóm, dựa trên lý luận ở slide 12.</a:t>
            </a:r>
          </a:p>
        </p:txBody>
      </p:sp>
      <p:sp>
        <p:nvSpPr>
          <p:cNvPr id="100005" name="Option A"/>
          <p:cNvSpPr/>
          <p:nvPr/>
        </p:nvSpPr>
        <p:spPr>
          <a:xfrm>
            <a:off x="5760720" y="914400"/>
            <a:ext cx="2926080" cy="2540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0006" name="TextBox 7"/>
          <p:cNvSpPr txBox="1"/>
          <p:nvPr/>
        </p:nvSpPr>
        <p:spPr>
          <a:xfrm>
            <a:off x="6016752" y="1066800"/>
            <a:ext cx="914400" cy="822960"/>
          </a:xfrm>
          <a:prstGeom prst="rect">
            <a:avLst/>
          </a:prstGeom>
          <a:noFill/>
        </p:spPr>
        <p:txBody>
          <a:bodyPr wrap="square" lIns="0" tIns="0" rIns="0" bIns="0" anchor="t">
            <a:noAutofit/>
          </a:bodyPr>
          <a:lstStyle/>
          <a:p>
            <a:pPr algn="l"/>
            <a:r>
              <a:rPr sz="5050" b="0" i="0">
                <a:solidFill>
                  <a:srgbClr val="9C1214"/>
                </a:solidFill>
                <a:latin typeface="Phudu ExtraBold"/>
                <a:ea typeface="Phudu ExtraBold"/>
                <a:cs typeface="Phudu ExtraBold"/>
              </a:rPr>
              <a:t>A</a:t>
            </a:r>
          </a:p>
        </p:txBody>
      </p:sp>
      <p:sp>
        <p:nvSpPr>
          <p:cNvPr id="100007" name="TextBox 8"/>
          <p:cNvSpPr txBox="1"/>
          <p:nvPr/>
        </p:nvSpPr>
        <p:spPr>
          <a:xfrm>
            <a:off x="6016752" y="1879600"/>
            <a:ext cx="2414016" cy="406400"/>
          </a:xfrm>
          <a:prstGeom prst="rect">
            <a:avLst/>
          </a:prstGeom>
          <a:noFill/>
        </p:spPr>
        <p:txBody>
          <a:bodyPr wrap="square" lIns="0" tIns="0" rIns="0" bIns="0" anchor="t">
            <a:noAutofit/>
          </a:bodyPr>
          <a:lstStyle/>
          <a:p>
            <a:pPr algn="l">
              <a:lnSpc>
                <a:spcPct val="100000"/>
              </a:lnSpc>
            </a:pPr>
            <a:r>
              <a:rPr sz="1150" b="0" i="1">
                <a:solidFill>
                  <a:srgbClr val="6E564B"/>
                </a:solidFill>
                <a:latin typeface="Be Vietnam Pro"/>
                <a:ea typeface="Be Vietnam Pro"/>
                <a:cs typeface="Be Vietnam Pro"/>
              </a:rPr>
              <a:t>Mọi người cùng một quan điểm, một cách nghĩ</a:t>
            </a:r>
          </a:p>
        </p:txBody>
      </p:sp>
      <p:pic>
        <p:nvPicPr>
          <p:cNvPr id="100008" name="Picture 9" descr="hand_1_burg.png"/>
          <p:cNvPicPr>
            <a:picLocks noChangeAspect="1"/>
          </p:cNvPicPr>
          <p:nvPr/>
        </p:nvPicPr>
        <p:blipFill>
          <a:blip r:embed="rId4"/>
          <a:stretch>
            <a:fillRect/>
          </a:stretch>
        </p:blipFill>
        <p:spPr>
          <a:xfrm>
            <a:off x="7818120" y="1092200"/>
            <a:ext cx="629838" cy="749808"/>
          </a:xfrm>
          <a:prstGeom prst="rect">
            <a:avLst/>
          </a:prstGeom>
        </p:spPr>
      </p:pic>
      <p:sp>
        <p:nvSpPr>
          <p:cNvPr id="100009" name="Option B"/>
          <p:cNvSpPr/>
          <p:nvPr/>
        </p:nvSpPr>
        <p:spPr>
          <a:xfrm>
            <a:off x="8915400" y="914400"/>
            <a:ext cx="2926080" cy="2540000"/>
          </a:xfrm>
          <a:prstGeom prst="roundRect">
            <a:avLst>
              <a:gd name="adj" fmla="val 9000"/>
            </a:avLst>
          </a:prstGeom>
          <a:solidFill>
            <a:srgbClr val="5B0808"/>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0010" name="TextBox 11"/>
          <p:cNvSpPr txBox="1"/>
          <p:nvPr/>
        </p:nvSpPr>
        <p:spPr>
          <a:xfrm>
            <a:off x="9171432" y="1066800"/>
            <a:ext cx="914400" cy="822960"/>
          </a:xfrm>
          <a:prstGeom prst="rect">
            <a:avLst/>
          </a:prstGeom>
          <a:noFill/>
        </p:spPr>
        <p:txBody>
          <a:bodyPr wrap="square" lIns="0" tIns="0" rIns="0" bIns="0" anchor="t">
            <a:noAutofit/>
          </a:bodyPr>
          <a:lstStyle/>
          <a:p>
            <a:pPr algn="l"/>
            <a:r>
              <a:rPr sz="5050" b="0" i="0">
                <a:solidFill>
                  <a:srgbClr val="D2AA50"/>
                </a:solidFill>
                <a:latin typeface="Phudu ExtraBold"/>
                <a:ea typeface="Phudu ExtraBold"/>
                <a:cs typeface="Phudu ExtraBold"/>
              </a:rPr>
              <a:t>B</a:t>
            </a:r>
          </a:p>
        </p:txBody>
      </p:sp>
      <p:sp>
        <p:nvSpPr>
          <p:cNvPr id="100011" name="TextBox 12"/>
          <p:cNvSpPr txBox="1"/>
          <p:nvPr/>
        </p:nvSpPr>
        <p:spPr>
          <a:xfrm>
            <a:off x="9171432" y="1879600"/>
            <a:ext cx="2414016" cy="406400"/>
          </a:xfrm>
          <a:prstGeom prst="rect">
            <a:avLst/>
          </a:prstGeom>
          <a:noFill/>
        </p:spPr>
        <p:txBody>
          <a:bodyPr wrap="square" lIns="0" tIns="0" rIns="0" bIns="0" anchor="t">
            <a:noAutofit/>
          </a:bodyPr>
          <a:lstStyle/>
          <a:p>
            <a:pPr algn="l">
              <a:lnSpc>
                <a:spcPct val="100000"/>
              </a:lnSpc>
            </a:pPr>
            <a:r>
              <a:rPr sz="1150" b="0" i="1">
                <a:solidFill>
                  <a:srgbClr val="EFE3CE"/>
                </a:solidFill>
                <a:latin typeface="Be Vietnam Pro"/>
                <a:ea typeface="Be Vietnam Pro"/>
                <a:cs typeface="Be Vietnam Pro"/>
              </a:rPr>
              <a:t>Có khác biệt nhưng cùng hướng tới mục tiêu chung</a:t>
            </a:r>
          </a:p>
        </p:txBody>
      </p:sp>
      <p:pic>
        <p:nvPicPr>
          <p:cNvPr id="100012" name="Picture 13" descr="hand_2_gold.png"/>
          <p:cNvPicPr>
            <a:picLocks noChangeAspect="1"/>
          </p:cNvPicPr>
          <p:nvPr/>
        </p:nvPicPr>
        <p:blipFill>
          <a:blip r:embed="rId5"/>
          <a:stretch>
            <a:fillRect/>
          </a:stretch>
        </p:blipFill>
        <p:spPr>
          <a:xfrm>
            <a:off x="10972800" y="1092200"/>
            <a:ext cx="629838" cy="749808"/>
          </a:xfrm>
          <a:prstGeom prst="rect">
            <a:avLst/>
          </a:prstGeom>
        </p:spPr>
      </p:pic>
      <p:sp>
        <p:nvSpPr>
          <p:cNvPr id="100013" name="Option C"/>
          <p:cNvSpPr/>
          <p:nvPr/>
        </p:nvSpPr>
        <p:spPr>
          <a:xfrm>
            <a:off x="5760720" y="3683000"/>
            <a:ext cx="2926080" cy="2540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0014" name="TextBox 15"/>
          <p:cNvSpPr txBox="1"/>
          <p:nvPr/>
        </p:nvSpPr>
        <p:spPr>
          <a:xfrm>
            <a:off x="6016752" y="3835400"/>
            <a:ext cx="914400" cy="822960"/>
          </a:xfrm>
          <a:prstGeom prst="rect">
            <a:avLst/>
          </a:prstGeom>
          <a:noFill/>
        </p:spPr>
        <p:txBody>
          <a:bodyPr wrap="square" lIns="0" tIns="0" rIns="0" bIns="0" anchor="t">
            <a:noAutofit/>
          </a:bodyPr>
          <a:lstStyle/>
          <a:p>
            <a:pPr algn="l"/>
            <a:r>
              <a:rPr sz="5050" b="0" i="0">
                <a:solidFill>
                  <a:srgbClr val="9C1214"/>
                </a:solidFill>
                <a:latin typeface="Phudu ExtraBold"/>
                <a:ea typeface="Phudu ExtraBold"/>
                <a:cs typeface="Phudu ExtraBold"/>
              </a:rPr>
              <a:t>C</a:t>
            </a:r>
          </a:p>
        </p:txBody>
      </p:sp>
      <p:sp>
        <p:nvSpPr>
          <p:cNvPr id="100015" name="TextBox 16"/>
          <p:cNvSpPr txBox="1"/>
          <p:nvPr/>
        </p:nvSpPr>
        <p:spPr>
          <a:xfrm>
            <a:off x="6016752" y="4648200"/>
            <a:ext cx="2414016" cy="406400"/>
          </a:xfrm>
          <a:prstGeom prst="rect">
            <a:avLst/>
          </a:prstGeom>
          <a:noFill/>
        </p:spPr>
        <p:txBody>
          <a:bodyPr wrap="square" lIns="0" tIns="0" rIns="0" bIns="0" anchor="t">
            <a:noAutofit/>
          </a:bodyPr>
          <a:lstStyle/>
          <a:p>
            <a:pPr algn="l">
              <a:lnSpc>
                <a:spcPct val="100000"/>
              </a:lnSpc>
            </a:pPr>
            <a:r>
              <a:rPr sz="1150" b="0" i="1">
                <a:solidFill>
                  <a:srgbClr val="6E564B"/>
                </a:solidFill>
                <a:latin typeface="Be Vietnam Pro"/>
                <a:ea typeface="Be Vietnam Pro"/>
                <a:cs typeface="Be Vietnam Pro"/>
              </a:rPr>
              <a:t>Ý kiến thiểu số phải theo đa số</a:t>
            </a:r>
          </a:p>
        </p:txBody>
      </p:sp>
      <p:pic>
        <p:nvPicPr>
          <p:cNvPr id="100016" name="Picture 17" descr="hand_3_burg.png"/>
          <p:cNvPicPr>
            <a:picLocks noChangeAspect="1"/>
          </p:cNvPicPr>
          <p:nvPr/>
        </p:nvPicPr>
        <p:blipFill>
          <a:blip r:embed="rId6"/>
          <a:stretch>
            <a:fillRect/>
          </a:stretch>
        </p:blipFill>
        <p:spPr>
          <a:xfrm>
            <a:off x="7818120" y="3860800"/>
            <a:ext cx="629838" cy="749808"/>
          </a:xfrm>
          <a:prstGeom prst="rect">
            <a:avLst/>
          </a:prstGeom>
        </p:spPr>
      </p:pic>
      <p:sp>
        <p:nvSpPr>
          <p:cNvPr id="100017" name="Option D"/>
          <p:cNvSpPr/>
          <p:nvPr/>
        </p:nvSpPr>
        <p:spPr>
          <a:xfrm>
            <a:off x="8915400" y="3683000"/>
            <a:ext cx="2926080" cy="2540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0018" name="TextBox 19"/>
          <p:cNvSpPr txBox="1"/>
          <p:nvPr/>
        </p:nvSpPr>
        <p:spPr>
          <a:xfrm>
            <a:off x="9171432" y="3835400"/>
            <a:ext cx="914400" cy="822960"/>
          </a:xfrm>
          <a:prstGeom prst="rect">
            <a:avLst/>
          </a:prstGeom>
          <a:noFill/>
        </p:spPr>
        <p:txBody>
          <a:bodyPr wrap="square" lIns="0" tIns="0" rIns="0" bIns="0" anchor="t">
            <a:noAutofit/>
          </a:bodyPr>
          <a:lstStyle/>
          <a:p>
            <a:pPr algn="l"/>
            <a:r>
              <a:rPr sz="5050" b="0" i="0">
                <a:solidFill>
                  <a:srgbClr val="9C1214"/>
                </a:solidFill>
                <a:latin typeface="Phudu ExtraBold"/>
                <a:ea typeface="Phudu ExtraBold"/>
                <a:cs typeface="Phudu ExtraBold"/>
              </a:rPr>
              <a:t>D</a:t>
            </a:r>
          </a:p>
        </p:txBody>
      </p:sp>
      <p:sp>
        <p:nvSpPr>
          <p:cNvPr id="100019" name="TextBox 20"/>
          <p:cNvSpPr txBox="1"/>
          <p:nvPr/>
        </p:nvSpPr>
        <p:spPr>
          <a:xfrm>
            <a:off x="9171432" y="4648200"/>
            <a:ext cx="2414016" cy="406400"/>
          </a:xfrm>
          <a:prstGeom prst="rect">
            <a:avLst/>
          </a:prstGeom>
          <a:noFill/>
        </p:spPr>
        <p:txBody>
          <a:bodyPr wrap="square" lIns="0" tIns="0" rIns="0" bIns="0" anchor="t">
            <a:noAutofit/>
          </a:bodyPr>
          <a:lstStyle/>
          <a:p>
            <a:pPr algn="l">
              <a:lnSpc>
                <a:spcPct val="100000"/>
              </a:lnSpc>
            </a:pPr>
            <a:r>
              <a:rPr sz="1150" b="0" i="1">
                <a:solidFill>
                  <a:srgbClr val="6E564B"/>
                </a:solidFill>
                <a:latin typeface="Be Vietnam Pro"/>
                <a:ea typeface="Be Vietnam Pro"/>
                <a:cs typeface="Be Vietnam Pro"/>
              </a:rPr>
              <a:t>Tránh tranh luận để giữ hòa khí trong tập thể</a:t>
            </a:r>
          </a:p>
        </p:txBody>
      </p:sp>
      <p:pic>
        <p:nvPicPr>
          <p:cNvPr id="100020" name="Picture 21" descr="hand_4_burg.png"/>
          <p:cNvPicPr>
            <a:picLocks noChangeAspect="1"/>
          </p:cNvPicPr>
          <p:nvPr/>
        </p:nvPicPr>
        <p:blipFill>
          <a:blip r:embed="rId7"/>
          <a:stretch>
            <a:fillRect/>
          </a:stretch>
        </p:blipFill>
        <p:spPr>
          <a:xfrm>
            <a:off x="10972800" y="3860800"/>
            <a:ext cx="629838" cy="749808"/>
          </a:xfrm>
          <a:prstGeom prst="rect">
            <a:avLst/>
          </a:prstGeom>
        </p:spPr>
      </p:pic>
      <p:sp>
        <p:nvSpPr>
          <p:cNvPr id="100021"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13</a:t>
            </a:r>
            <a:r>
              <a:rPr sz="950" b="0" i="0" spc="120">
                <a:solidFill>
                  <a:srgbClr val="6E564B"/>
                </a:solidFill>
                <a:latin typeface="Be Vietnam Pro"/>
                <a:ea typeface="Be Vietnam Pro"/>
                <a:cs typeface="Be Vietnam Pro"/>
              </a:rPr>
              <a:t>  /  16    ĐẠI ĐOÀN KẾT DÂN TỘC</a:t>
            </a:r>
          </a:p>
        </p:txBody>
      </p:sp>
      <p:sp>
        <p:nvSpPr>
          <p:cNvPr id="100022" name="Verdict A"/>
          <p:cNvSpPr txBox="1"/>
          <p:nvPr/>
        </p:nvSpPr>
        <p:spPr>
          <a:xfrm>
            <a:off x="6016752" y="2336800"/>
            <a:ext cx="2414016" cy="1092200"/>
          </a:xfrm>
          <a:prstGeom prst="rect">
            <a:avLst/>
          </a:prstGeom>
          <a:noFill/>
          <a:ln>
            <a:noFill/>
          </a:ln>
        </p:spPr>
        <p:txBody>
          <a:bodyPr lIns="0" tIns="0" rIns="0" bIns="0" anchor="t"/>
          <a:lstStyle/>
          <a:p>
            <a:pPr algn="l">
              <a:spcAft>
                <a:spcPts val="300"/>
              </a:spcAft>
            </a:pPr>
            <a:r>
              <a:rPr lang="en-US" sz="1050" b="1" spc="150">
                <a:solidFill>
                  <a:srgbClr val="9C1214"/>
                </a:solidFill>
                <a:latin typeface="Be Vietnam Pro"/>
                <a:ea typeface="Be Vietnam Pro"/>
              </a:rPr>
              <a:t>ĐÚNG MỘT PHẦN</a:t>
            </a:r>
          </a:p>
          <a:p>
            <a:pPr algn="l">
              <a:lnSpc>
                <a:spcPct val="105000"/>
              </a:lnSpc>
            </a:pPr>
            <a:r>
              <a:rPr lang="en-US" sz="1400" b="0">
                <a:solidFill>
                  <a:srgbClr val="2A1712"/>
                </a:solidFill>
                <a:latin typeface="Be Vietnam Pro"/>
                <a:ea typeface="Be Vietnam Pro"/>
              </a:rPr>
              <a:t>Cần nhất trí về mục đích, lập trường — không phải về mọi ý kiến.</a:t>
            </a:r>
          </a:p>
        </p:txBody>
      </p:sp>
      <p:sp>
        <p:nvSpPr>
          <p:cNvPr id="100023" name="Verdict B"/>
          <p:cNvSpPr txBox="1"/>
          <p:nvPr/>
        </p:nvSpPr>
        <p:spPr>
          <a:xfrm>
            <a:off x="9171432" y="2336800"/>
            <a:ext cx="2414016" cy="1092200"/>
          </a:xfrm>
          <a:prstGeom prst="rect">
            <a:avLst/>
          </a:prstGeom>
          <a:noFill/>
          <a:ln>
            <a:noFill/>
          </a:ln>
        </p:spPr>
        <p:txBody>
          <a:bodyPr lIns="0" tIns="0" rIns="0" bIns="0" anchor="t"/>
          <a:lstStyle/>
          <a:p>
            <a:pPr algn="l">
              <a:spcAft>
                <a:spcPts val="300"/>
              </a:spcAft>
            </a:pPr>
            <a:r>
              <a:rPr lang="en-US" sz="1050" b="1" spc="150">
                <a:solidFill>
                  <a:srgbClr val="D2AA50"/>
                </a:solidFill>
                <a:latin typeface="Be Vietnam Pro"/>
                <a:ea typeface="Be Vietnam Pro"/>
              </a:rPr>
              <a:t>GẦN NHẤT</a:t>
            </a:r>
          </a:p>
          <a:p>
            <a:pPr algn="l">
              <a:lnSpc>
                <a:spcPct val="105000"/>
              </a:lnSpc>
            </a:pPr>
            <a:r>
              <a:rPr lang="en-US" sz="1400" b="0">
                <a:solidFill>
                  <a:srgbClr val="FAF5E8"/>
                </a:solidFill>
                <a:latin typeface="Be Vietnam Pro"/>
                <a:ea typeface="Be Vietnam Pro"/>
              </a:rPr>
              <a:t>Khớp kết luận: nhất trí mục đích, lập trường; tôn trọng khác biệt chính đáng.</a:t>
            </a:r>
          </a:p>
        </p:txBody>
      </p:sp>
      <p:sp>
        <p:nvSpPr>
          <p:cNvPr id="100024" name="Verdict C"/>
          <p:cNvSpPr txBox="1"/>
          <p:nvPr/>
        </p:nvSpPr>
        <p:spPr>
          <a:xfrm>
            <a:off x="6016752" y="5105400"/>
            <a:ext cx="2414016" cy="1092200"/>
          </a:xfrm>
          <a:prstGeom prst="rect">
            <a:avLst/>
          </a:prstGeom>
          <a:noFill/>
          <a:ln>
            <a:noFill/>
          </a:ln>
        </p:spPr>
        <p:txBody>
          <a:bodyPr lIns="0" tIns="0" rIns="0" bIns="0" anchor="t"/>
          <a:lstStyle/>
          <a:p>
            <a:pPr algn="l">
              <a:spcAft>
                <a:spcPts val="300"/>
              </a:spcAft>
            </a:pPr>
            <a:r>
              <a:rPr lang="en-US" sz="1050" b="1" spc="150">
                <a:solidFill>
                  <a:srgbClr val="9C1214"/>
                </a:solidFill>
                <a:latin typeface="Be Vietnam Pro"/>
                <a:ea typeface="Be Vietnam Pro"/>
              </a:rPr>
              <a:t>CHƯA PHẢI ĐỊNH NGHĨA</a:t>
            </a:r>
          </a:p>
          <a:p>
            <a:pPr algn="l">
              <a:lnSpc>
                <a:spcPct val="105000"/>
              </a:lnSpc>
            </a:pPr>
            <a:r>
              <a:rPr lang="en-US" sz="1400" b="0">
                <a:solidFill>
                  <a:srgbClr val="2A1712"/>
                </a:solidFill>
                <a:latin typeface="Be Vietnam Pro"/>
                <a:ea typeface="Be Vietnam Pro"/>
              </a:rPr>
              <a:t>Là cách ra quyết định hợp lệ, chưa phải định nghĩa đoàn kết.</a:t>
            </a:r>
          </a:p>
        </p:txBody>
      </p:sp>
      <p:sp>
        <p:nvSpPr>
          <p:cNvPr id="100025" name="Verdict D"/>
          <p:cNvSpPr txBox="1"/>
          <p:nvPr/>
        </p:nvSpPr>
        <p:spPr>
          <a:xfrm>
            <a:off x="9171432" y="5105400"/>
            <a:ext cx="2414016" cy="1092200"/>
          </a:xfrm>
          <a:prstGeom prst="rect">
            <a:avLst/>
          </a:prstGeom>
          <a:noFill/>
          <a:ln>
            <a:noFill/>
          </a:ln>
        </p:spPr>
        <p:txBody>
          <a:bodyPr lIns="0" tIns="0" rIns="0" bIns="0" anchor="t"/>
          <a:lstStyle/>
          <a:p>
            <a:pPr algn="l">
              <a:spcAft>
                <a:spcPts val="300"/>
              </a:spcAft>
            </a:pPr>
            <a:r>
              <a:rPr lang="en-US" sz="1050" b="1" spc="150">
                <a:solidFill>
                  <a:srgbClr val="9C1214"/>
                </a:solidFill>
                <a:latin typeface="Be Vietnam Pro"/>
                <a:ea typeface="Be Vietnam Pro"/>
              </a:rPr>
              <a:t>TRÁI</a:t>
            </a:r>
          </a:p>
          <a:p>
            <a:pPr algn="l">
              <a:lnSpc>
                <a:spcPct val="105000"/>
              </a:lnSpc>
            </a:pPr>
            <a:r>
              <a:rPr lang="en-US" sz="1400" b="0">
                <a:solidFill>
                  <a:srgbClr val="2A1712"/>
                </a:solidFill>
                <a:latin typeface="Be Vietnam Pro"/>
                <a:ea typeface="Be Vietnam Pro"/>
              </a:rPr>
              <a:t>Trái với “vừa đoàn kết, vừa đấu tranh” (Toàn tập, t.11, tr.362).</a:t>
            </a:r>
          </a:p>
        </p:txBody>
      </p:sp>
      <p:sp>
        <p:nvSpPr>
          <p:cNvPr id="100026" name="Tag DIỄN GIẢI CỦA NHÓM"/>
          <p:cNvSpPr/>
          <p:nvPr/>
        </p:nvSpPr>
        <p:spPr>
          <a:xfrm>
            <a:off x="9625888" y="347472"/>
            <a:ext cx="2154326" cy="310896"/>
          </a:xfrm>
          <a:prstGeom prst="roundRect">
            <a:avLst>
              <a:gd name="adj" fmla="val 50000"/>
            </a:avLst>
          </a:prstGeom>
          <a:noFill/>
          <a:ln w="15875">
            <a:solidFill>
              <a:srgbClr val="5B080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Be Vietnam Pro"/>
              </a:rPr>
              <a:t>DIỄN GIẢI CỦA NHÓM</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_sof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7315200" cy="365760"/>
          </a:xfrm>
          <a:prstGeom prst="rect">
            <a:avLst/>
          </a:prstGeom>
          <a:noFill/>
        </p:spPr>
        <p:txBody>
          <a:bodyPr wrap="square" lIns="0" tIns="0" rIns="0" bIns="0" anchor="t">
            <a:noAutofit/>
          </a:bodyPr>
          <a:lstStyle/>
          <a:p>
            <a:pPr algn="l"/>
            <a:r>
              <a:rPr sz="1200" b="0" i="0" spc="300">
                <a:solidFill>
                  <a:srgbClr val="9C1214"/>
                </a:solidFill>
                <a:latin typeface="Be Vietnam Pro SemiBold"/>
                <a:ea typeface="Be Vietnam Pro SemiBold"/>
                <a:cs typeface="Be Vietnam Pro SemiBold"/>
              </a:rPr>
              <a:t>AI USAGE  ·  LIÊM CHÍNH HỌC THUẬT</a:t>
            </a:r>
          </a:p>
        </p:txBody>
      </p:sp>
      <p:sp>
        <p:nvSpPr>
          <p:cNvPr id="4" name="TextBox 3"/>
          <p:cNvSpPr txBox="1"/>
          <p:nvPr/>
        </p:nvSpPr>
        <p:spPr>
          <a:xfrm>
            <a:off x="548640" y="804672"/>
            <a:ext cx="10972800" cy="731520"/>
          </a:xfrm>
          <a:prstGeom prst="rect">
            <a:avLst/>
          </a:prstGeom>
          <a:noFill/>
        </p:spPr>
        <p:txBody>
          <a:bodyPr wrap="square" lIns="0" tIns="0" rIns="0" bIns="0" anchor="t">
            <a:noAutofit/>
          </a:bodyPr>
          <a:lstStyle/>
          <a:p>
            <a:pPr algn="l"/>
            <a:r>
              <a:rPr sz="3300" b="0" i="0">
                <a:solidFill>
                  <a:srgbClr val="5B0808"/>
                </a:solidFill>
                <a:latin typeface="Phudu ExtraBold"/>
                <a:ea typeface="Phudu ExtraBold"/>
                <a:cs typeface="Phudu ExtraBold"/>
              </a:rPr>
              <a:t>AI hỗ trợ gì — và nhóm chịu trách nhiệm gì?</a:t>
            </a:r>
          </a:p>
        </p:txBody>
      </p:sp>
      <p:sp>
        <p:nvSpPr>
          <p:cNvPr id="5" name="Rounded Rectangle 4"/>
          <p:cNvSpPr/>
          <p:nvPr/>
        </p:nvSpPr>
        <p:spPr>
          <a:xfrm>
            <a:off x="548640" y="1691640"/>
            <a:ext cx="5440680" cy="3246120"/>
          </a:xfrm>
          <a:prstGeom prst="roundRect">
            <a:avLst>
              <a:gd name="adj" fmla="val 5000"/>
            </a:avLst>
          </a:prstGeom>
          <a:solidFill>
            <a:srgbClr val="5B0808"/>
          </a:solidFill>
          <a:ln>
            <a:noFill/>
          </a:ln>
          <a:effectLst>
            <a:outerShdw blurRad="1524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822959" y="1828800"/>
            <a:ext cx="4892040" cy="365760"/>
          </a:xfrm>
          <a:prstGeom prst="rect">
            <a:avLst/>
          </a:prstGeom>
          <a:noFill/>
        </p:spPr>
        <p:txBody>
          <a:bodyPr wrap="square" lIns="0" tIns="0" rIns="0" bIns="0" anchor="t">
            <a:noAutofit/>
          </a:bodyPr>
          <a:lstStyle/>
          <a:p>
            <a:pPr algn="l"/>
            <a:r>
              <a:rPr sz="1200" b="1" i="0" spc="250">
                <a:solidFill>
                  <a:srgbClr val="D2AA50"/>
                </a:solidFill>
                <a:latin typeface="Be Vietnam Pro"/>
                <a:ea typeface="Be Vietnam Pro"/>
                <a:cs typeface="Be Vietnam Pro"/>
              </a:rPr>
              <a:t>AI HỖ TRỢ</a:t>
            </a:r>
          </a:p>
        </p:txBody>
      </p:sp>
      <p:sp>
        <p:nvSpPr>
          <p:cNvPr id="7" name="TextBox 6"/>
          <p:cNvSpPr txBox="1"/>
          <p:nvPr/>
        </p:nvSpPr>
        <p:spPr>
          <a:xfrm>
            <a:off x="822959" y="2157984"/>
            <a:ext cx="4892040" cy="365760"/>
          </a:xfrm>
          <a:prstGeom prst="rect">
            <a:avLst/>
          </a:prstGeom>
          <a:noFill/>
        </p:spPr>
        <p:txBody>
          <a:bodyPr wrap="square" lIns="0" tIns="0" rIns="0" bIns="0" anchor="t">
            <a:noAutofit/>
          </a:bodyPr>
          <a:lstStyle/>
          <a:p>
            <a:pPr algn="l"/>
            <a:r>
              <a:rPr sz="1000" b="0" i="1">
                <a:solidFill>
                  <a:srgbClr val="EFE3CE"/>
                </a:solidFill>
                <a:latin typeface="Be Vietnam Pro"/>
                <a:ea typeface="Be Vietnam Pro"/>
                <a:cs typeface="Be Vietnam Pro"/>
              </a:rPr>
              <a:t>Claude Code (mô hình Claude Opus 5.5, Anthropic)</a:t>
            </a:r>
          </a:p>
        </p:txBody>
      </p:sp>
      <p:sp>
        <p:nvSpPr>
          <p:cNvPr id="8" name="TextBox 7"/>
          <p:cNvSpPr txBox="1"/>
          <p:nvPr/>
        </p:nvSpPr>
        <p:spPr>
          <a:xfrm>
            <a:off x="822959" y="2560320"/>
            <a:ext cx="4892040" cy="1828800"/>
          </a:xfrm>
          <a:prstGeom prst="rect">
            <a:avLst/>
          </a:prstGeom>
          <a:noFill/>
        </p:spPr>
        <p:txBody>
          <a:bodyPr wrap="square" lIns="0" tIns="0" rIns="0" bIns="0" anchor="t">
            <a:noAutofit/>
          </a:bodyPr>
          <a:lstStyle/>
          <a:p>
            <a:pPr marL="219456" indent="-219456" algn="l">
              <a:lnSpc>
                <a:spcPct val="100000"/>
              </a:lnSpc>
              <a:spcAft>
                <a:spcPts val="300"/>
              </a:spcAft>
            </a:pPr>
            <a:r>
              <a:rPr sz="1250" b="0" i="0">
                <a:solidFill>
                  <a:srgbClr val="FAF5E8"/>
                </a:solidFill>
                <a:latin typeface="Be Vietnam Pro"/>
                <a:ea typeface="Be Vietnam Pro"/>
                <a:cs typeface="Be Vietnam Pro"/>
              </a:rPr>
              <a:t>•	Tổ chức tìm kiếm nguồn, lập ma trận kiểm chứng</a:t>
            </a:r>
          </a:p>
          <a:p>
            <a:pPr marL="219456" indent="-219456" algn="l">
              <a:lnSpc>
                <a:spcPct val="100000"/>
              </a:lnSpc>
              <a:spcAft>
                <a:spcPts val="300"/>
              </a:spcAft>
            </a:pPr>
            <a:r>
              <a:rPr sz="1250" b="0" i="0">
                <a:solidFill>
                  <a:srgbClr val="FAF5E8"/>
                </a:solidFill>
                <a:latin typeface="Be Vietnam Pro"/>
                <a:ea typeface="Be Vietnam Pro"/>
                <a:cs typeface="Be Vietnam Pro"/>
              </a:rPr>
              <a:t>•	Gợi ý dàn ý, kịch bản lời nói</a:t>
            </a:r>
          </a:p>
          <a:p>
            <a:pPr marL="219456" indent="-219456" algn="l">
              <a:lnSpc>
                <a:spcPct val="100000"/>
              </a:lnSpc>
              <a:spcAft>
                <a:spcPts val="300"/>
              </a:spcAft>
            </a:pPr>
            <a:r>
              <a:rPr sz="1250" b="0" i="0">
                <a:solidFill>
                  <a:srgbClr val="FAF5E8"/>
                </a:solidFill>
                <a:latin typeface="Be Vietnam Pro"/>
                <a:ea typeface="Be Vietnam Pro"/>
                <a:cs typeface="Be Vietnam Pro"/>
              </a:rPr>
              <a:t>•	Tìm ảnh có nguồn &amp; giấy phép rõ ràng</a:t>
            </a:r>
          </a:p>
          <a:p>
            <a:pPr marL="219456" indent="-219456" algn="l">
              <a:lnSpc>
                <a:spcPct val="100000"/>
              </a:lnSpc>
              <a:spcAft>
                <a:spcPts val="300"/>
              </a:spcAft>
            </a:pPr>
            <a:r>
              <a:rPr sz="1250" b="0" i="0">
                <a:solidFill>
                  <a:srgbClr val="FAF5E8"/>
                </a:solidFill>
                <a:latin typeface="Be Vietnam Pro"/>
                <a:ea typeface="Be Vietnam Pro"/>
                <a:cs typeface="Be Vietnam Pro"/>
              </a:rPr>
              <a:t>•	Thiết kế sơ đồ, bố cục slide</a:t>
            </a:r>
          </a:p>
          <a:p>
            <a:pPr marL="219456" indent="-219456" algn="l">
              <a:lnSpc>
                <a:spcPct val="100000"/>
              </a:lnSpc>
              <a:spcAft>
                <a:spcPts val="300"/>
              </a:spcAft>
            </a:pPr>
            <a:r>
              <a:rPr sz="1250" b="0" i="0">
                <a:solidFill>
                  <a:srgbClr val="FAF5E8"/>
                </a:solidFill>
                <a:latin typeface="Be Vietnam Pro"/>
                <a:ea typeface="Be Vietnam Pro"/>
                <a:cs typeface="Be Vietnam Pro"/>
              </a:rPr>
              <a:t>•	Lập trình mini-game Unity Lab</a:t>
            </a:r>
          </a:p>
          <a:p>
            <a:pPr marL="219456" indent="-219456" algn="l">
              <a:lnSpc>
                <a:spcPct val="100000"/>
              </a:lnSpc>
              <a:spcAft>
                <a:spcPts val="300"/>
              </a:spcAft>
            </a:pPr>
            <a:r>
              <a:rPr sz="1250" b="0" i="0">
                <a:solidFill>
                  <a:srgbClr val="FAF5E8"/>
                </a:solidFill>
                <a:latin typeface="Be Vietnam Pro"/>
                <a:ea typeface="Be Vietnam Pro"/>
                <a:cs typeface="Be Vietnam Pro"/>
              </a:rPr>
              <a:t>•	Rà soát bố cục, lỗi hiển thị</a:t>
            </a:r>
          </a:p>
        </p:txBody>
      </p:sp>
      <p:sp>
        <p:nvSpPr>
          <p:cNvPr id="9" name="AI error example"/>
          <p:cNvSpPr txBox="1"/>
          <p:nvPr/>
        </p:nvSpPr>
        <p:spPr>
          <a:xfrm>
            <a:off x="822959" y="4224528"/>
            <a:ext cx="4892040" cy="658368"/>
          </a:xfrm>
          <a:prstGeom prst="rect">
            <a:avLst/>
          </a:prstGeom>
          <a:noFill/>
        </p:spPr>
        <p:txBody>
          <a:bodyPr wrap="square" lIns="0" tIns="0" rIns="0" bIns="0" anchor="t">
            <a:noAutofit/>
          </a:bodyPr>
          <a:lstStyle/>
          <a:p>
            <a:pPr algn="l">
              <a:lnSpc>
                <a:spcPct val="100000"/>
              </a:lnSpc>
            </a:pPr>
            <a:r>
              <a:rPr sz="1000" b="1" i="0">
                <a:solidFill>
                  <a:srgbClr val="D2AA50"/>
                </a:solidFill>
                <a:latin typeface="Be Vietnam Pro"/>
                <a:ea typeface="Be Vietnam Pro"/>
                <a:cs typeface="Be Vietnam Pro"/>
              </a:rPr>
              <a:t>Ví dụ AI tự sai: </a:t>
            </a:r>
            <a:r>
              <a:rPr sz="1000" b="0" i="0">
                <a:solidFill>
                  <a:srgbClr val="EFE3CE"/>
                </a:solidFill>
                <a:latin typeface="Be Vietnam Pro"/>
                <a:ea typeface="Be Vietnam Pro"/>
                <a:cs typeface="Be Vietnam Pro"/>
              </a:rPr>
              <a:t>vòng tìm nguồn ghi một câu là “không có trong Toàn tập”; vòng phản biện tra lại và tìm thấy ở t.14, tr.27 </a:t>
            </a:r>
            <a:r>
              <a:rPr sz="1100" b="0" i="0">
                <a:solidFill>
                  <a:srgbClr val="EFE3CE"/>
                </a:solidFill>
                <a:latin typeface="Segoe UI"/>
                <a:ea typeface="Segoe UI"/>
                <a:cs typeface="Segoe UI"/>
              </a:rPr>
              <a:t>→</a:t>
            </a:r>
            <a:r>
              <a:rPr sz="1000" b="0" i="0">
                <a:solidFill>
                  <a:srgbClr val="EFE3CE"/>
                </a:solidFill>
                <a:latin typeface="Be Vietnam Pro"/>
                <a:ea typeface="Be Vietnam Pro"/>
                <a:cs typeface="Be Vietnam Pro"/>
              </a:rPr>
              <a:t> đã sửa.</a:t>
            </a:r>
          </a:p>
        </p:txBody>
      </p:sp>
      <p:sp>
        <p:nvSpPr>
          <p:cNvPr id="10" name="Rounded Rectangle 9"/>
          <p:cNvSpPr/>
          <p:nvPr/>
        </p:nvSpPr>
        <p:spPr>
          <a:xfrm>
            <a:off x="6199632" y="1691640"/>
            <a:ext cx="5440680" cy="3246120"/>
          </a:xfrm>
          <a:prstGeom prst="roundRect">
            <a:avLst>
              <a:gd name="adj" fmla="val 5000"/>
            </a:avLst>
          </a:prstGeom>
          <a:solidFill>
            <a:srgbClr val="FFFFFF"/>
          </a:solidFill>
          <a:ln>
            <a:noFill/>
          </a:ln>
          <a:effectLst>
            <a:outerShdw blurRad="1524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TextBox 10"/>
          <p:cNvSpPr txBox="1"/>
          <p:nvPr/>
        </p:nvSpPr>
        <p:spPr>
          <a:xfrm>
            <a:off x="6473952" y="1828800"/>
            <a:ext cx="4892040" cy="365760"/>
          </a:xfrm>
          <a:prstGeom prst="rect">
            <a:avLst/>
          </a:prstGeom>
          <a:noFill/>
        </p:spPr>
        <p:txBody>
          <a:bodyPr wrap="square" lIns="0" tIns="0" rIns="0" bIns="0" anchor="t">
            <a:noAutofit/>
          </a:bodyPr>
          <a:lstStyle/>
          <a:p>
            <a:pPr algn="l"/>
            <a:r>
              <a:rPr sz="1200" b="1" i="0" spc="250">
                <a:solidFill>
                  <a:srgbClr val="9C1214"/>
                </a:solidFill>
                <a:latin typeface="Be Vietnam Pro"/>
                <a:ea typeface="Be Vietnam Pro"/>
                <a:cs typeface="Be Vietnam Pro"/>
              </a:rPr>
              <a:t>SINH VIÊN CHỊU TRÁCH NHIỆM</a:t>
            </a:r>
          </a:p>
        </p:txBody>
      </p:sp>
      <p:sp>
        <p:nvSpPr>
          <p:cNvPr id="12" name="TextBox 11"/>
          <p:cNvSpPr txBox="1"/>
          <p:nvPr/>
        </p:nvSpPr>
        <p:spPr>
          <a:xfrm>
            <a:off x="6473952" y="2157984"/>
            <a:ext cx="4892040" cy="365760"/>
          </a:xfrm>
          <a:prstGeom prst="rect">
            <a:avLst/>
          </a:prstGeom>
          <a:noFill/>
        </p:spPr>
        <p:txBody>
          <a:bodyPr wrap="square" lIns="0" tIns="0" rIns="0" bIns="0" anchor="t">
            <a:noAutofit/>
          </a:bodyPr>
          <a:lstStyle/>
          <a:p>
            <a:pPr algn="l"/>
            <a:r>
              <a:rPr sz="1000" b="0" i="1">
                <a:solidFill>
                  <a:srgbClr val="6E564B"/>
                </a:solidFill>
                <a:latin typeface="Be Vietnam Pro"/>
                <a:ea typeface="Be Vietnam Pro"/>
                <a:cs typeface="Be Vietnam Pro"/>
              </a:rPr>
              <a:t>Toàn bộ thành viên nhóm</a:t>
            </a:r>
          </a:p>
        </p:txBody>
      </p:sp>
      <p:sp>
        <p:nvSpPr>
          <p:cNvPr id="13" name="TextBox 12"/>
          <p:cNvSpPr txBox="1"/>
          <p:nvPr/>
        </p:nvSpPr>
        <p:spPr>
          <a:xfrm>
            <a:off x="6473952" y="2560320"/>
            <a:ext cx="4892040" cy="1828800"/>
          </a:xfrm>
          <a:prstGeom prst="rect">
            <a:avLst/>
          </a:prstGeom>
          <a:noFill/>
        </p:spPr>
        <p:txBody>
          <a:bodyPr wrap="square" lIns="0" tIns="0" rIns="0" bIns="0" anchor="t">
            <a:noAutofit/>
          </a:bodyPr>
          <a:lstStyle/>
          <a:p>
            <a:pPr marL="219456" indent="-219456" algn="l">
              <a:lnSpc>
                <a:spcPct val="100000"/>
              </a:lnSpc>
              <a:spcAft>
                <a:spcPts val="300"/>
              </a:spcAft>
            </a:pPr>
            <a:r>
              <a:rPr sz="1250" b="0" i="0">
                <a:solidFill>
                  <a:srgbClr val="2A1712"/>
                </a:solidFill>
                <a:latin typeface="Be Vietnam Pro"/>
                <a:ea typeface="Be Vietnam Pro"/>
                <a:cs typeface="Be Vietnam Pro"/>
              </a:rPr>
              <a:t>•	Đối chiếu khung chương với bài giảng của lớp</a:t>
            </a:r>
          </a:p>
          <a:p>
            <a:pPr marL="219456" indent="-219456" algn="l">
              <a:lnSpc>
                <a:spcPct val="100000"/>
              </a:lnSpc>
              <a:spcAft>
                <a:spcPts val="300"/>
              </a:spcAft>
            </a:pPr>
            <a:r>
              <a:rPr sz="1250" b="0" i="0">
                <a:solidFill>
                  <a:srgbClr val="2A1712"/>
                </a:solidFill>
                <a:latin typeface="Be Vietnam Pro"/>
                <a:ea typeface="Be Vietnam Pro"/>
                <a:cs typeface="Be Vietnam Pro"/>
              </a:rPr>
              <a:t>•	Chọn luận điểm, sửa diễn giải</a:t>
            </a:r>
          </a:p>
          <a:p>
            <a:pPr marL="219456" indent="-219456" algn="l">
              <a:lnSpc>
                <a:spcPct val="100000"/>
              </a:lnSpc>
              <a:spcAft>
                <a:spcPts val="300"/>
              </a:spcAft>
            </a:pPr>
            <a:r>
              <a:rPr sz="1250" b="0" i="0">
                <a:solidFill>
                  <a:srgbClr val="2A1712"/>
                </a:solidFill>
                <a:latin typeface="Be Vietnam Pro"/>
                <a:ea typeface="Be Vietnam Pro"/>
                <a:cs typeface="Be Vietnam Pro"/>
              </a:rPr>
              <a:t>•	Kiểm tra lại mọi trích dẫn</a:t>
            </a:r>
          </a:p>
          <a:p>
            <a:pPr marL="219456" indent="-219456" algn="l">
              <a:lnSpc>
                <a:spcPct val="100000"/>
              </a:lnSpc>
              <a:spcAft>
                <a:spcPts val="300"/>
              </a:spcAft>
            </a:pPr>
            <a:r>
              <a:rPr sz="1250" b="0" i="0">
                <a:solidFill>
                  <a:srgbClr val="2A1712"/>
                </a:solidFill>
                <a:latin typeface="Be Vietnam Pro"/>
                <a:ea typeface="Be Vietnam Pro"/>
                <a:cs typeface="Be Vietnam Pro"/>
              </a:rPr>
              <a:t>•	Quyết định nội dung cuối cùng</a:t>
            </a:r>
          </a:p>
          <a:p>
            <a:pPr marL="219456" indent="-219456" algn="l">
              <a:lnSpc>
                <a:spcPct val="100000"/>
              </a:lnSpc>
              <a:spcAft>
                <a:spcPts val="300"/>
              </a:spcAft>
            </a:pPr>
            <a:r>
              <a:rPr sz="1250" b="0" i="0">
                <a:solidFill>
                  <a:srgbClr val="2A1712"/>
                </a:solidFill>
                <a:latin typeface="Be Vietnam Pro"/>
                <a:ea typeface="Be Vietnam Pro"/>
                <a:cs typeface="Be Vietnam Pro"/>
              </a:rPr>
              <a:t>•	Thuyết trình, trả lời phản biện</a:t>
            </a:r>
          </a:p>
          <a:p>
            <a:pPr marL="219456" indent="-219456" algn="l">
              <a:lnSpc>
                <a:spcPct val="100000"/>
              </a:lnSpc>
              <a:spcAft>
                <a:spcPts val="300"/>
              </a:spcAft>
            </a:pPr>
            <a:r>
              <a:rPr sz="1250" b="0" i="0">
                <a:solidFill>
                  <a:srgbClr val="2A1712"/>
                </a:solidFill>
                <a:latin typeface="Be Vietnam Pro"/>
                <a:ea typeface="Be Vietnam Pro"/>
                <a:cs typeface="Be Vietnam Pro"/>
              </a:rPr>
              <a:t>•	Chịu trách nhiệm về bài nộp</a:t>
            </a:r>
          </a:p>
        </p:txBody>
      </p:sp>
      <p:sp>
        <p:nvSpPr>
          <p:cNvPr id="14" name="Student edit log"/>
          <p:cNvSpPr txBox="1"/>
          <p:nvPr/>
        </p:nvSpPr>
        <p:spPr>
          <a:xfrm>
            <a:off x="6473952" y="4224528"/>
            <a:ext cx="4892040" cy="658368"/>
          </a:xfrm>
          <a:prstGeom prst="rect">
            <a:avLst/>
          </a:prstGeom>
          <a:noFill/>
        </p:spPr>
        <p:txBody>
          <a:bodyPr wrap="square" lIns="0" tIns="0" rIns="0" bIns="0" anchor="t">
            <a:noAutofit/>
          </a:bodyPr>
          <a:lstStyle/>
          <a:p>
            <a:pPr algn="l">
              <a:lnSpc>
                <a:spcPct val="100000"/>
              </a:lnSpc>
            </a:pPr>
            <a:r>
              <a:rPr sz="1000" b="1" i="0">
                <a:solidFill>
                  <a:srgbClr val="9C1214"/>
                </a:solidFill>
                <a:latin typeface="Be Vietnam Pro"/>
                <a:ea typeface="Be Vietnam Pro"/>
                <a:cs typeface="Be Vietnam Pro"/>
              </a:rPr>
              <a:t>Nhật ký chỉnh sửa của nhóm: </a:t>
            </a:r>
            <a:r>
              <a:rPr sz="1000" b="0" i="0">
                <a:solidFill>
                  <a:srgbClr val="6E564B"/>
                </a:solidFill>
                <a:latin typeface="Be Vietnam Pro"/>
                <a:ea typeface="Be Vietnam Pro"/>
                <a:cs typeface="Be Vietnam Pro"/>
              </a:rPr>
              <a:t>07_AI-USAGE.md, mục 5 (việc gì, ai làm, sửa gì so với bản AI).</a:t>
            </a:r>
          </a:p>
        </p:txBody>
      </p:sp>
      <p:sp>
        <p:nvSpPr>
          <p:cNvPr id="15" name="Cam ket"/>
          <p:cNvSpPr/>
          <p:nvPr/>
        </p:nvSpPr>
        <p:spPr>
          <a:xfrm>
            <a:off x="548640" y="5138928"/>
            <a:ext cx="11091672" cy="1097280"/>
          </a:xfrm>
          <a:prstGeom prst="roundRect">
            <a:avLst>
              <a:gd name="adj" fmla="val 5000"/>
            </a:avLst>
          </a:prstGeom>
          <a:solidFill>
            <a:srgbClr val="F3E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TextBox 15"/>
          <p:cNvSpPr txBox="1"/>
          <p:nvPr/>
        </p:nvSpPr>
        <p:spPr>
          <a:xfrm>
            <a:off x="777240" y="5175504"/>
            <a:ext cx="10698480" cy="1024128"/>
          </a:xfrm>
          <a:prstGeom prst="rect">
            <a:avLst/>
          </a:prstGeom>
          <a:noFill/>
        </p:spPr>
        <p:txBody>
          <a:bodyPr wrap="square" lIns="0" tIns="0" rIns="0" bIns="0" anchor="ctr">
            <a:noAutofit/>
          </a:bodyPr>
          <a:lstStyle/>
          <a:p>
            <a:pPr algn="l">
              <a:lnSpc>
                <a:spcPct val="105000"/>
              </a:lnSpc>
              <a:spcAft>
                <a:spcPts val="300"/>
              </a:spcAft>
            </a:pPr>
            <a:r>
              <a:rPr sz="1100" b="1" i="0">
                <a:solidFill>
                  <a:srgbClr val="5B0808"/>
                </a:solidFill>
                <a:latin typeface="Be Vietnam Pro"/>
                <a:ea typeface="Be Vietnam Pro"/>
                <a:cs typeface="Be Vietnam Pro"/>
              </a:rPr>
              <a:t>Cam kết: </a:t>
            </a:r>
            <a:r>
              <a:rPr sz="1100" b="0" i="0">
                <a:solidFill>
                  <a:srgbClr val="2A1712"/>
                </a:solidFill>
                <a:latin typeface="Be Vietnam Pro"/>
                <a:ea typeface="Be Vietnam Pro"/>
                <a:cs typeface="Be Vietnam Pro"/>
              </a:rPr>
              <a:t>AI chỉ là công cụ hỗ trợ. Trích dẫn được đối chiếu nguyên văn với Hồ Chí Minh Toàn tập và văn bản chính thống; khung chương theo bài giảng Chương 5 của lớp, đối chiếu thêm đề cương các trường (chưa đối chiếu bản in giáo trình 2021). Diễn giải của nhóm luôn được ghi rõ, không trình bày như trích dẫn. Nhóm chịu toàn bộ trách nhiệm về nội dung cuối cùng.</a:t>
            </a:r>
          </a:p>
          <a:p>
            <a:pPr algn="l">
              <a:lnSpc>
                <a:spcPct val="105000"/>
              </a:lnSpc>
              <a:spcAft>
                <a:spcPts val="300"/>
              </a:spcAft>
            </a:pPr>
            <a:r>
              <a:rPr sz="1000" b="0" i="0">
                <a:solidFill>
                  <a:srgbClr val="6E564B"/>
                </a:solidFill>
                <a:latin typeface="Be Vietnam Pro"/>
                <a:ea typeface="Be Vietnam Pro"/>
                <a:cs typeface="Be Vietnam Pro"/>
              </a:rPr>
              <a:t>Bản cam kết có chữ ký và chi tiết công cụ, prompt, kết quả AI: 07_AI-USAGE.md (mục 1–5, 9)</a:t>
            </a:r>
          </a:p>
        </p:txBody>
      </p:sp>
      <p:sp>
        <p:nvSpPr>
          <p:cNvPr id="17"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14</a:t>
            </a:r>
            <a:r>
              <a:rPr sz="950" b="0" i="0" spc="120">
                <a:solidFill>
                  <a:srgbClr val="6E564B"/>
                </a:solidFill>
                <a:latin typeface="Be Vietnam Pro"/>
                <a:ea typeface="Be Vietnam Pro"/>
                <a:cs typeface="Be Vietnam Pro"/>
              </a:rPr>
              <a:t>  /  16    ĐẠI ĐOÀN KẾT DÂN TỘC</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_sof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7315200" cy="365760"/>
          </a:xfrm>
          <a:prstGeom prst="rect">
            <a:avLst/>
          </a:prstGeom>
          <a:noFill/>
        </p:spPr>
        <p:txBody>
          <a:bodyPr wrap="square" lIns="0" tIns="0" rIns="0" bIns="0" anchor="t">
            <a:noAutofit/>
          </a:bodyPr>
          <a:lstStyle/>
          <a:p>
            <a:pPr algn="l"/>
            <a:r>
              <a:rPr sz="1200" b="0" i="0" spc="300">
                <a:solidFill>
                  <a:srgbClr val="9C1214"/>
                </a:solidFill>
                <a:latin typeface="Be Vietnam Pro SemiBold"/>
                <a:ea typeface="Be Vietnam Pro SemiBold"/>
                <a:cs typeface="Be Vietnam Pro SemiBold"/>
              </a:rPr>
              <a:t>PHỤ LỤC</a:t>
            </a:r>
          </a:p>
        </p:txBody>
      </p:sp>
      <p:sp>
        <p:nvSpPr>
          <p:cNvPr id="4" name="TextBox 3"/>
          <p:cNvSpPr txBox="1"/>
          <p:nvPr/>
        </p:nvSpPr>
        <p:spPr>
          <a:xfrm>
            <a:off x="548640" y="777240"/>
            <a:ext cx="10972800" cy="640080"/>
          </a:xfrm>
          <a:prstGeom prst="rect">
            <a:avLst/>
          </a:prstGeom>
          <a:noFill/>
        </p:spPr>
        <p:txBody>
          <a:bodyPr wrap="square" lIns="0" tIns="0" rIns="0" bIns="0" anchor="t">
            <a:noAutofit/>
          </a:bodyPr>
          <a:lstStyle/>
          <a:p>
            <a:pPr algn="l"/>
            <a:r>
              <a:rPr sz="3100" b="0" i="0">
                <a:solidFill>
                  <a:srgbClr val="5B0808"/>
                </a:solidFill>
                <a:latin typeface="Phudu ExtraBold"/>
                <a:ea typeface="Phudu ExtraBold"/>
                <a:cs typeface="Phudu ExtraBold"/>
              </a:rPr>
              <a:t>Nguồn tham khảo &amp; ảnh</a:t>
            </a:r>
          </a:p>
        </p:txBody>
      </p:sp>
      <p:sp>
        <p:nvSpPr>
          <p:cNvPr id="5" name="TextBox 4"/>
          <p:cNvSpPr txBox="1"/>
          <p:nvPr/>
        </p:nvSpPr>
        <p:spPr>
          <a:xfrm>
            <a:off x="548640" y="1554480"/>
            <a:ext cx="5440680" cy="320040"/>
          </a:xfrm>
          <a:prstGeom prst="rect">
            <a:avLst/>
          </a:prstGeom>
          <a:noFill/>
        </p:spPr>
        <p:txBody>
          <a:bodyPr wrap="square" lIns="0" tIns="0" rIns="0" bIns="0" anchor="t">
            <a:noAutofit/>
          </a:bodyPr>
          <a:lstStyle/>
          <a:p>
            <a:pPr algn="l"/>
            <a:r>
              <a:rPr sz="1050" b="1" i="0" spc="200">
                <a:solidFill>
                  <a:srgbClr val="9C1214"/>
                </a:solidFill>
                <a:latin typeface="Be Vietnam Pro"/>
                <a:ea typeface="Be Vietnam Pro"/>
                <a:cs typeface="Be Vietnam Pro"/>
              </a:rPr>
              <a:t>LÝ LUẬN</a:t>
            </a:r>
          </a:p>
        </p:txBody>
      </p:sp>
      <p:sp>
        <p:nvSpPr>
          <p:cNvPr id="6" name="TextBox 5"/>
          <p:cNvSpPr txBox="1"/>
          <p:nvPr/>
        </p:nvSpPr>
        <p:spPr>
          <a:xfrm>
            <a:off x="548640" y="1901952"/>
            <a:ext cx="5440680" cy="2011680"/>
          </a:xfrm>
          <a:prstGeom prst="rect">
            <a:avLst/>
          </a:prstGeom>
          <a:noFill/>
        </p:spPr>
        <p:txBody>
          <a:bodyPr wrap="square" lIns="0" tIns="0" rIns="0" bIns="0" anchor="t">
            <a:noAutofit/>
          </a:bodyPr>
          <a:lstStyle/>
          <a:p>
            <a:pPr algn="l">
              <a:lnSpc>
                <a:spcPct val="100000"/>
              </a:lnSpc>
              <a:spcAft>
                <a:spcPts val="200"/>
              </a:spcAft>
            </a:pPr>
            <a:r>
              <a:rPr sz="950" b="0" i="0">
                <a:solidFill>
                  <a:srgbClr val="2A1712"/>
                </a:solidFill>
                <a:latin typeface="Be Vietnam Pro"/>
                <a:ea typeface="Be Vietnam Pro"/>
                <a:cs typeface="Be Vietnam Pro"/>
              </a:rPr>
              <a:t>Bộ GD&amp;ĐT (2021). Giáo trình Tư tưởng Hồ Chí Minh (Dành cho bậc đại học hệ không chuyên lý luận chính trị), PGS.TS. Mạch Quang Thắng (chủ biên). NXB Chính trị quốc gia Sự thật, Chương 5. (Số trang: chưa đối chiếu bản in.)</a:t>
            </a:r>
          </a:p>
          <a:p>
            <a:pPr algn="l">
              <a:lnSpc>
                <a:spcPct val="100000"/>
              </a:lnSpc>
              <a:spcAft>
                <a:spcPts val="200"/>
              </a:spcAft>
            </a:pPr>
            <a:r>
              <a:rPr sz="950" b="0" i="0">
                <a:solidFill>
                  <a:srgbClr val="2A1712"/>
                </a:solidFill>
                <a:latin typeface="Be Vietnam Pro"/>
                <a:ea typeface="Be Vietnam Pro"/>
                <a:cs typeface="Be Vietnam Pro"/>
              </a:rPr>
              <a:t>Bài giảng Chương 5 của lớp: TS. Hà Triệu Huy, Khoa Khoa học liên ngành, ĐH KHXH&amp;NV – ĐHQG TP.HCM (khung lý luận dùng trên slide).</a:t>
            </a:r>
          </a:p>
          <a:p>
            <a:pPr algn="l">
              <a:lnSpc>
                <a:spcPct val="100000"/>
              </a:lnSpc>
              <a:spcAft>
                <a:spcPts val="200"/>
              </a:spcAft>
            </a:pPr>
            <a:r>
              <a:rPr sz="950" b="0" i="0">
                <a:solidFill>
                  <a:srgbClr val="2A1712"/>
                </a:solidFill>
                <a:latin typeface="Be Vietnam Pro"/>
                <a:ea typeface="Be Vietnam Pro"/>
                <a:cs typeface="Be Vietnam Pro"/>
              </a:rPr>
              <a:t>Đề cương học phần TT HCM: ĐH Công Thương TP.HCM (2024), ĐH Lâm nghiệp (2022), ĐH Ngân hàng TP.HCM (2023); bài giảng Chương 5 — ĐH Thương mại.</a:t>
            </a:r>
          </a:p>
          <a:p>
            <a:pPr algn="l">
              <a:lnSpc>
                <a:spcPct val="100000"/>
              </a:lnSpc>
              <a:spcAft>
                <a:spcPts val="200"/>
              </a:spcAft>
            </a:pPr>
            <a:r>
              <a:rPr sz="950" b="0" i="0">
                <a:solidFill>
                  <a:srgbClr val="2A1712"/>
                </a:solidFill>
                <a:latin typeface="Be Vietnam Pro"/>
                <a:ea typeface="Be Vietnam Pro"/>
                <a:cs typeface="Be Vietnam Pro"/>
              </a:rPr>
              <a:t>Tạp chí Cộng sản (2017); Tạp chí Lý luận chính trị (7/2021); Báo Đại biểu Nhân dân (2023); Tạp chí Tổ chức nhà nước &amp; Lao động (2024, 2025).</a:t>
            </a:r>
          </a:p>
        </p:txBody>
      </p:sp>
      <p:sp>
        <p:nvSpPr>
          <p:cNvPr id="7" name="TextBox 6"/>
          <p:cNvSpPr txBox="1"/>
          <p:nvPr/>
        </p:nvSpPr>
        <p:spPr>
          <a:xfrm>
            <a:off x="6199632" y="1554480"/>
            <a:ext cx="5440680" cy="320040"/>
          </a:xfrm>
          <a:prstGeom prst="rect">
            <a:avLst/>
          </a:prstGeom>
          <a:noFill/>
        </p:spPr>
        <p:txBody>
          <a:bodyPr wrap="square" lIns="0" tIns="0" rIns="0" bIns="0" anchor="t">
            <a:noAutofit/>
          </a:bodyPr>
          <a:lstStyle/>
          <a:p>
            <a:pPr algn="l"/>
            <a:r>
              <a:rPr sz="1050" b="1" i="0" spc="200">
                <a:solidFill>
                  <a:srgbClr val="9C1214"/>
                </a:solidFill>
                <a:latin typeface="Be Vietnam Pro"/>
                <a:ea typeface="Be Vietnam Pro"/>
                <a:cs typeface="Be Vietnam Pro"/>
              </a:rPr>
              <a:t>TƯ LIỆU HỒ CHÍ MINH</a:t>
            </a:r>
          </a:p>
        </p:txBody>
      </p:sp>
      <p:sp>
        <p:nvSpPr>
          <p:cNvPr id="8" name="TextBox 7"/>
          <p:cNvSpPr txBox="1"/>
          <p:nvPr/>
        </p:nvSpPr>
        <p:spPr>
          <a:xfrm>
            <a:off x="6199632" y="1901952"/>
            <a:ext cx="5440680" cy="2011680"/>
          </a:xfrm>
          <a:prstGeom prst="rect">
            <a:avLst/>
          </a:prstGeom>
          <a:noFill/>
        </p:spPr>
        <p:txBody>
          <a:bodyPr wrap="square" lIns="0" tIns="0" rIns="0" bIns="0" anchor="t">
            <a:noAutofit/>
          </a:bodyPr>
          <a:lstStyle/>
          <a:p>
            <a:pPr algn="l">
              <a:lnSpc>
                <a:spcPct val="100000"/>
              </a:lnSpc>
              <a:spcAft>
                <a:spcPts val="200"/>
              </a:spcAft>
            </a:pPr>
            <a:r>
              <a:rPr sz="950" b="0" i="0">
                <a:solidFill>
                  <a:srgbClr val="2A1712"/>
                </a:solidFill>
                <a:latin typeface="Be Vietnam Pro"/>
                <a:ea typeface="Be Vietnam Pro"/>
                <a:cs typeface="Be Vietnam Pro"/>
              </a:rPr>
              <a:t>Hồ Chí Minh Toàn tập, xuất bản lần thứ ba, NXB Chính trị quốc gia Sự thật, Hà Nội, 2011 — t.4 (tr.280, 534); t.5 (tr.276, 308, 336); t.7 (tr.49); t.8 (tr.264); t.9 (tr.145, 203, 244); t.10 (tr.376); t.11 (tr.362); t.12 (tr.417); t.13 (tr.119–120); t.14 (tr.27, 186).</a:t>
            </a:r>
          </a:p>
          <a:p>
            <a:pPr algn="l">
              <a:lnSpc>
                <a:spcPct val="100000"/>
              </a:lnSpc>
              <a:spcAft>
                <a:spcPts val="200"/>
              </a:spcAft>
            </a:pPr>
            <a:r>
              <a:rPr sz="950" b="0" i="0">
                <a:solidFill>
                  <a:srgbClr val="2A1712"/>
                </a:solidFill>
                <a:latin typeface="Be Vietnam Pro"/>
                <a:ea typeface="Be Vietnam Pro"/>
                <a:cs typeface="Be Vietnam Pro"/>
              </a:rPr>
              <a:t>Bản điện tử: Cổng TTĐT về Chủ tịch Hồ Chí Minh (hochiminh.vn); tulieuvankien.dangcongsan.vn.</a:t>
            </a:r>
          </a:p>
        </p:txBody>
      </p:sp>
      <p:sp>
        <p:nvSpPr>
          <p:cNvPr id="9" name="TextBox 8"/>
          <p:cNvSpPr txBox="1"/>
          <p:nvPr/>
        </p:nvSpPr>
        <p:spPr>
          <a:xfrm>
            <a:off x="548640" y="3657600"/>
            <a:ext cx="5440680" cy="320040"/>
          </a:xfrm>
          <a:prstGeom prst="rect">
            <a:avLst/>
          </a:prstGeom>
          <a:noFill/>
        </p:spPr>
        <p:txBody>
          <a:bodyPr wrap="square" lIns="0" tIns="0" rIns="0" bIns="0" anchor="t">
            <a:noAutofit/>
          </a:bodyPr>
          <a:lstStyle/>
          <a:p>
            <a:pPr algn="l"/>
            <a:r>
              <a:rPr sz="1050" b="1" i="0" spc="200">
                <a:solidFill>
                  <a:srgbClr val="9C1214"/>
                </a:solidFill>
                <a:latin typeface="Be Vietnam Pro"/>
                <a:ea typeface="Be Vietnam Pro"/>
                <a:cs typeface="Be Vietnam Pro"/>
              </a:rPr>
              <a:t>VĂN KIỆN &amp; SỐ LIỆU</a:t>
            </a:r>
          </a:p>
        </p:txBody>
      </p:sp>
      <p:sp>
        <p:nvSpPr>
          <p:cNvPr id="10" name="TextBox 9"/>
          <p:cNvSpPr txBox="1"/>
          <p:nvPr/>
        </p:nvSpPr>
        <p:spPr>
          <a:xfrm>
            <a:off x="548640" y="4005072"/>
            <a:ext cx="5440680" cy="2011680"/>
          </a:xfrm>
          <a:prstGeom prst="rect">
            <a:avLst/>
          </a:prstGeom>
          <a:noFill/>
        </p:spPr>
        <p:txBody>
          <a:bodyPr wrap="square" lIns="0" tIns="0" rIns="0" bIns="0" anchor="t">
            <a:noAutofit/>
          </a:bodyPr>
          <a:lstStyle/>
          <a:p>
            <a:pPr algn="l">
              <a:lnSpc>
                <a:spcPct val="100000"/>
              </a:lnSpc>
              <a:spcAft>
                <a:spcPts val="200"/>
              </a:spcAft>
            </a:pPr>
            <a:r>
              <a:rPr sz="950" b="0" i="0">
                <a:solidFill>
                  <a:srgbClr val="2A1712"/>
                </a:solidFill>
                <a:latin typeface="Be Vietnam Pro"/>
                <a:ea typeface="Be Vietnam Pro"/>
                <a:cs typeface="Be Vietnam Pro"/>
              </a:rPr>
              <a:t>NQ 23-NQ/TW (12/3/2003); NQ 43-NQ/TW (24/11/2023); Văn kiện Đại hội XIII (2021) và XIV (1/2026) — tulieuvankien.dangcongsan.vn.</a:t>
            </a:r>
          </a:p>
          <a:p>
            <a:pPr algn="l">
              <a:lnSpc>
                <a:spcPct val="100000"/>
              </a:lnSpc>
              <a:spcAft>
                <a:spcPts val="200"/>
              </a:spcAft>
            </a:pPr>
            <a:r>
              <a:rPr sz="950" b="0" i="0">
                <a:solidFill>
                  <a:srgbClr val="2A1712"/>
                </a:solidFill>
                <a:latin typeface="Be Vietnam Pro"/>
                <a:ea typeface="Be Vietnam Pro"/>
                <a:cs typeface="Be Vietnam Pro"/>
              </a:rPr>
              <a:t>Nghị quyết 203/2025/QH15 sửa đổi, bổ sung Hiến pháp 2013 (Điều 9), 16/6/2025.</a:t>
            </a:r>
          </a:p>
          <a:p>
            <a:pPr algn="l">
              <a:lnSpc>
                <a:spcPct val="100000"/>
              </a:lnSpc>
              <a:spcAft>
                <a:spcPts val="200"/>
              </a:spcAft>
            </a:pPr>
            <a:r>
              <a:rPr sz="950" b="0" i="0">
                <a:solidFill>
                  <a:srgbClr val="2A1712"/>
                </a:solidFill>
                <a:latin typeface="Be Vietnam Pro"/>
                <a:ea typeface="Be Vietnam Pro"/>
                <a:cs typeface="Be Vietnam Pro"/>
              </a:rPr>
              <a:t>mattran.org.vn: kết quả xóa nhà tạm, nhà dột nát (2025); cứu trợ bão Yagi (29/11/2024); Ngày hội Đại đoàn kết (14/11/2025).</a:t>
            </a:r>
          </a:p>
          <a:p>
            <a:pPr algn="l">
              <a:lnSpc>
                <a:spcPct val="100000"/>
              </a:lnSpc>
              <a:spcAft>
                <a:spcPts val="200"/>
              </a:spcAft>
            </a:pPr>
            <a:r>
              <a:rPr sz="950" b="0" i="0">
                <a:solidFill>
                  <a:srgbClr val="2A1712"/>
                </a:solidFill>
                <a:latin typeface="Be Vietnam Pro"/>
                <a:ea typeface="Be Vietnam Pro"/>
                <a:cs typeface="Be Vietnam Pro"/>
              </a:rPr>
              <a:t>Cục PTTH&amp;TTĐT, Bộ TT&amp;TT (báo cáo 28/11/2024), TTXVN đưa tin trên mst.gov.vn (29/12/2024): số tài khoản mạng xã hội.</a:t>
            </a:r>
          </a:p>
        </p:txBody>
      </p:sp>
      <p:sp>
        <p:nvSpPr>
          <p:cNvPr id="11" name="TextBox 10"/>
          <p:cNvSpPr txBox="1"/>
          <p:nvPr/>
        </p:nvSpPr>
        <p:spPr>
          <a:xfrm>
            <a:off x="6199632" y="3657600"/>
            <a:ext cx="5440680" cy="320040"/>
          </a:xfrm>
          <a:prstGeom prst="rect">
            <a:avLst/>
          </a:prstGeom>
          <a:noFill/>
        </p:spPr>
        <p:txBody>
          <a:bodyPr wrap="square" lIns="0" tIns="0" rIns="0" bIns="0" anchor="t">
            <a:noAutofit/>
          </a:bodyPr>
          <a:lstStyle/>
          <a:p>
            <a:pPr algn="l"/>
            <a:r>
              <a:rPr sz="1050" b="1" i="0" spc="200">
                <a:solidFill>
                  <a:srgbClr val="9C1214"/>
                </a:solidFill>
                <a:latin typeface="Be Vietnam Pro"/>
                <a:ea typeface="Be Vietnam Pro"/>
                <a:cs typeface="Be Vietnam Pro"/>
              </a:rPr>
              <a:t>ẢNH</a:t>
            </a:r>
          </a:p>
        </p:txBody>
      </p:sp>
      <p:sp>
        <p:nvSpPr>
          <p:cNvPr id="12" name="TextBox 11"/>
          <p:cNvSpPr txBox="1"/>
          <p:nvPr/>
        </p:nvSpPr>
        <p:spPr>
          <a:xfrm>
            <a:off x="6199632" y="4005072"/>
            <a:ext cx="5440680" cy="2011680"/>
          </a:xfrm>
          <a:prstGeom prst="rect">
            <a:avLst/>
          </a:prstGeom>
          <a:noFill/>
        </p:spPr>
        <p:txBody>
          <a:bodyPr wrap="square" lIns="0" tIns="0" rIns="0" bIns="0" anchor="t">
            <a:noAutofit/>
          </a:bodyPr>
          <a:lstStyle/>
          <a:p>
            <a:pPr algn="l">
              <a:lnSpc>
                <a:spcPct val="100000"/>
              </a:lnSpc>
              <a:spcAft>
                <a:spcPts val="200"/>
              </a:spcAft>
            </a:pPr>
            <a:r>
              <a:rPr sz="950" b="0" i="0">
                <a:solidFill>
                  <a:srgbClr val="2A1712"/>
                </a:solidFill>
                <a:latin typeface="Be Vietnam Pro"/>
                <a:ea typeface="Be Vietnam Pro"/>
                <a:cs typeface="Be Vietnam Pro"/>
              </a:rPr>
              <a:t>Ảnh tư liệu (phạm vi công cộng, qua Wikimedia Commons): chân dung Hồ Chí Minh ~1946 (S1); lễ đài Ba Đình 2/9/1945 (S4); khối Trường Thần học Công giáo ngày 2/9/1945 — album Ph. Devillers, Bảo tàng Lịch sử Quốc gia (S5); Quốc hội khóa I, 2/3/1946 — quochoi.vn (S3); chân dung trong sách “Trang sử mới” 1945 — Gallica/BnF (S12); toàn cảnh lễ đài Ba Đình 2/9/1945 — TT Lưu trữ quốc gia III, luutru.gov.vn (S16).</a:t>
            </a:r>
          </a:p>
          <a:p>
            <a:pPr algn="l">
              <a:lnSpc>
                <a:spcPct val="100000"/>
              </a:lnSpc>
              <a:spcAft>
                <a:spcPts val="200"/>
              </a:spcAft>
            </a:pPr>
            <a:r>
              <a:rPr sz="950" b="0" i="0">
                <a:solidFill>
                  <a:srgbClr val="2A1712"/>
                </a:solidFill>
                <a:latin typeface="Be Vietnam Pro"/>
                <a:ea typeface="Be Vietnam Pro"/>
                <a:cs typeface="Be Vietnam Pro"/>
              </a:rPr>
              <a:t>Ảnh đương đại chụp tại Việt Nam — Unsplash: K. Dobrev, Tra Nguyen, Tuan Phan, Hải Thanh, Manh Phung, Hoang Bui; Pexels: Dương Phước Tiến, Y. Rozanova, Mỹ Hậu Phạm Thị, Anh Lee, Son Hoa Nguyen, Thái Trường Giang, E. Escalante, Luong Ngoc Anh, Tường Chopper, Duy Nguyen, Vietnam Hidden Light, Thanh Lâm, Anh Lê; Wikimedia Commons: Luong-kim.ngoc (CC BY-SA 4.0, đã cắt và chỉnh màu).</a:t>
            </a:r>
          </a:p>
          <a:p>
            <a:pPr algn="l">
              <a:lnSpc>
                <a:spcPct val="100000"/>
              </a:lnSpc>
              <a:spcAft>
                <a:spcPts val="200"/>
              </a:spcAft>
            </a:pPr>
            <a:r>
              <a:rPr sz="950" b="0" i="0">
                <a:solidFill>
                  <a:srgbClr val="2A1712"/>
                </a:solidFill>
                <a:latin typeface="Be Vietnam Pro"/>
                <a:ea typeface="Be Vietnam Pro"/>
                <a:cs typeface="Be Vietnam Pro"/>
              </a:rPr>
              <a:t>Đồ họa (hoa văn lấy cảm hứng trống đồng, dải lụa, sen, bàn tay, sơ đồ): nhóm tự vẽ bằng mã. Chi tiết từng ảnh: 04_sources.md.</a:t>
            </a:r>
          </a:p>
        </p:txBody>
      </p:sp>
      <p:sp>
        <p:nvSpPr>
          <p:cNvPr id="13" name="Folio"/>
          <p:cNvSpPr txBox="1"/>
          <p:nvPr/>
        </p:nvSpPr>
        <p:spPr>
          <a:xfrm>
            <a:off x="548640" y="6400800"/>
            <a:ext cx="4114800" cy="274320"/>
          </a:xfrm>
          <a:prstGeom prst="rect">
            <a:avLst/>
          </a:prstGeom>
          <a:noFill/>
        </p:spPr>
        <p:txBody>
          <a:bodyPr wrap="square" lIns="0" tIns="0" rIns="0" bIns="0" anchor="t">
            <a:noAutofit/>
          </a:bodyPr>
          <a:lstStyle/>
          <a:p>
            <a:pPr algn="l"/>
            <a:r>
              <a:rPr sz="950" b="1" i="0" spc="120">
                <a:solidFill>
                  <a:srgbClr val="9C1214"/>
                </a:solidFill>
                <a:latin typeface="Be Vietnam Pro"/>
                <a:ea typeface="Be Vietnam Pro"/>
                <a:cs typeface="Be Vietnam Pro"/>
              </a:rPr>
              <a:t>15</a:t>
            </a:r>
            <a:r>
              <a:rPr sz="950" b="0" i="0" spc="120">
                <a:solidFill>
                  <a:srgbClr val="6E564B"/>
                </a:solidFill>
                <a:latin typeface="Be Vietnam Pro"/>
                <a:ea typeface="Be Vietnam Pro"/>
                <a:cs typeface="Be Vietnam Pro"/>
              </a:rPr>
              <a:t>  /  16    ĐẠI ĐOÀN KẾT DÂN TỘC</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_center.png"/>
          <p:cNvPicPr>
            <a:picLocks noChangeAspect="1"/>
          </p:cNvPicPr>
          <p:nvPr/>
        </p:nvPicPr>
        <p:blipFill>
          <a:blip r:embed="rId3"/>
          <a:stretch>
            <a:fillRect/>
          </a:stretch>
        </p:blipFill>
        <p:spPr>
          <a:xfrm>
            <a:off x="0" y="0"/>
            <a:ext cx="12191695" cy="6858000"/>
          </a:xfrm>
          <a:prstGeom prst="rect">
            <a:avLst/>
          </a:prstGeom>
        </p:spPr>
      </p:pic>
      <p:pic>
        <p:nvPicPr>
          <p:cNvPr id="3" name="Anh nen" descr="s15.jpg"/>
          <p:cNvPicPr>
            <a:picLocks noChangeAspect="1"/>
          </p:cNvPicPr>
          <p:nvPr/>
        </p:nvPicPr>
        <p:blipFill>
          <a:blip r:embed="rId4">
            <a:alphaModFix amt="28000"/>
          </a:blip>
          <a:srcRect b="43"/>
          <a:stretch>
            <a:fillRect/>
          </a:stretch>
        </p:blipFill>
        <p:spPr>
          <a:xfrm>
            <a:off x="0" y="0"/>
            <a:ext cx="12191695" cy="6858000"/>
          </a:xfrm>
          <a:prstGeom prst="rect">
            <a:avLst/>
          </a:prstGeom>
        </p:spPr>
      </p:pic>
      <p:pic>
        <p:nvPicPr>
          <p:cNvPr id="4" name="Dai lua" descr="ribbon_band.png"/>
          <p:cNvPicPr>
            <a:picLocks noChangeAspect="1"/>
          </p:cNvPicPr>
          <p:nvPr/>
        </p:nvPicPr>
        <p:blipFill>
          <a:blip r:embed="rId5"/>
          <a:stretch>
            <a:fillRect/>
          </a:stretch>
        </p:blipFill>
        <p:spPr>
          <a:xfrm>
            <a:off x="0" y="5669280"/>
            <a:ext cx="12191695" cy="1188720"/>
          </a:xfrm>
          <a:prstGeom prst="rect">
            <a:avLst/>
          </a:prstGeom>
        </p:spPr>
      </p:pic>
      <p:pic>
        <p:nvPicPr>
          <p:cNvPr id="5" name="Picture 4" descr="lotus_gold.png"/>
          <p:cNvPicPr>
            <a:picLocks noChangeAspect="1"/>
          </p:cNvPicPr>
          <p:nvPr/>
        </p:nvPicPr>
        <p:blipFill>
          <a:blip r:embed="rId6"/>
          <a:stretch>
            <a:fillRect/>
          </a:stretch>
        </p:blipFill>
        <p:spPr>
          <a:xfrm>
            <a:off x="5410047" y="502920"/>
            <a:ext cx="1371600" cy="1042415"/>
          </a:xfrm>
          <a:prstGeom prst="rect">
            <a:avLst/>
          </a:prstGeom>
        </p:spPr>
      </p:pic>
      <p:sp>
        <p:nvSpPr>
          <p:cNvPr id="6" name="TextBox 5"/>
          <p:cNvSpPr txBox="1"/>
          <p:nvPr/>
        </p:nvSpPr>
        <p:spPr>
          <a:xfrm>
            <a:off x="457200" y="3244850"/>
            <a:ext cx="11277295" cy="1097280"/>
          </a:xfrm>
          <a:prstGeom prst="rect">
            <a:avLst/>
          </a:prstGeom>
          <a:noFill/>
        </p:spPr>
        <p:txBody>
          <a:bodyPr wrap="square" lIns="0" tIns="0" rIns="0" bIns="0" anchor="t">
            <a:noAutofit/>
          </a:bodyPr>
          <a:lstStyle/>
          <a:p>
            <a:pPr algn="ctr"/>
            <a:r>
              <a:rPr sz="4400" b="0" i="0" spc="400" dirty="0">
                <a:solidFill>
                  <a:srgbClr val="FAF5E8"/>
                </a:solidFill>
                <a:latin typeface="Phudu ExtraBold"/>
                <a:ea typeface="Phudu ExtraBold"/>
                <a:cs typeface="Phudu ExtraBold"/>
              </a:rPr>
              <a:t>CẢM ƠN</a:t>
            </a:r>
            <a:r>
              <a:rPr lang="en-US" sz="4400" b="0" i="0" spc="400" dirty="0">
                <a:solidFill>
                  <a:srgbClr val="FAF5E8"/>
                </a:solidFill>
                <a:latin typeface="Phudu ExtraBold"/>
                <a:ea typeface="Phudu ExtraBold"/>
                <a:cs typeface="Phudu ExtraBold"/>
              </a:rPr>
              <a:t> </a:t>
            </a:r>
            <a:r>
              <a:rPr lang="en-US" sz="4400" b="0" i="0" spc="400" dirty="0" err="1">
                <a:solidFill>
                  <a:srgbClr val="FAF5E8"/>
                </a:solidFill>
                <a:latin typeface="Phudu ExtraBold"/>
                <a:ea typeface="Phudu ExtraBold"/>
                <a:cs typeface="Phudu ExtraBold"/>
              </a:rPr>
              <a:t>Thầy</a:t>
            </a:r>
            <a:r>
              <a:rPr lang="en-US" sz="4400" b="0" i="0" spc="400" dirty="0">
                <a:solidFill>
                  <a:srgbClr val="FAF5E8"/>
                </a:solidFill>
                <a:latin typeface="Phudu ExtraBold"/>
                <a:ea typeface="Phudu ExtraBold"/>
                <a:cs typeface="Phudu ExtraBold"/>
              </a:rPr>
              <a:t> </a:t>
            </a:r>
            <a:r>
              <a:rPr lang="en-US" sz="4400" b="0" i="0" spc="400" dirty="0" err="1">
                <a:solidFill>
                  <a:srgbClr val="FAF5E8"/>
                </a:solidFill>
                <a:latin typeface="Phudu ExtraBold"/>
                <a:ea typeface="Phudu ExtraBold"/>
                <a:cs typeface="Phudu ExtraBold"/>
              </a:rPr>
              <a:t>và</a:t>
            </a:r>
            <a:r>
              <a:rPr lang="en-US" sz="4400" b="0" i="0" spc="400" dirty="0">
                <a:solidFill>
                  <a:srgbClr val="FAF5E8"/>
                </a:solidFill>
                <a:latin typeface="Phudu ExtraBold"/>
                <a:ea typeface="Phudu ExtraBold"/>
                <a:cs typeface="Phudu ExtraBold"/>
              </a:rPr>
              <a:t> </a:t>
            </a:r>
            <a:r>
              <a:rPr lang="en-US" sz="4400" b="0" i="0" spc="400" dirty="0" err="1">
                <a:solidFill>
                  <a:srgbClr val="FAF5E8"/>
                </a:solidFill>
                <a:latin typeface="Phudu ExtraBold"/>
                <a:ea typeface="Phudu ExtraBold"/>
                <a:cs typeface="Phudu ExtraBold"/>
              </a:rPr>
              <a:t>các</a:t>
            </a:r>
            <a:r>
              <a:rPr lang="en-US" sz="4400" b="0" i="0" spc="400" dirty="0">
                <a:solidFill>
                  <a:srgbClr val="FAF5E8"/>
                </a:solidFill>
                <a:latin typeface="Phudu ExtraBold"/>
                <a:ea typeface="Phudu ExtraBold"/>
                <a:cs typeface="Phudu ExtraBold"/>
              </a:rPr>
              <a:t> </a:t>
            </a:r>
            <a:r>
              <a:rPr lang="en-US" sz="4400" b="0" i="0" spc="400" dirty="0" err="1">
                <a:solidFill>
                  <a:srgbClr val="FAF5E8"/>
                </a:solidFill>
                <a:latin typeface="Phudu ExtraBold"/>
                <a:ea typeface="Phudu ExtraBold"/>
                <a:cs typeface="Phudu ExtraBold"/>
              </a:rPr>
              <a:t>bạn</a:t>
            </a:r>
            <a:r>
              <a:rPr lang="en-US" sz="4400" b="0" i="0" spc="400" dirty="0">
                <a:solidFill>
                  <a:srgbClr val="FAF5E8"/>
                </a:solidFill>
                <a:latin typeface="Phudu ExtraBold"/>
                <a:ea typeface="Phudu ExtraBold"/>
                <a:cs typeface="Phudu ExtraBold"/>
              </a:rPr>
              <a:t> </a:t>
            </a:r>
            <a:r>
              <a:rPr lang="en-US" sz="4400" b="0" i="0" spc="400" dirty="0" err="1">
                <a:solidFill>
                  <a:srgbClr val="FAF5E8"/>
                </a:solidFill>
                <a:latin typeface="Phudu ExtraBold"/>
                <a:ea typeface="Phudu ExtraBold"/>
                <a:cs typeface="Phudu ExtraBold"/>
              </a:rPr>
              <a:t>đã</a:t>
            </a:r>
            <a:r>
              <a:rPr lang="en-US" sz="4400" b="0" i="0" spc="400" dirty="0">
                <a:solidFill>
                  <a:srgbClr val="FAF5E8"/>
                </a:solidFill>
                <a:latin typeface="Phudu ExtraBold"/>
                <a:ea typeface="Phudu ExtraBold"/>
                <a:cs typeface="Phudu ExtraBold"/>
              </a:rPr>
              <a:t> </a:t>
            </a:r>
            <a:r>
              <a:rPr lang="en-US" sz="4400" b="0" i="0" spc="400" dirty="0" err="1">
                <a:solidFill>
                  <a:srgbClr val="FAF5E8"/>
                </a:solidFill>
                <a:latin typeface="Phudu ExtraBold"/>
                <a:ea typeface="Phudu ExtraBold"/>
                <a:cs typeface="Phudu ExtraBold"/>
              </a:rPr>
              <a:t>lắng</a:t>
            </a:r>
            <a:r>
              <a:rPr lang="en-US" sz="4400" b="0" i="0" spc="400" dirty="0">
                <a:solidFill>
                  <a:srgbClr val="FAF5E8"/>
                </a:solidFill>
                <a:latin typeface="Phudu ExtraBold"/>
                <a:ea typeface="Phudu ExtraBold"/>
                <a:cs typeface="Phudu ExtraBold"/>
              </a:rPr>
              <a:t> </a:t>
            </a:r>
            <a:r>
              <a:rPr lang="en-US" sz="4400" b="0" i="0" spc="400" dirty="0" err="1">
                <a:solidFill>
                  <a:srgbClr val="FAF5E8"/>
                </a:solidFill>
                <a:latin typeface="Phudu ExtraBold"/>
                <a:ea typeface="Phudu ExtraBold"/>
                <a:cs typeface="Phudu ExtraBold"/>
              </a:rPr>
              <a:t>nghe</a:t>
            </a:r>
            <a:endParaRPr sz="4400" b="0" i="0" spc="400" dirty="0">
              <a:solidFill>
                <a:srgbClr val="FAF5E8"/>
              </a:solidFill>
              <a:latin typeface="Phudu ExtraBold"/>
              <a:ea typeface="Phudu ExtraBold"/>
              <a:cs typeface="Phudu ExtraBold"/>
            </a:endParaRPr>
          </a:p>
        </p:txBody>
      </p:sp>
      <p:sp>
        <p:nvSpPr>
          <p:cNvPr id="18" name="Caption">
            <a:extLst>
              <a:ext uri="{FF2B5EF4-FFF2-40B4-BE49-F238E27FC236}">
                <a16:creationId xmlns:a16="http://schemas.microsoft.com/office/drawing/2014/main" id="{DC421D78-3559-E5A5-F1C8-F6229F7F14BF}"/>
              </a:ext>
            </a:extLst>
          </p:cNvPr>
          <p:cNvSpPr txBox="1"/>
          <p:nvPr/>
        </p:nvSpPr>
        <p:spPr>
          <a:xfrm>
            <a:off x="457200" y="6025896"/>
            <a:ext cx="11277295" cy="329184"/>
          </a:xfrm>
          <a:prstGeom prst="rect">
            <a:avLst/>
          </a:prstGeom>
          <a:noFill/>
        </p:spPr>
        <p:txBody>
          <a:bodyPr wrap="square" lIns="0" tIns="0" rIns="0" bIns="0" anchor="t">
            <a:noAutofit/>
          </a:bodyPr>
          <a:lstStyle/>
          <a:p>
            <a:pPr algn="ctr"/>
            <a:r>
              <a:rPr sz="850" b="0" i="1" dirty="0" err="1">
                <a:solidFill>
                  <a:srgbClr val="EFE3CE"/>
                </a:solidFill>
                <a:latin typeface="Be Vietnam Pro"/>
                <a:ea typeface="Be Vietnam Pro"/>
                <a:cs typeface="Be Vietnam Pro"/>
              </a:rPr>
              <a:t>Lễ</a:t>
            </a:r>
            <a:r>
              <a:rPr sz="850" b="0" i="1" dirty="0">
                <a:solidFill>
                  <a:srgbClr val="EFE3CE"/>
                </a:solidFill>
                <a:latin typeface="Be Vietnam Pro"/>
                <a:ea typeface="Be Vietnam Pro"/>
                <a:cs typeface="Be Vietnam Pro"/>
              </a:rPr>
              <a:t> </a:t>
            </a:r>
            <a:r>
              <a:rPr sz="850" b="0" i="1" dirty="0" err="1">
                <a:solidFill>
                  <a:srgbClr val="EFE3CE"/>
                </a:solidFill>
                <a:latin typeface="Be Vietnam Pro"/>
                <a:ea typeface="Be Vietnam Pro"/>
                <a:cs typeface="Be Vietnam Pro"/>
              </a:rPr>
              <a:t>đài</a:t>
            </a:r>
            <a:r>
              <a:rPr sz="850" b="0" i="1" dirty="0">
                <a:solidFill>
                  <a:srgbClr val="EFE3CE"/>
                </a:solidFill>
                <a:latin typeface="Be Vietnam Pro"/>
                <a:ea typeface="Be Vietnam Pro"/>
                <a:cs typeface="Be Vietnam Pro"/>
              </a:rPr>
              <a:t> Ba </a:t>
            </a:r>
            <a:r>
              <a:rPr sz="850" b="0" i="1" dirty="0" err="1">
                <a:solidFill>
                  <a:srgbClr val="EFE3CE"/>
                </a:solidFill>
                <a:latin typeface="Be Vietnam Pro"/>
                <a:ea typeface="Be Vietnam Pro"/>
                <a:cs typeface="Be Vietnam Pro"/>
              </a:rPr>
              <a:t>Đình</a:t>
            </a:r>
            <a:r>
              <a:rPr sz="850" b="0" i="1" dirty="0">
                <a:solidFill>
                  <a:srgbClr val="EFE3CE"/>
                </a:solidFill>
                <a:latin typeface="Be Vietnam Pro"/>
                <a:ea typeface="Be Vietnam Pro"/>
                <a:cs typeface="Be Vietnam Pro"/>
              </a:rPr>
              <a:t>, 2/9/1945 · Trung </a:t>
            </a:r>
            <a:r>
              <a:rPr sz="850" b="0" i="1" dirty="0" err="1">
                <a:solidFill>
                  <a:srgbClr val="EFE3CE"/>
                </a:solidFill>
                <a:latin typeface="Be Vietnam Pro"/>
                <a:ea typeface="Be Vietnam Pro"/>
                <a:cs typeface="Be Vietnam Pro"/>
              </a:rPr>
              <a:t>tâm</a:t>
            </a:r>
            <a:r>
              <a:rPr sz="850" b="0" i="1" dirty="0">
                <a:solidFill>
                  <a:srgbClr val="EFE3CE"/>
                </a:solidFill>
                <a:latin typeface="Be Vietnam Pro"/>
                <a:ea typeface="Be Vietnam Pro"/>
                <a:cs typeface="Be Vietnam Pro"/>
              </a:rPr>
              <a:t> Lưu </a:t>
            </a:r>
            <a:r>
              <a:rPr sz="850" b="0" i="1" dirty="0" err="1">
                <a:solidFill>
                  <a:srgbClr val="EFE3CE"/>
                </a:solidFill>
                <a:latin typeface="Be Vietnam Pro"/>
                <a:ea typeface="Be Vietnam Pro"/>
                <a:cs typeface="Be Vietnam Pro"/>
              </a:rPr>
              <a:t>trữ</a:t>
            </a:r>
            <a:r>
              <a:rPr sz="850" b="0" i="1" dirty="0">
                <a:solidFill>
                  <a:srgbClr val="EFE3CE"/>
                </a:solidFill>
                <a:latin typeface="Be Vietnam Pro"/>
                <a:ea typeface="Be Vietnam Pro"/>
                <a:cs typeface="Be Vietnam Pro"/>
              </a:rPr>
              <a:t> </a:t>
            </a:r>
            <a:r>
              <a:rPr sz="850" b="0" i="1" dirty="0" err="1">
                <a:solidFill>
                  <a:srgbClr val="EFE3CE"/>
                </a:solidFill>
                <a:latin typeface="Be Vietnam Pro"/>
                <a:ea typeface="Be Vietnam Pro"/>
                <a:cs typeface="Be Vietnam Pro"/>
              </a:rPr>
              <a:t>quốc</a:t>
            </a:r>
            <a:r>
              <a:rPr sz="850" b="0" i="1" dirty="0">
                <a:solidFill>
                  <a:srgbClr val="EFE3CE"/>
                </a:solidFill>
                <a:latin typeface="Be Vietnam Pro"/>
                <a:ea typeface="Be Vietnam Pro"/>
                <a:cs typeface="Be Vietnam Pro"/>
              </a:rPr>
              <a:t> </a:t>
            </a:r>
            <a:r>
              <a:rPr sz="850" b="0" i="1" dirty="0" err="1">
                <a:solidFill>
                  <a:srgbClr val="EFE3CE"/>
                </a:solidFill>
                <a:latin typeface="Be Vietnam Pro"/>
                <a:ea typeface="Be Vietnam Pro"/>
                <a:cs typeface="Be Vietnam Pro"/>
              </a:rPr>
              <a:t>gia</a:t>
            </a:r>
            <a:r>
              <a:rPr sz="850" b="0" i="1" dirty="0">
                <a:solidFill>
                  <a:srgbClr val="EFE3CE"/>
                </a:solidFill>
                <a:latin typeface="Be Vietnam Pro"/>
                <a:ea typeface="Be Vietnam Pro"/>
                <a:cs typeface="Be Vietnam Pro"/>
              </a:rPr>
              <a:t> III — luutru.gov.vn (</a:t>
            </a:r>
            <a:r>
              <a:rPr sz="850" b="0" i="1" dirty="0" err="1">
                <a:solidFill>
                  <a:srgbClr val="EFE3CE"/>
                </a:solidFill>
                <a:latin typeface="Be Vietnam Pro"/>
                <a:ea typeface="Be Vietnam Pro"/>
                <a:cs typeface="Be Vietnam Pro"/>
              </a:rPr>
              <a:t>phạm</a:t>
            </a:r>
            <a:r>
              <a:rPr sz="850" b="0" i="1" dirty="0">
                <a:solidFill>
                  <a:srgbClr val="EFE3CE"/>
                </a:solidFill>
                <a:latin typeface="Be Vietnam Pro"/>
                <a:ea typeface="Be Vietnam Pro"/>
                <a:cs typeface="Be Vietnam Pro"/>
              </a:rPr>
              <a:t> vi </a:t>
            </a:r>
            <a:r>
              <a:rPr sz="850" b="0" i="1" dirty="0" err="1">
                <a:solidFill>
                  <a:srgbClr val="EFE3CE"/>
                </a:solidFill>
                <a:latin typeface="Be Vietnam Pro"/>
                <a:ea typeface="Be Vietnam Pro"/>
                <a:cs typeface="Be Vietnam Pro"/>
              </a:rPr>
              <a:t>công</a:t>
            </a:r>
            <a:r>
              <a:rPr sz="850" b="0" i="1" dirty="0">
                <a:solidFill>
                  <a:srgbClr val="EFE3CE"/>
                </a:solidFill>
                <a:latin typeface="Be Vietnam Pro"/>
                <a:ea typeface="Be Vietnam Pro"/>
                <a:cs typeface="Be Vietnam Pro"/>
              </a:rPr>
              <a:t> </a:t>
            </a:r>
            <a:r>
              <a:rPr sz="850" b="0" i="1" dirty="0" err="1">
                <a:solidFill>
                  <a:srgbClr val="EFE3CE"/>
                </a:solidFill>
                <a:latin typeface="Be Vietnam Pro"/>
                <a:ea typeface="Be Vietnam Pro"/>
                <a:cs typeface="Be Vietnam Pro"/>
              </a:rPr>
              <a:t>cộng</a:t>
            </a:r>
            <a:r>
              <a:rPr sz="850" b="0" i="1" dirty="0">
                <a:solidFill>
                  <a:srgbClr val="EFE3CE"/>
                </a:solidFill>
                <a:latin typeface="Be Vietnam Pro"/>
                <a:ea typeface="Be Vietnam Pro"/>
                <a:cs typeface="Be Vietnam Pro"/>
              </a:rPr>
              <a:t>)</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9373</Words>
  <Application>Microsoft Office PowerPoint</Application>
  <PresentationFormat>Widescreen</PresentationFormat>
  <Paragraphs>464</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Be Vietnam Pro</vt:lpstr>
      <vt:lpstr>Phudu ExtraBold</vt:lpstr>
      <vt:lpstr>Be Vietnam Pro SemiBold</vt:lpstr>
      <vt:lpstr>Arial</vt:lpstr>
      <vt:lpstr>Segoe UI</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Tư tưởng Hồ Chí Minh về đại đoàn kết dân tộc</dc:title>
  <dc:subject>Học phần Tư tưởng Hồ Chí Minh — Chương 5</dc:subject>
  <dc:creator>Nhóm ___ (Đại học FPT)</dc:creator>
  <cp:keywords>đại đoàn kết; Hồ Chí Minh; HCM202</cp:keywords>
  <dc:description>generated using python-pptx</dc:description>
  <cp:lastModifiedBy>Work Hoang</cp:lastModifiedBy>
  <cp:revision>4</cp:revision>
  <dcterms:created xsi:type="dcterms:W3CDTF">2013-01-27T09:14:16Z</dcterms:created>
  <dcterms:modified xsi:type="dcterms:W3CDTF">2026-10-06T18:31:57Z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1.0.155</vt:lpwstr>
  </property>
  <property fmtid="{D5CDD505-2E9C-101B-9397-08002B2CF9AE}" pid="3" name="OfficeCLI.LastModified">
    <vt:lpwstr>2026-10-06T17:46:06Z</vt:lpwstr>
  </property>
</Properties>
</file>